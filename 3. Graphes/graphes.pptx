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53"/>
  </p:notesMasterIdLst>
  <p:sldIdLst>
    <p:sldId id="256" r:id="rId4"/>
    <p:sldId id="257" r:id="rId5"/>
    <p:sldId id="259" r:id="rId6"/>
    <p:sldId id="360" r:id="rId7"/>
    <p:sldId id="361" r:id="rId8"/>
    <p:sldId id="362" r:id="rId9"/>
    <p:sldId id="363" r:id="rId10"/>
    <p:sldId id="364" r:id="rId11"/>
    <p:sldId id="365" r:id="rId12"/>
    <p:sldId id="366" r:id="rId13"/>
    <p:sldId id="367" r:id="rId14"/>
    <p:sldId id="368" r:id="rId15"/>
    <p:sldId id="369" r:id="rId16"/>
    <p:sldId id="370" r:id="rId17"/>
    <p:sldId id="371" r:id="rId18"/>
    <p:sldId id="372" r:id="rId19"/>
    <p:sldId id="374" r:id="rId20"/>
    <p:sldId id="373" r:id="rId21"/>
    <p:sldId id="375" r:id="rId22"/>
    <p:sldId id="376" r:id="rId23"/>
    <p:sldId id="377" r:id="rId24"/>
    <p:sldId id="378" r:id="rId25"/>
    <p:sldId id="379" r:id="rId26"/>
    <p:sldId id="380" r:id="rId27"/>
    <p:sldId id="381" r:id="rId28"/>
    <p:sldId id="382" r:id="rId29"/>
    <p:sldId id="383" r:id="rId30"/>
    <p:sldId id="384" r:id="rId31"/>
    <p:sldId id="385" r:id="rId32"/>
    <p:sldId id="386" r:id="rId33"/>
    <p:sldId id="387" r:id="rId34"/>
    <p:sldId id="388" r:id="rId35"/>
    <p:sldId id="389" r:id="rId36"/>
    <p:sldId id="390" r:id="rId37"/>
    <p:sldId id="391" r:id="rId38"/>
    <p:sldId id="392" r:id="rId39"/>
    <p:sldId id="393" r:id="rId40"/>
    <p:sldId id="394" r:id="rId41"/>
    <p:sldId id="395" r:id="rId42"/>
    <p:sldId id="396" r:id="rId43"/>
    <p:sldId id="397" r:id="rId44"/>
    <p:sldId id="398" r:id="rId45"/>
    <p:sldId id="399" r:id="rId46"/>
    <p:sldId id="400" r:id="rId47"/>
    <p:sldId id="401" r:id="rId48"/>
    <p:sldId id="402" r:id="rId49"/>
    <p:sldId id="403" r:id="rId50"/>
    <p:sldId id="404" r:id="rId51"/>
    <p:sldId id="281" r:id="rId52"/>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2714" autoAdjust="0"/>
  </p:normalViewPr>
  <p:slideViewPr>
    <p:cSldViewPr snapToGrid="0">
      <p:cViewPr varScale="1">
        <p:scale>
          <a:sx n="153" d="100"/>
          <a:sy n="153" d="100"/>
        </p:scale>
        <p:origin x="2034" y="18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29/08/2025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Excel_Worksheet1.xlsx"/><Relationship Id="rId1" Type="http://schemas.openxmlformats.org/officeDocument/2006/relationships/slideLayout" Target="../slideLayouts/slideLayout15.xml"/><Relationship Id="rId5" Type="http://schemas.openxmlformats.org/officeDocument/2006/relationships/image" Target="../media/image9.emf"/><Relationship Id="rId4" Type="http://schemas.openxmlformats.org/officeDocument/2006/relationships/package" Target="../embeddings/Microsoft_Excel_Worksheet2.xlsx"/></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Excel_Worksheet3.xlsx"/><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Graphes</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spc="-1">
                <a:solidFill>
                  <a:srgbClr val="999999"/>
                </a:solidFill>
                <a:latin typeface="Arial"/>
              </a:rPr>
              <a:t>BTS </a:t>
            </a:r>
            <a:r>
              <a:rPr lang="fr-FR" sz="2400" spc="-1" dirty="0">
                <a:solidFill>
                  <a:srgbClr val="999999"/>
                </a:solidFill>
                <a:latin typeface="Arial"/>
              </a:rPr>
              <a:t>SIO</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Initiation à la théorie des graphes</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Généralités et représentation d’un graphe</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Chemin dans un graphe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Niveau des sommets dans un graphe</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Ordonnancement</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A la différence des autres structures de données, un graphe symbolise la relation entre deux éléments.</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La structure de graphe permet de spécifier une information qu</a:t>
            </a:r>
            <a:r>
              <a:rPr lang="fr-FR" sz="2400" spc="-1" dirty="0">
                <a:solidFill>
                  <a:srgbClr val="376092"/>
                </a:solidFill>
                <a:latin typeface="Arial"/>
              </a:rPr>
              <a:t>i n’appartient pas à une entité mais qui se trouve sur la relation entre deux entités: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relation d’amitié sur les réseaux sociaux</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Des liens entre pages sur un site </a:t>
            </a:r>
            <a:r>
              <a:rPr lang="fr-FR" sz="2400" spc="-1" dirty="0">
                <a:solidFill>
                  <a:srgbClr val="376092"/>
                </a:solidFill>
                <a:latin typeface="Arial"/>
              </a:rPr>
              <a:t>internet</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Un arbre généalogique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Les distances entre deux villes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Graphe non orienté :</a:t>
            </a:r>
            <a:endParaRPr lang="en-US" sz="3200" b="0" strike="noStrike" spc="-1" dirty="0">
              <a:solidFill>
                <a:srgbClr val="376092"/>
              </a:solidFill>
              <a:latin typeface="Arial"/>
            </a:endParaRPr>
          </a:p>
        </p:txBody>
      </p:sp>
      <p:sp>
        <p:nvSpPr>
          <p:cNvPr id="140" name="TextShape 2"/>
          <p:cNvSpPr txBox="1"/>
          <p:nvPr/>
        </p:nvSpPr>
        <p:spPr>
          <a:xfrm>
            <a:off x="457200" y="1305016"/>
            <a:ext cx="8229240" cy="4820743"/>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graphe est habituellement représenté par un ensemble de sommets reliés par des arcs.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graphe représentant l’amitié entre personnes sur un réseau social est un graphe non orienté :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78BB029D-CC08-4833-9DEC-EF7052456C7A}"/>
              </a:ext>
            </a:extLst>
          </p:cNvPr>
          <p:cNvPicPr>
            <a:picLocks noChangeAspect="1"/>
          </p:cNvPicPr>
          <p:nvPr/>
        </p:nvPicPr>
        <p:blipFill>
          <a:blip r:embed="rId2"/>
          <a:stretch>
            <a:fillRect/>
          </a:stretch>
        </p:blipFill>
        <p:spPr>
          <a:xfrm>
            <a:off x="685620" y="3078748"/>
            <a:ext cx="7772400" cy="2600325"/>
          </a:xfrm>
          <a:prstGeom prst="rect">
            <a:avLst/>
          </a:prstGeom>
        </p:spPr>
      </p:pic>
    </p:spTree>
    <p:extLst>
      <p:ext uri="{BB962C8B-B14F-4D97-AF65-F5344CB8AC3E}">
        <p14:creationId xmlns:p14="http://schemas.microsoft.com/office/powerpoint/2010/main" val="4148257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Graphe orienté :</a:t>
            </a:r>
            <a:endParaRPr lang="en-US" sz="3200" b="0" strike="noStrike" spc="-1" dirty="0">
              <a:solidFill>
                <a:srgbClr val="376092"/>
              </a:solidFill>
              <a:latin typeface="Arial"/>
            </a:endParaRPr>
          </a:p>
        </p:txBody>
      </p:sp>
      <p:sp>
        <p:nvSpPr>
          <p:cNvPr id="140" name="TextShape 2"/>
          <p:cNvSpPr txBox="1"/>
          <p:nvPr/>
        </p:nvSpPr>
        <p:spPr>
          <a:xfrm>
            <a:off x="457200" y="1305016"/>
            <a:ext cx="8229240" cy="4820743"/>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la relation entre deux sommets du graphe n’est pas symétrique, alors il faut avoir recours à </a:t>
            </a:r>
            <a:r>
              <a:rPr lang="fr-FR" sz="2400" spc="-1">
                <a:solidFill>
                  <a:srgbClr val="376092"/>
                </a:solidFill>
                <a:latin typeface="Arial"/>
              </a:rPr>
              <a:t>un graphe </a:t>
            </a:r>
            <a:r>
              <a:rPr lang="fr-FR" sz="2400" spc="-1" dirty="0">
                <a:solidFill>
                  <a:srgbClr val="376092"/>
                </a:solidFill>
                <a:latin typeface="Arial"/>
              </a:rPr>
              <a:t>orienté.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graphe représentant un arbre généalogique est un graphe orienté :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1B7E8E70-F5A8-4DDD-A81A-7FD60B90A59E}"/>
              </a:ext>
            </a:extLst>
          </p:cNvPr>
          <p:cNvPicPr>
            <a:picLocks noChangeAspect="1"/>
          </p:cNvPicPr>
          <p:nvPr/>
        </p:nvPicPr>
        <p:blipFill>
          <a:blip r:embed="rId2"/>
          <a:stretch>
            <a:fillRect/>
          </a:stretch>
        </p:blipFill>
        <p:spPr>
          <a:xfrm>
            <a:off x="0" y="3429000"/>
            <a:ext cx="9144000" cy="2511089"/>
          </a:xfrm>
          <a:prstGeom prst="rect">
            <a:avLst/>
          </a:prstGeom>
        </p:spPr>
      </p:pic>
    </p:spTree>
    <p:extLst>
      <p:ext uri="{BB962C8B-B14F-4D97-AF65-F5344CB8AC3E}">
        <p14:creationId xmlns:p14="http://schemas.microsoft.com/office/powerpoint/2010/main" val="596001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Comment définir un graphe ?</a:t>
            </a:r>
            <a:endParaRPr lang="en-US" sz="3200" b="0" strike="noStrike" spc="-1" dirty="0">
              <a:solidFill>
                <a:srgbClr val="376092"/>
              </a:solidFill>
              <a:latin typeface="Arial"/>
            </a:endParaRPr>
          </a:p>
        </p:txBody>
      </p:sp>
      <p:sp>
        <p:nvSpPr>
          <p:cNvPr id="140" name="TextShape 2"/>
          <p:cNvSpPr txBox="1"/>
          <p:nvPr/>
        </p:nvSpPr>
        <p:spPr>
          <a:xfrm>
            <a:off x="457200" y="1038688"/>
            <a:ext cx="8464858" cy="508707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graphe orienté ou non orienté G est défini par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ensemble fini de sommets S = {a</a:t>
            </a:r>
            <a:r>
              <a:rPr lang="fr-FR" sz="2400" spc="-1" baseline="-25000" dirty="0">
                <a:solidFill>
                  <a:srgbClr val="376092"/>
                </a:solidFill>
                <a:latin typeface="Arial"/>
              </a:rPr>
              <a:t>1</a:t>
            </a:r>
            <a:r>
              <a:rPr lang="fr-FR" sz="2400" spc="-1" dirty="0">
                <a:solidFill>
                  <a:srgbClr val="376092"/>
                </a:solidFill>
                <a:latin typeface="Arial"/>
              </a:rPr>
              <a:t>; a</a:t>
            </a:r>
            <a:r>
              <a:rPr lang="fr-FR" sz="2400" spc="-1" baseline="-25000" dirty="0">
                <a:solidFill>
                  <a:srgbClr val="376092"/>
                </a:solidFill>
                <a:latin typeface="Arial"/>
              </a:rPr>
              <a:t>2</a:t>
            </a:r>
            <a:r>
              <a:rPr lang="fr-FR" sz="2400" spc="-1" dirty="0">
                <a:solidFill>
                  <a:srgbClr val="376092"/>
                </a:solidFill>
                <a:latin typeface="Arial"/>
              </a:rPr>
              <a:t>;…;a</a:t>
            </a:r>
            <a:r>
              <a:rPr lang="fr-FR" sz="2400" spc="-1" baseline="-25000" dirty="0">
                <a:solidFill>
                  <a:srgbClr val="376092"/>
                </a:solidFill>
                <a:latin typeface="Arial"/>
              </a:rPr>
              <a:t>n</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ensemble de couples de sommets non ordonnés A appelés arcs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note donc G = (S,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définit un arc par un couple de deux sommets (a</a:t>
            </a:r>
            <a:r>
              <a:rPr lang="fr-FR" sz="2400" spc="-1" baseline="-25000" dirty="0">
                <a:solidFill>
                  <a:srgbClr val="376092"/>
                </a:solidFill>
                <a:latin typeface="Arial"/>
              </a:rPr>
              <a:t>i;</a:t>
            </a:r>
            <a:r>
              <a:rPr lang="fr-FR" sz="2400" spc="-1" dirty="0">
                <a:solidFill>
                  <a:srgbClr val="376092"/>
                </a:solidFill>
                <a:latin typeface="Arial"/>
              </a:rPr>
              <a:t> </a:t>
            </a:r>
            <a:r>
              <a:rPr lang="fr-FR" sz="2400" spc="-1" dirty="0" err="1">
                <a:solidFill>
                  <a:srgbClr val="376092"/>
                </a:solidFill>
                <a:latin typeface="Arial"/>
              </a:rPr>
              <a:t>a</a:t>
            </a:r>
            <a:r>
              <a:rPr lang="fr-FR" sz="2400" spc="-1" baseline="-25000" dirty="0" err="1">
                <a:solidFill>
                  <a:srgbClr val="376092"/>
                </a:solidFill>
                <a:latin typeface="Arial"/>
              </a:rPr>
              <a:t>j</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a:t>
            </a:r>
            <a:r>
              <a:rPr lang="fr-FR" sz="2400" spc="-1" baseline="-25000" dirty="0">
                <a:solidFill>
                  <a:srgbClr val="376092"/>
                </a:solidFill>
                <a:latin typeface="Arial"/>
              </a:rPr>
              <a:t>i</a:t>
            </a:r>
            <a:r>
              <a:rPr lang="fr-FR" sz="2400" spc="-1" dirty="0">
                <a:solidFill>
                  <a:srgbClr val="376092"/>
                </a:solidFill>
                <a:latin typeface="Arial"/>
              </a:rPr>
              <a:t> est l’origine de l’arc, </a:t>
            </a:r>
            <a:r>
              <a:rPr lang="fr-FR" sz="2400" spc="-1" dirty="0" err="1">
                <a:solidFill>
                  <a:srgbClr val="376092"/>
                </a:solidFill>
                <a:latin typeface="Arial"/>
              </a:rPr>
              <a:t>a</a:t>
            </a:r>
            <a:r>
              <a:rPr lang="fr-FR" sz="2400" spc="-1" baseline="-25000" dirty="0" err="1">
                <a:solidFill>
                  <a:srgbClr val="376092"/>
                </a:solidFill>
                <a:latin typeface="Arial"/>
              </a:rPr>
              <a:t>j</a:t>
            </a:r>
            <a:r>
              <a:rPr lang="fr-FR" sz="2400" spc="-1" dirty="0">
                <a:solidFill>
                  <a:srgbClr val="376092"/>
                </a:solidFill>
                <a:latin typeface="Arial"/>
              </a:rPr>
              <a:t> en est l’extrémité.</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a</a:t>
            </a:r>
            <a:r>
              <a:rPr lang="fr-FR" sz="2400" spc="-1" baseline="-25000" dirty="0">
                <a:solidFill>
                  <a:srgbClr val="376092"/>
                </a:solidFill>
                <a:latin typeface="Arial"/>
              </a:rPr>
              <a:t>i</a:t>
            </a:r>
            <a:r>
              <a:rPr lang="fr-FR" sz="2400" spc="-1" dirty="0">
                <a:solidFill>
                  <a:srgbClr val="376092"/>
                </a:solidFill>
                <a:latin typeface="Arial"/>
              </a:rPr>
              <a:t> et </a:t>
            </a:r>
            <a:r>
              <a:rPr lang="fr-FR" sz="2400" spc="-1" dirty="0" err="1">
                <a:solidFill>
                  <a:srgbClr val="376092"/>
                </a:solidFill>
                <a:latin typeface="Arial"/>
              </a:rPr>
              <a:t>a</a:t>
            </a:r>
            <a:r>
              <a:rPr lang="fr-FR" sz="2400" spc="-1" baseline="-25000" dirty="0" err="1">
                <a:solidFill>
                  <a:srgbClr val="376092"/>
                </a:solidFill>
                <a:latin typeface="Arial"/>
              </a:rPr>
              <a:t>j</a:t>
            </a:r>
            <a:r>
              <a:rPr lang="fr-FR" sz="2400" spc="-1" dirty="0">
                <a:solidFill>
                  <a:srgbClr val="376092"/>
                </a:solidFill>
                <a:latin typeface="Arial"/>
              </a:rPr>
              <a:t> constituent le même sommet, l’arc est une boucle.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a:t>
            </a:r>
            <a:r>
              <a:rPr lang="fr-FR" sz="2400" spc="-1" baseline="-25000" dirty="0">
                <a:solidFill>
                  <a:srgbClr val="376092"/>
                </a:solidFill>
                <a:latin typeface="Arial"/>
              </a:rPr>
              <a:t>i</a:t>
            </a:r>
            <a:r>
              <a:rPr lang="fr-FR" sz="2400" spc="-1" dirty="0">
                <a:solidFill>
                  <a:srgbClr val="376092"/>
                </a:solidFill>
                <a:latin typeface="Arial"/>
              </a:rPr>
              <a:t> est un prédécesseur de </a:t>
            </a:r>
            <a:r>
              <a:rPr lang="fr-FR" sz="2400" spc="-1" dirty="0" err="1">
                <a:solidFill>
                  <a:srgbClr val="376092"/>
                </a:solidFill>
                <a:latin typeface="Arial"/>
              </a:rPr>
              <a:t>a</a:t>
            </a:r>
            <a:r>
              <a:rPr lang="fr-FR" sz="2400" spc="-1" baseline="-25000" dirty="0" err="1">
                <a:solidFill>
                  <a:srgbClr val="376092"/>
                </a:solidFill>
                <a:latin typeface="Arial"/>
              </a:rPr>
              <a:t>j</a:t>
            </a:r>
            <a:r>
              <a:rPr lang="fr-FR" sz="2400" spc="-1" dirty="0">
                <a:solidFill>
                  <a:srgbClr val="376092"/>
                </a:solidFill>
                <a:latin typeface="Arial"/>
              </a:rPr>
              <a:t>, </a:t>
            </a:r>
            <a:r>
              <a:rPr lang="fr-FR" sz="2400" spc="-1" dirty="0" err="1">
                <a:solidFill>
                  <a:srgbClr val="376092"/>
                </a:solidFill>
                <a:latin typeface="Arial"/>
              </a:rPr>
              <a:t>a</a:t>
            </a:r>
            <a:r>
              <a:rPr lang="fr-FR" sz="2400" spc="-1" baseline="-25000" dirty="0" err="1">
                <a:solidFill>
                  <a:srgbClr val="376092"/>
                </a:solidFill>
                <a:latin typeface="Arial"/>
              </a:rPr>
              <a:t>j</a:t>
            </a:r>
            <a:r>
              <a:rPr lang="fr-FR" sz="2400" spc="-1" dirty="0">
                <a:solidFill>
                  <a:srgbClr val="376092"/>
                </a:solidFill>
                <a:latin typeface="Arial"/>
              </a:rPr>
              <a:t> est un successeur de a</a:t>
            </a:r>
            <a:r>
              <a:rPr lang="fr-FR" sz="2400" spc="-1" baseline="-25000" dirty="0">
                <a:solidFill>
                  <a:srgbClr val="376092"/>
                </a:solidFill>
                <a:latin typeface="Arial"/>
              </a:rPr>
              <a:t>i</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Ensemble des successeurs : </a:t>
            </a:r>
            <a:r>
              <a:rPr lang="el-GR" sz="2400" spc="-1" dirty="0">
                <a:solidFill>
                  <a:srgbClr val="376092"/>
                </a:solidFill>
                <a:latin typeface="Arial"/>
              </a:rPr>
              <a:t>Γ</a:t>
            </a:r>
            <a:r>
              <a:rPr lang="fr-FR" sz="2400" spc="-1" baseline="30000" dirty="0">
                <a:solidFill>
                  <a:srgbClr val="376092"/>
                </a:solidFill>
                <a:latin typeface="Arial"/>
              </a:rPr>
              <a:t>+</a:t>
            </a:r>
            <a:r>
              <a:rPr lang="fr-FR" sz="2400" spc="-1" dirty="0">
                <a:solidFill>
                  <a:srgbClr val="376092"/>
                </a:solidFill>
                <a:latin typeface="Arial"/>
              </a:rPr>
              <a:t>(a</a:t>
            </a:r>
            <a:r>
              <a:rPr lang="fr-FR" sz="2400" spc="-1" baseline="-25000" dirty="0">
                <a:solidFill>
                  <a:srgbClr val="376092"/>
                </a:solidFill>
                <a:latin typeface="Arial"/>
              </a:rPr>
              <a:t>i</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Ensemble des prédécesseurs : </a:t>
            </a:r>
            <a:r>
              <a:rPr lang="el-GR" sz="2400" spc="-1" dirty="0">
                <a:solidFill>
                  <a:srgbClr val="376092"/>
                </a:solidFill>
                <a:latin typeface="Arial"/>
              </a:rPr>
              <a:t>Γ</a:t>
            </a:r>
            <a:r>
              <a:rPr lang="fr-FR" sz="2400" spc="-1" baseline="30000" dirty="0">
                <a:solidFill>
                  <a:srgbClr val="376092"/>
                </a:solidFill>
                <a:latin typeface="Arial"/>
              </a:rPr>
              <a:t>-</a:t>
            </a:r>
            <a:r>
              <a:rPr lang="fr-FR" sz="2400" spc="-1" dirty="0">
                <a:solidFill>
                  <a:srgbClr val="376092"/>
                </a:solidFill>
                <a:latin typeface="Arial"/>
              </a:rPr>
              <a:t>(a</a:t>
            </a:r>
            <a:r>
              <a:rPr lang="fr-FR" sz="2400" spc="-1" baseline="-25000" dirty="0">
                <a:solidFill>
                  <a:srgbClr val="376092"/>
                </a:solidFill>
                <a:latin typeface="Arial"/>
              </a:rPr>
              <a:t>i</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365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Définir un graphe par l’exemple :</a:t>
            </a:r>
            <a:endParaRPr lang="en-US" sz="3200" b="0" strike="noStrike" spc="-1" dirty="0">
              <a:solidFill>
                <a:srgbClr val="376092"/>
              </a:solidFill>
              <a:latin typeface="Arial"/>
            </a:endParaRPr>
          </a:p>
        </p:txBody>
      </p:sp>
      <p:sp>
        <p:nvSpPr>
          <p:cNvPr id="140" name="TextShape 2"/>
          <p:cNvSpPr txBox="1"/>
          <p:nvPr/>
        </p:nvSpPr>
        <p:spPr>
          <a:xfrm>
            <a:off x="457200" y="1038688"/>
            <a:ext cx="8464858" cy="508707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Reprenons l’arbre généalogique vu plus tôt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l’ensemble des sommets et l’ensemble des arcs.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 liste des successeurs </a:t>
            </a:r>
            <a:r>
              <a:rPr lang="el-GR" sz="2400" spc="-1" dirty="0">
                <a:solidFill>
                  <a:srgbClr val="376092"/>
                </a:solidFill>
                <a:latin typeface="Arial"/>
              </a:rPr>
              <a:t>Γ</a:t>
            </a:r>
            <a:r>
              <a:rPr lang="fr-FR" sz="2400" spc="-1" baseline="30000" dirty="0">
                <a:solidFill>
                  <a:srgbClr val="376092"/>
                </a:solidFill>
                <a:latin typeface="Arial"/>
              </a:rPr>
              <a:t>+</a:t>
            </a:r>
            <a:r>
              <a:rPr lang="fr-FR" sz="2400" spc="-1" dirty="0">
                <a:solidFill>
                  <a:srgbClr val="376092"/>
                </a:solidFill>
                <a:latin typeface="Arial"/>
              </a:rPr>
              <a:t>(John)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 liste des prédécesseurs </a:t>
            </a:r>
            <a:r>
              <a:rPr lang="el-GR" sz="2400" spc="-1" dirty="0">
                <a:solidFill>
                  <a:srgbClr val="376092"/>
                </a:solidFill>
                <a:latin typeface="Arial"/>
              </a:rPr>
              <a:t>Γ</a:t>
            </a:r>
            <a:r>
              <a:rPr lang="fr-FR" sz="2400" spc="-1" baseline="30000" dirty="0">
                <a:solidFill>
                  <a:srgbClr val="376092"/>
                </a:solidFill>
                <a:latin typeface="Arial"/>
              </a:rPr>
              <a:t>-</a:t>
            </a:r>
            <a:r>
              <a:rPr lang="fr-FR" sz="2400" spc="-1" dirty="0">
                <a:solidFill>
                  <a:srgbClr val="376092"/>
                </a:solidFill>
                <a:latin typeface="Arial"/>
              </a:rPr>
              <a:t>(Martha)</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4" name="Image 3">
            <a:extLst>
              <a:ext uri="{FF2B5EF4-FFF2-40B4-BE49-F238E27FC236}">
                <a16:creationId xmlns:a16="http://schemas.microsoft.com/office/drawing/2014/main" id="{64D339FB-1835-43BF-81B1-00B4C5F6CC68}"/>
              </a:ext>
            </a:extLst>
          </p:cNvPr>
          <p:cNvPicPr>
            <a:picLocks noChangeAspect="1"/>
          </p:cNvPicPr>
          <p:nvPr/>
        </p:nvPicPr>
        <p:blipFill>
          <a:blip r:embed="rId2"/>
          <a:stretch>
            <a:fillRect/>
          </a:stretch>
        </p:blipFill>
        <p:spPr>
          <a:xfrm>
            <a:off x="0" y="1417320"/>
            <a:ext cx="9144000" cy="2511089"/>
          </a:xfrm>
          <a:prstGeom prst="rect">
            <a:avLst/>
          </a:prstGeom>
        </p:spPr>
      </p:pic>
    </p:spTree>
    <p:extLst>
      <p:ext uri="{BB962C8B-B14F-4D97-AF65-F5344CB8AC3E}">
        <p14:creationId xmlns:p14="http://schemas.microsoft.com/office/powerpoint/2010/main" val="802446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Définir un graphe par l’exemple - solution :</a:t>
            </a:r>
            <a:endParaRPr lang="en-US" sz="3200" b="0" strike="noStrike" spc="-1" dirty="0">
              <a:solidFill>
                <a:srgbClr val="376092"/>
              </a:solidFill>
              <a:latin typeface="Arial"/>
            </a:endParaRPr>
          </a:p>
        </p:txBody>
      </p:sp>
      <p:sp>
        <p:nvSpPr>
          <p:cNvPr id="140" name="TextShape 2"/>
          <p:cNvSpPr txBox="1"/>
          <p:nvPr/>
        </p:nvSpPr>
        <p:spPr>
          <a:xfrm>
            <a:off x="457200" y="1038688"/>
            <a:ext cx="8464858" cy="508707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sommets du graphe sont dans ce cas précis les membres de la famille : {Robert; William; Amy; Martha; John; Alison; Jack}</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arcs symbolisent la relation de généalogie : {(Robert, William), (Robert, Martha), (Robert, John), (William, Amy), (John, Alison), (John, Jack)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liste des successeurs </a:t>
            </a:r>
            <a:r>
              <a:rPr lang="el-GR" sz="2400" spc="-1" dirty="0">
                <a:solidFill>
                  <a:srgbClr val="376092"/>
                </a:solidFill>
                <a:latin typeface="Arial"/>
              </a:rPr>
              <a:t>Γ</a:t>
            </a:r>
            <a:r>
              <a:rPr lang="fr-FR" sz="2400" spc="-1" baseline="30000" dirty="0">
                <a:solidFill>
                  <a:srgbClr val="376092"/>
                </a:solidFill>
                <a:latin typeface="Arial"/>
              </a:rPr>
              <a:t>+</a:t>
            </a:r>
            <a:r>
              <a:rPr lang="fr-FR" sz="2400" spc="-1" dirty="0">
                <a:solidFill>
                  <a:srgbClr val="376092"/>
                </a:solidFill>
                <a:latin typeface="Arial"/>
              </a:rPr>
              <a:t>(John) est constituée des descendants directs de John {Alison, Jack}</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liste des prédécesseurs </a:t>
            </a:r>
            <a:r>
              <a:rPr lang="el-GR" sz="2400" spc="-1" dirty="0">
                <a:solidFill>
                  <a:srgbClr val="376092"/>
                </a:solidFill>
                <a:latin typeface="Arial"/>
              </a:rPr>
              <a:t>Γ</a:t>
            </a:r>
            <a:r>
              <a:rPr lang="fr-FR" sz="2400" spc="-1" baseline="30000" dirty="0">
                <a:solidFill>
                  <a:srgbClr val="376092"/>
                </a:solidFill>
                <a:latin typeface="Arial"/>
              </a:rPr>
              <a:t>-</a:t>
            </a:r>
            <a:r>
              <a:rPr lang="fr-FR" sz="2400" spc="-1" dirty="0">
                <a:solidFill>
                  <a:srgbClr val="376092"/>
                </a:solidFill>
                <a:latin typeface="Arial"/>
              </a:rPr>
              <a:t>(Martha) est constituée des ascendants directs de Martha {Robert}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Notons au travers de ces exemples comment les réponses données respectent une certaine logique.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473042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Représenter un graphe :</a:t>
            </a:r>
            <a:endParaRPr lang="en-US" sz="3200" b="0" strike="noStrike" spc="-1" dirty="0">
              <a:solidFill>
                <a:srgbClr val="376092"/>
              </a:solidFill>
              <a:latin typeface="Arial"/>
            </a:endParaRPr>
          </a:p>
        </p:txBody>
      </p:sp>
      <p:sp>
        <p:nvSpPr>
          <p:cNvPr id="140" name="TextShape 2"/>
          <p:cNvSpPr txBox="1"/>
          <p:nvPr/>
        </p:nvSpPr>
        <p:spPr>
          <a:xfrm>
            <a:off x="457200" y="1038688"/>
            <a:ext cx="8464858" cy="508707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y a plusieurs façons de représenter un graphe du point de vue algorithmique. Ces différents solutions se basent systématiquement sur les sommets et les arcs.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Vérifions si à partir de la représentation nous arrivons à chaque fois à refaire le graphe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Liste de couples de sommets :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3" name="Objet 2">
            <a:extLst>
              <a:ext uri="{FF2B5EF4-FFF2-40B4-BE49-F238E27FC236}">
                <a16:creationId xmlns:a16="http://schemas.microsoft.com/office/drawing/2014/main" id="{BA4120C8-BD9F-4E46-85C2-04420BF5CC02}"/>
              </a:ext>
            </a:extLst>
          </p:cNvPr>
          <p:cNvGraphicFramePr>
            <a:graphicFrameLocks noChangeAspect="1"/>
          </p:cNvGraphicFramePr>
          <p:nvPr>
            <p:extLst>
              <p:ext uri="{D42A27DB-BD31-4B8C-83A1-F6EECF244321}">
                <p14:modId xmlns:p14="http://schemas.microsoft.com/office/powerpoint/2010/main" val="3079513067"/>
              </p:ext>
            </p:extLst>
          </p:nvPr>
        </p:nvGraphicFramePr>
        <p:xfrm>
          <a:off x="5462357" y="3313868"/>
          <a:ext cx="1752600" cy="2343150"/>
        </p:xfrm>
        <a:graphic>
          <a:graphicData uri="http://schemas.openxmlformats.org/presentationml/2006/ole">
            <mc:AlternateContent xmlns:mc="http://schemas.openxmlformats.org/markup-compatibility/2006">
              <mc:Choice xmlns:v="urn:schemas-microsoft-com:vml" Requires="v">
                <p:oleObj name="Worksheet" r:id="rId2" imgW="1752651" imgH="2343048" progId="Excel.Sheet.12">
                  <p:embed/>
                </p:oleObj>
              </mc:Choice>
              <mc:Fallback>
                <p:oleObj name="Worksheet" r:id="rId2" imgW="1752651" imgH="2343048" progId="Excel.Sheet.12">
                  <p:embed/>
                  <p:pic>
                    <p:nvPicPr>
                      <p:cNvPr id="0" name=""/>
                      <p:cNvPicPr/>
                      <p:nvPr/>
                    </p:nvPicPr>
                    <p:blipFill>
                      <a:blip r:embed="rId3"/>
                      <a:stretch>
                        <a:fillRect/>
                      </a:stretch>
                    </p:blipFill>
                    <p:spPr>
                      <a:xfrm>
                        <a:off x="5462357" y="3313868"/>
                        <a:ext cx="1752600" cy="2343150"/>
                      </a:xfrm>
                      <a:prstGeom prst="rect">
                        <a:avLst/>
                      </a:prstGeom>
                    </p:spPr>
                  </p:pic>
                </p:oleObj>
              </mc:Fallback>
            </mc:AlternateContent>
          </a:graphicData>
        </a:graphic>
      </p:graphicFrame>
    </p:spTree>
    <p:extLst>
      <p:ext uri="{BB962C8B-B14F-4D97-AF65-F5344CB8AC3E}">
        <p14:creationId xmlns:p14="http://schemas.microsoft.com/office/powerpoint/2010/main" val="2986263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Représenter un graphe :</a:t>
            </a:r>
            <a:endParaRPr lang="en-US" sz="3200" b="0" strike="noStrike" spc="-1" dirty="0">
              <a:solidFill>
                <a:srgbClr val="376092"/>
              </a:solidFill>
              <a:latin typeface="Arial"/>
            </a:endParaRPr>
          </a:p>
        </p:txBody>
      </p:sp>
      <p:sp>
        <p:nvSpPr>
          <p:cNvPr id="140" name="TextShape 2"/>
          <p:cNvSpPr txBox="1"/>
          <p:nvPr/>
        </p:nvSpPr>
        <p:spPr>
          <a:xfrm>
            <a:off x="457200" y="1038688"/>
            <a:ext cx="8464858" cy="508707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Liste des prédécesseurs :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Liste des successeurs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2" name="Objet 1">
            <a:extLst>
              <a:ext uri="{FF2B5EF4-FFF2-40B4-BE49-F238E27FC236}">
                <a16:creationId xmlns:a16="http://schemas.microsoft.com/office/drawing/2014/main" id="{DE59BF82-442F-47D1-9A26-8FF1BB4F1D53}"/>
              </a:ext>
            </a:extLst>
          </p:cNvPr>
          <p:cNvGraphicFramePr>
            <a:graphicFrameLocks noChangeAspect="1"/>
          </p:cNvGraphicFramePr>
          <p:nvPr>
            <p:extLst>
              <p:ext uri="{D42A27DB-BD31-4B8C-83A1-F6EECF244321}">
                <p14:modId xmlns:p14="http://schemas.microsoft.com/office/powerpoint/2010/main" val="2275034390"/>
              </p:ext>
            </p:extLst>
          </p:nvPr>
        </p:nvGraphicFramePr>
        <p:xfrm>
          <a:off x="5082467" y="1038688"/>
          <a:ext cx="2514600" cy="2676525"/>
        </p:xfrm>
        <a:graphic>
          <a:graphicData uri="http://schemas.openxmlformats.org/presentationml/2006/ole">
            <mc:AlternateContent xmlns:mc="http://schemas.openxmlformats.org/markup-compatibility/2006">
              <mc:Choice xmlns:v="urn:schemas-microsoft-com:vml" Requires="v">
                <p:oleObj name="Worksheet" r:id="rId2" imgW="2514753" imgH="2676457" progId="Excel.Sheet.12">
                  <p:embed/>
                </p:oleObj>
              </mc:Choice>
              <mc:Fallback>
                <p:oleObj name="Worksheet" r:id="rId2" imgW="2514753" imgH="2676457" progId="Excel.Sheet.12">
                  <p:embed/>
                  <p:pic>
                    <p:nvPicPr>
                      <p:cNvPr id="0" name=""/>
                      <p:cNvPicPr/>
                      <p:nvPr/>
                    </p:nvPicPr>
                    <p:blipFill>
                      <a:blip r:embed="rId3"/>
                      <a:stretch>
                        <a:fillRect/>
                      </a:stretch>
                    </p:blipFill>
                    <p:spPr>
                      <a:xfrm>
                        <a:off x="5082467" y="1038688"/>
                        <a:ext cx="2514600" cy="2676525"/>
                      </a:xfrm>
                      <a:prstGeom prst="rect">
                        <a:avLst/>
                      </a:prstGeom>
                    </p:spPr>
                  </p:pic>
                </p:oleObj>
              </mc:Fallback>
            </mc:AlternateContent>
          </a:graphicData>
        </a:graphic>
      </p:graphicFrame>
      <p:graphicFrame>
        <p:nvGraphicFramePr>
          <p:cNvPr id="4" name="Objet 3">
            <a:extLst>
              <a:ext uri="{FF2B5EF4-FFF2-40B4-BE49-F238E27FC236}">
                <a16:creationId xmlns:a16="http://schemas.microsoft.com/office/drawing/2014/main" id="{74FE8CA0-25C9-4FA6-82A9-DFE846C7B1D6}"/>
              </a:ext>
            </a:extLst>
          </p:cNvPr>
          <p:cNvGraphicFramePr>
            <a:graphicFrameLocks noChangeAspect="1"/>
          </p:cNvGraphicFramePr>
          <p:nvPr>
            <p:extLst>
              <p:ext uri="{D42A27DB-BD31-4B8C-83A1-F6EECF244321}">
                <p14:modId xmlns:p14="http://schemas.microsoft.com/office/powerpoint/2010/main" val="680483907"/>
              </p:ext>
            </p:extLst>
          </p:nvPr>
        </p:nvGraphicFramePr>
        <p:xfrm>
          <a:off x="1098196" y="3633224"/>
          <a:ext cx="3343275" cy="2676525"/>
        </p:xfrm>
        <a:graphic>
          <a:graphicData uri="http://schemas.openxmlformats.org/presentationml/2006/ole">
            <mc:AlternateContent xmlns:mc="http://schemas.openxmlformats.org/markup-compatibility/2006">
              <mc:Choice xmlns:v="urn:schemas-microsoft-com:vml" Requires="v">
                <p:oleObj name="Worksheet" r:id="rId4" imgW="3343218" imgH="2676457" progId="Excel.Sheet.12">
                  <p:embed/>
                </p:oleObj>
              </mc:Choice>
              <mc:Fallback>
                <p:oleObj name="Worksheet" r:id="rId4" imgW="3343218" imgH="2676457" progId="Excel.Sheet.12">
                  <p:embed/>
                  <p:pic>
                    <p:nvPicPr>
                      <p:cNvPr id="0" name=""/>
                      <p:cNvPicPr/>
                      <p:nvPr/>
                    </p:nvPicPr>
                    <p:blipFill>
                      <a:blip r:embed="rId5"/>
                      <a:stretch>
                        <a:fillRect/>
                      </a:stretch>
                    </p:blipFill>
                    <p:spPr>
                      <a:xfrm>
                        <a:off x="1098196" y="3633224"/>
                        <a:ext cx="3343275" cy="2676525"/>
                      </a:xfrm>
                      <a:prstGeom prst="rect">
                        <a:avLst/>
                      </a:prstGeom>
                    </p:spPr>
                  </p:pic>
                </p:oleObj>
              </mc:Fallback>
            </mc:AlternateContent>
          </a:graphicData>
        </a:graphic>
      </p:graphicFrame>
    </p:spTree>
    <p:extLst>
      <p:ext uri="{BB962C8B-B14F-4D97-AF65-F5344CB8AC3E}">
        <p14:creationId xmlns:p14="http://schemas.microsoft.com/office/powerpoint/2010/main" val="208997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Représenter un graphe :</a:t>
            </a:r>
            <a:endParaRPr lang="en-US" sz="3200" b="0" strike="noStrike" spc="-1" dirty="0">
              <a:solidFill>
                <a:srgbClr val="376092"/>
              </a:solidFill>
              <a:latin typeface="Arial"/>
            </a:endParaRPr>
          </a:p>
        </p:txBody>
      </p:sp>
      <p:sp>
        <p:nvSpPr>
          <p:cNvPr id="140" name="TextShape 2"/>
          <p:cNvSpPr txBox="1"/>
          <p:nvPr/>
        </p:nvSpPr>
        <p:spPr>
          <a:xfrm>
            <a:off x="457200" y="967666"/>
            <a:ext cx="8464858" cy="51580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matrice d’adjacence d’un graphe est une matrice carrée d’ordre du nombre de sommets dans le graphe :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Chaque élément </a:t>
            </a:r>
            <a:r>
              <a:rPr lang="fr-FR" sz="2400" spc="-1" dirty="0" err="1">
                <a:solidFill>
                  <a:srgbClr val="376092"/>
                </a:solidFill>
                <a:latin typeface="Arial"/>
              </a:rPr>
              <a:t>m</a:t>
            </a:r>
            <a:r>
              <a:rPr lang="fr-FR" sz="2400" spc="-1" baseline="-25000" dirty="0" err="1">
                <a:solidFill>
                  <a:srgbClr val="376092"/>
                </a:solidFill>
                <a:latin typeface="Arial"/>
              </a:rPr>
              <a:t>i,j</a:t>
            </a:r>
            <a:r>
              <a:rPr lang="fr-FR" sz="2400" spc="-1" baseline="-25000" dirty="0">
                <a:solidFill>
                  <a:srgbClr val="376092"/>
                </a:solidFill>
                <a:latin typeface="Arial"/>
              </a:rPr>
              <a:t> </a:t>
            </a:r>
            <a:r>
              <a:rPr lang="fr-FR" sz="2400" spc="-1" dirty="0">
                <a:solidFill>
                  <a:srgbClr val="376092"/>
                </a:solidFill>
                <a:latin typeface="Arial"/>
              </a:rPr>
              <a:t>de la matrice vaut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si l’arc (a</a:t>
            </a:r>
            <a:r>
              <a:rPr lang="fr-FR" sz="2400" spc="-1" baseline="-25000" dirty="0">
                <a:solidFill>
                  <a:srgbClr val="376092"/>
                </a:solidFill>
                <a:latin typeface="Arial"/>
              </a:rPr>
              <a:t>i</a:t>
            </a:r>
            <a:r>
              <a:rPr lang="fr-FR" sz="2400" spc="-1" dirty="0">
                <a:solidFill>
                  <a:srgbClr val="376092"/>
                </a:solidFill>
                <a:latin typeface="Arial"/>
              </a:rPr>
              <a:t>, </a:t>
            </a:r>
            <a:r>
              <a:rPr lang="fr-FR" sz="2400" spc="-1" dirty="0" err="1">
                <a:solidFill>
                  <a:srgbClr val="376092"/>
                </a:solidFill>
                <a:latin typeface="Arial"/>
              </a:rPr>
              <a:t>a</a:t>
            </a:r>
            <a:r>
              <a:rPr lang="fr-FR" sz="2400" spc="-1" baseline="-25000" dirty="0" err="1">
                <a:solidFill>
                  <a:srgbClr val="376092"/>
                </a:solidFill>
                <a:latin typeface="Arial"/>
              </a:rPr>
              <a:t>j</a:t>
            </a:r>
            <a:r>
              <a:rPr lang="fr-FR" sz="2400" spc="-1" dirty="0">
                <a:solidFill>
                  <a:srgbClr val="376092"/>
                </a:solidFill>
                <a:latin typeface="Arial"/>
              </a:rPr>
              <a:t>) existe dans le graphe G</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 sinon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Discutons du choix de la représentation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 terme d’accès à l’information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 terme de place mémoire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graphicFrame>
        <p:nvGraphicFramePr>
          <p:cNvPr id="6" name="Objet 5">
            <a:extLst>
              <a:ext uri="{FF2B5EF4-FFF2-40B4-BE49-F238E27FC236}">
                <a16:creationId xmlns:a16="http://schemas.microsoft.com/office/drawing/2014/main" id="{281B3273-BF5C-4D08-9C27-C44808F4CB3D}"/>
              </a:ext>
            </a:extLst>
          </p:cNvPr>
          <p:cNvGraphicFramePr>
            <a:graphicFrameLocks noChangeAspect="1"/>
          </p:cNvGraphicFramePr>
          <p:nvPr>
            <p:extLst>
              <p:ext uri="{D42A27DB-BD31-4B8C-83A1-F6EECF244321}">
                <p14:modId xmlns:p14="http://schemas.microsoft.com/office/powerpoint/2010/main" val="313723332"/>
              </p:ext>
            </p:extLst>
          </p:nvPr>
        </p:nvGraphicFramePr>
        <p:xfrm>
          <a:off x="1835784" y="1735632"/>
          <a:ext cx="4707059" cy="2123087"/>
        </p:xfrm>
        <a:graphic>
          <a:graphicData uri="http://schemas.openxmlformats.org/presentationml/2006/ole">
            <mc:AlternateContent xmlns:mc="http://schemas.openxmlformats.org/markup-compatibility/2006">
              <mc:Choice xmlns:v="urn:schemas-microsoft-com:vml" Requires="v">
                <p:oleObj name="Worksheet" r:id="rId2" imgW="5934120" imgH="2676457" progId="Excel.Sheet.12">
                  <p:embed/>
                </p:oleObj>
              </mc:Choice>
              <mc:Fallback>
                <p:oleObj name="Worksheet" r:id="rId2" imgW="5934120" imgH="2676457" progId="Excel.Sheet.12">
                  <p:embed/>
                  <p:pic>
                    <p:nvPicPr>
                      <p:cNvPr id="0" name=""/>
                      <p:cNvPicPr/>
                      <p:nvPr/>
                    </p:nvPicPr>
                    <p:blipFill>
                      <a:blip r:embed="rId3"/>
                      <a:stretch>
                        <a:fillRect/>
                      </a:stretch>
                    </p:blipFill>
                    <p:spPr>
                      <a:xfrm>
                        <a:off x="1835784" y="1735632"/>
                        <a:ext cx="4707059" cy="2123087"/>
                      </a:xfrm>
                      <a:prstGeom prst="rect">
                        <a:avLst/>
                      </a:prstGeom>
                    </p:spPr>
                  </p:pic>
                </p:oleObj>
              </mc:Fallback>
            </mc:AlternateContent>
          </a:graphicData>
        </a:graphic>
      </p:graphicFrame>
    </p:spTree>
    <p:extLst>
      <p:ext uri="{BB962C8B-B14F-4D97-AF65-F5344CB8AC3E}">
        <p14:creationId xmlns:p14="http://schemas.microsoft.com/office/powerpoint/2010/main" val="1236035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Représenter un graphe par l’exemple :</a:t>
            </a:r>
            <a:endParaRPr lang="en-US" sz="3200" b="0" strike="noStrike" spc="-1" dirty="0">
              <a:solidFill>
                <a:srgbClr val="376092"/>
              </a:solidFill>
              <a:latin typeface="Arial"/>
            </a:endParaRPr>
          </a:p>
        </p:txBody>
      </p:sp>
      <p:sp>
        <p:nvSpPr>
          <p:cNvPr id="140" name="TextShape 2"/>
          <p:cNvSpPr txBox="1"/>
          <p:nvPr/>
        </p:nvSpPr>
        <p:spPr>
          <a:xfrm>
            <a:off x="457200" y="967666"/>
            <a:ext cx="8686800" cy="51580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le graphe suivant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Définir le graphe par la liste de ses sommets et de ses arcs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déduire la matrice d’adjacence de ce graphe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Proposer un algorithme qui écrit les successeurs et les prédécesseurs d’un sommet à partir de la matrice d’adjacence.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Proposer un algorithme qui donne, à partir de la matrice d’adjacence, la liste des arcs.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5" name="Image 4">
            <a:extLst>
              <a:ext uri="{FF2B5EF4-FFF2-40B4-BE49-F238E27FC236}">
                <a16:creationId xmlns:a16="http://schemas.microsoft.com/office/drawing/2014/main" id="{47480314-C835-40FD-93F8-96DFD4FEB65F}"/>
              </a:ext>
            </a:extLst>
          </p:cNvPr>
          <p:cNvPicPr>
            <a:picLocks noChangeAspect="1"/>
          </p:cNvPicPr>
          <p:nvPr/>
        </p:nvPicPr>
        <p:blipFill>
          <a:blip r:embed="rId2"/>
          <a:stretch>
            <a:fillRect/>
          </a:stretch>
        </p:blipFill>
        <p:spPr>
          <a:xfrm>
            <a:off x="1364803" y="1417320"/>
            <a:ext cx="5737333" cy="1934259"/>
          </a:xfrm>
          <a:prstGeom prst="rect">
            <a:avLst/>
          </a:prstGeom>
        </p:spPr>
      </p:pic>
    </p:spTree>
    <p:extLst>
      <p:ext uri="{BB962C8B-B14F-4D97-AF65-F5344CB8AC3E}">
        <p14:creationId xmlns:p14="http://schemas.microsoft.com/office/powerpoint/2010/main" val="3038779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Graphe et Chemin :</a:t>
            </a:r>
            <a:endParaRPr lang="en-US" sz="3200" b="0" strike="noStrike" spc="-1" dirty="0">
              <a:solidFill>
                <a:srgbClr val="376092"/>
              </a:solidFill>
              <a:latin typeface="Arial"/>
            </a:endParaRPr>
          </a:p>
        </p:txBody>
      </p:sp>
      <p:sp>
        <p:nvSpPr>
          <p:cNvPr id="140" name="TextShape 2"/>
          <p:cNvSpPr txBox="1"/>
          <p:nvPr/>
        </p:nvSpPr>
        <p:spPr>
          <a:xfrm>
            <a:off x="390616" y="967666"/>
            <a:ext cx="8691239" cy="51580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aller de B vers A, il s’agit d’un chemin de longueur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ne peut pas aller directement de B vers F, mais on peut utiliser le chemin (B, A, D, F) de longueur 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chemin (B, A, D, B) est un circuit (1</a:t>
            </a:r>
            <a:r>
              <a:rPr lang="fr-FR" sz="2400" spc="-1" baseline="30000" dirty="0">
                <a:solidFill>
                  <a:srgbClr val="376092"/>
                </a:solidFill>
                <a:latin typeface="Arial"/>
              </a:rPr>
              <a:t>er</a:t>
            </a:r>
            <a:r>
              <a:rPr lang="fr-FR" sz="2400" spc="-1" dirty="0">
                <a:solidFill>
                  <a:srgbClr val="376092"/>
                </a:solidFill>
                <a:latin typeface="Arial"/>
              </a:rPr>
              <a:t> sommet = dernier).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parle de chemin hamiltonien lorsqu’un chemin passe par tous les sommets du graphe une et une seule fois : (E, C, B, A, D, F, G)</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E3B843A4-E164-4D7B-AC76-3BF99F71E5D5}"/>
              </a:ext>
            </a:extLst>
          </p:cNvPr>
          <p:cNvPicPr>
            <a:picLocks noChangeAspect="1"/>
          </p:cNvPicPr>
          <p:nvPr/>
        </p:nvPicPr>
        <p:blipFill>
          <a:blip r:embed="rId2"/>
          <a:stretch>
            <a:fillRect/>
          </a:stretch>
        </p:blipFill>
        <p:spPr>
          <a:xfrm>
            <a:off x="4014745" y="274680"/>
            <a:ext cx="4811697" cy="3105988"/>
          </a:xfrm>
          <a:prstGeom prst="rect">
            <a:avLst/>
          </a:prstGeom>
        </p:spPr>
      </p:pic>
    </p:spTree>
    <p:extLst>
      <p:ext uri="{BB962C8B-B14F-4D97-AF65-F5344CB8AC3E}">
        <p14:creationId xmlns:p14="http://schemas.microsoft.com/office/powerpoint/2010/main" val="1289076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Longueur de chemin:</a:t>
            </a:r>
            <a:endParaRPr lang="en-US" sz="3200" b="0" strike="noStrike" spc="-1" dirty="0">
              <a:solidFill>
                <a:srgbClr val="376092"/>
              </a:solidFill>
              <a:latin typeface="Arial"/>
            </a:endParaRPr>
          </a:p>
        </p:txBody>
      </p:sp>
      <p:sp>
        <p:nvSpPr>
          <p:cNvPr id="140" name="TextShape 2"/>
          <p:cNvSpPr txBox="1"/>
          <p:nvPr/>
        </p:nvSpPr>
        <p:spPr>
          <a:xfrm>
            <a:off x="457200" y="1091952"/>
            <a:ext cx="8686800" cy="5033807"/>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longueur du chemin est égale au nombre d’arcs que contient le chemin.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Quelle est la longueur du chemin (E, C, B, A, D)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Quelle est la longueur du chemin (D, F, E, G)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Quelle est la relation entre la longueur du chemin et le nombre de sommets qui le compose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Quelle est la longueur d’un chemin hamiltonien, s’il existe,  pour un graphe à n sommets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6" name="Image 5">
            <a:extLst>
              <a:ext uri="{FF2B5EF4-FFF2-40B4-BE49-F238E27FC236}">
                <a16:creationId xmlns:a16="http://schemas.microsoft.com/office/drawing/2014/main" id="{26ABDD99-6804-402F-988E-DA85D7B00F9F}"/>
              </a:ext>
            </a:extLst>
          </p:cNvPr>
          <p:cNvPicPr>
            <a:picLocks noChangeAspect="1"/>
          </p:cNvPicPr>
          <p:nvPr/>
        </p:nvPicPr>
        <p:blipFill>
          <a:blip r:embed="rId2"/>
          <a:stretch>
            <a:fillRect/>
          </a:stretch>
        </p:blipFill>
        <p:spPr>
          <a:xfrm>
            <a:off x="4332303" y="64962"/>
            <a:ext cx="4811697" cy="3105988"/>
          </a:xfrm>
          <a:prstGeom prst="rect">
            <a:avLst/>
          </a:prstGeom>
        </p:spPr>
      </p:pic>
    </p:spTree>
    <p:extLst>
      <p:ext uri="{BB962C8B-B14F-4D97-AF65-F5344CB8AC3E}">
        <p14:creationId xmlns:p14="http://schemas.microsoft.com/office/powerpoint/2010/main" val="3934596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Retrouver les longueurs de chemin par calcul matriciel :</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le moment nous avons retrouvé les différents chemins en observant le graphe.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Cela fonctionne avec des graphes simples, mais est complètement irréalisable pour un cas plus complexe comme un GPS.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produit matriciel nous permet de mettre en place un calcul pour retrouver les chemins de longueur déterminée.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fait de pouvoir calculer les chemins d’un graphe permet de le programmer.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223024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 matrice d’adjacence va nous indiquer les chemins de longueur 1.</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Commençons donc par déterminer la matrice d’adjacence du graphe ci-dessus.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4" name="Image 3">
            <a:extLst>
              <a:ext uri="{FF2B5EF4-FFF2-40B4-BE49-F238E27FC236}">
                <a16:creationId xmlns:a16="http://schemas.microsoft.com/office/drawing/2014/main" id="{BDC55413-12FD-4B64-953C-1F3B2A3FC9F3}"/>
              </a:ext>
            </a:extLst>
          </p:cNvPr>
          <p:cNvPicPr>
            <a:picLocks noChangeAspect="1"/>
          </p:cNvPicPr>
          <p:nvPr/>
        </p:nvPicPr>
        <p:blipFill>
          <a:blip r:embed="rId2"/>
          <a:stretch>
            <a:fillRect/>
          </a:stretch>
        </p:blipFill>
        <p:spPr>
          <a:xfrm>
            <a:off x="1837678" y="1674772"/>
            <a:ext cx="4811697" cy="3105988"/>
          </a:xfrm>
          <a:prstGeom prst="rect">
            <a:avLst/>
          </a:prstGeom>
        </p:spPr>
      </p:pic>
    </p:spTree>
    <p:extLst>
      <p:ext uri="{BB962C8B-B14F-4D97-AF65-F5344CB8AC3E}">
        <p14:creationId xmlns:p14="http://schemas.microsoft.com/office/powerpoint/2010/main" val="3089412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Longueur – Matrice d’adjacence :</a:t>
            </a:r>
            <a:endParaRPr lang="en-US" sz="3200" b="0" strike="noStrike" spc="-1" dirty="0">
              <a:solidFill>
                <a:srgbClr val="376092"/>
              </a:solidFill>
              <a:latin typeface="Arial"/>
            </a:endParaRPr>
          </a:p>
        </p:txBody>
      </p:sp>
      <p:sp>
        <p:nvSpPr>
          <p:cNvPr id="140" name="TextShape 2"/>
          <p:cNvSpPr txBox="1"/>
          <p:nvPr/>
        </p:nvSpPr>
        <p:spPr>
          <a:xfrm>
            <a:off x="457200" y="1417320"/>
            <a:ext cx="8464858"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matrice d’adjacence de notre exemple est la suivante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Elle représente bien les chemins de longueur 1, car c’est grâce à cette propriété que nous l’avons construite.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73D04553-2E62-4052-9F20-DAA9CE39F26D}"/>
              </a:ext>
            </a:extLst>
          </p:cNvPr>
          <p:cNvPicPr>
            <a:picLocks noChangeAspect="1"/>
          </p:cNvPicPr>
          <p:nvPr/>
        </p:nvPicPr>
        <p:blipFill>
          <a:blip r:embed="rId2"/>
          <a:stretch>
            <a:fillRect/>
          </a:stretch>
        </p:blipFill>
        <p:spPr>
          <a:xfrm>
            <a:off x="1221558" y="2035066"/>
            <a:ext cx="6505575" cy="2486025"/>
          </a:xfrm>
          <a:prstGeom prst="rect">
            <a:avLst/>
          </a:prstGeom>
        </p:spPr>
      </p:pic>
    </p:spTree>
    <p:extLst>
      <p:ext uri="{BB962C8B-B14F-4D97-AF65-F5344CB8AC3E}">
        <p14:creationId xmlns:p14="http://schemas.microsoft.com/office/powerpoint/2010/main" val="768710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chemins de longueur n</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utiliser la propriété suivante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M est la matrice d’adjacence d’un graphe G</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p un entier positif</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a:t>
            </a:r>
            <a:r>
              <a:rPr lang="fr-FR" sz="2400" spc="-1" dirty="0" err="1">
                <a:solidFill>
                  <a:srgbClr val="376092"/>
                </a:solidFill>
                <a:latin typeface="Arial"/>
              </a:rPr>
              <a:t>M</a:t>
            </a:r>
            <a:r>
              <a:rPr lang="fr-FR" sz="2400" spc="-1" baseline="30000" dirty="0" err="1">
                <a:solidFill>
                  <a:srgbClr val="376092"/>
                </a:solidFill>
                <a:latin typeface="Arial"/>
              </a:rPr>
              <a:t>p</a:t>
            </a:r>
            <a:r>
              <a:rPr lang="fr-FR" sz="2400" spc="-1" dirty="0">
                <a:solidFill>
                  <a:srgbClr val="376092"/>
                </a:solidFill>
                <a:latin typeface="Arial"/>
              </a:rPr>
              <a:t>=(</a:t>
            </a:r>
            <a:r>
              <a:rPr lang="fr-FR" sz="2400" spc="-1" dirty="0" err="1">
                <a:solidFill>
                  <a:srgbClr val="376092"/>
                </a:solidFill>
                <a:latin typeface="Arial"/>
              </a:rPr>
              <a:t>m</a:t>
            </a:r>
            <a:r>
              <a:rPr lang="fr-FR" sz="2400" spc="-1" baseline="-25000" dirty="0" err="1">
                <a:solidFill>
                  <a:srgbClr val="376092"/>
                </a:solidFill>
                <a:latin typeface="Arial"/>
              </a:rPr>
              <a:t>i,j</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Alors </a:t>
            </a:r>
            <a:r>
              <a:rPr lang="fr-FR" sz="2400" spc="-1" dirty="0" err="1">
                <a:solidFill>
                  <a:srgbClr val="376092"/>
                </a:solidFill>
                <a:latin typeface="Arial"/>
              </a:rPr>
              <a:t>m</a:t>
            </a:r>
            <a:r>
              <a:rPr lang="fr-FR" sz="2400" spc="-1" baseline="-25000" dirty="0" err="1">
                <a:solidFill>
                  <a:srgbClr val="376092"/>
                </a:solidFill>
                <a:latin typeface="Arial"/>
              </a:rPr>
              <a:t>i,j</a:t>
            </a:r>
            <a:r>
              <a:rPr lang="fr-FR" sz="2400" spc="-1" baseline="-25000" dirty="0">
                <a:solidFill>
                  <a:srgbClr val="376092"/>
                </a:solidFill>
                <a:latin typeface="Arial"/>
              </a:rPr>
              <a:t> </a:t>
            </a:r>
            <a:r>
              <a:rPr lang="fr-FR" sz="2400" spc="-1" dirty="0">
                <a:solidFill>
                  <a:srgbClr val="376092"/>
                </a:solidFill>
                <a:latin typeface="Arial"/>
              </a:rPr>
              <a:t>est le nombre de chemins de longueur p entre a</a:t>
            </a:r>
            <a:r>
              <a:rPr lang="fr-FR" sz="2400" spc="-1" baseline="-25000" dirty="0">
                <a:solidFill>
                  <a:srgbClr val="376092"/>
                </a:solidFill>
                <a:latin typeface="Arial"/>
              </a:rPr>
              <a:t>i</a:t>
            </a:r>
            <a:r>
              <a:rPr lang="fr-FR" sz="2400" spc="-1" dirty="0">
                <a:solidFill>
                  <a:srgbClr val="376092"/>
                </a:solidFill>
                <a:latin typeface="Arial"/>
              </a:rPr>
              <a:t> et </a:t>
            </a:r>
            <a:r>
              <a:rPr lang="fr-FR" sz="2400" spc="-1" dirty="0" err="1">
                <a:solidFill>
                  <a:srgbClr val="376092"/>
                </a:solidFill>
                <a:latin typeface="Arial"/>
              </a:rPr>
              <a:t>a</a:t>
            </a:r>
            <a:r>
              <a:rPr lang="fr-FR" sz="2400" spc="-1" baseline="-25000" dirty="0" err="1">
                <a:solidFill>
                  <a:srgbClr val="376092"/>
                </a:solidFill>
                <a:latin typeface="Arial"/>
              </a:rPr>
              <a:t>j</a:t>
            </a:r>
            <a:endParaRPr lang="fr-FR" sz="2400" spc="-1" baseline="-25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on ne cherche que l’existence d’un chemin de longueur p entre a</a:t>
            </a:r>
            <a:r>
              <a:rPr lang="fr-FR" sz="2400" spc="-1" baseline="-25000" dirty="0">
                <a:solidFill>
                  <a:srgbClr val="376092"/>
                </a:solidFill>
                <a:latin typeface="Arial"/>
              </a:rPr>
              <a:t>i</a:t>
            </a:r>
            <a:r>
              <a:rPr lang="fr-FR" sz="2400" spc="-1" dirty="0">
                <a:solidFill>
                  <a:srgbClr val="376092"/>
                </a:solidFill>
                <a:latin typeface="Arial"/>
              </a:rPr>
              <a:t> et </a:t>
            </a:r>
            <a:r>
              <a:rPr lang="fr-FR" sz="2400" spc="-1" dirty="0" err="1">
                <a:solidFill>
                  <a:srgbClr val="376092"/>
                </a:solidFill>
                <a:latin typeface="Arial"/>
              </a:rPr>
              <a:t>a</a:t>
            </a:r>
            <a:r>
              <a:rPr lang="fr-FR" sz="2400" spc="-1" baseline="-25000" dirty="0" err="1">
                <a:solidFill>
                  <a:srgbClr val="376092"/>
                </a:solidFill>
                <a:latin typeface="Arial"/>
              </a:rPr>
              <a:t>j</a:t>
            </a:r>
            <a:r>
              <a:rPr lang="fr-FR" sz="2400" spc="-1" dirty="0">
                <a:solidFill>
                  <a:srgbClr val="376092"/>
                </a:solidFill>
                <a:latin typeface="Arial"/>
              </a:rPr>
              <a:t>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Il n’existe pas si </a:t>
            </a:r>
            <a:r>
              <a:rPr lang="fr-FR" sz="2400" spc="-1" dirty="0" err="1">
                <a:solidFill>
                  <a:srgbClr val="376092"/>
                </a:solidFill>
                <a:latin typeface="Arial"/>
              </a:rPr>
              <a:t>m</a:t>
            </a:r>
            <a:r>
              <a:rPr lang="fr-FR" sz="2400" spc="-1" baseline="-25000" dirty="0" err="1">
                <a:solidFill>
                  <a:srgbClr val="376092"/>
                </a:solidFill>
                <a:latin typeface="Arial"/>
              </a:rPr>
              <a:t>i,j</a:t>
            </a:r>
            <a:r>
              <a:rPr lang="fr-FR" sz="2400" spc="-1" baseline="-25000" dirty="0">
                <a:solidFill>
                  <a:srgbClr val="376092"/>
                </a:solidFill>
                <a:latin typeface="Arial"/>
              </a:rPr>
              <a:t> </a:t>
            </a:r>
            <a:r>
              <a:rPr lang="fr-FR" sz="2400" spc="-1" dirty="0">
                <a:solidFill>
                  <a:srgbClr val="376092"/>
                </a:solidFill>
                <a:latin typeface="Arial"/>
              </a:rPr>
              <a:t>= 0</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Il existe sinon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si la propriété est vraie pour M</a:t>
            </a:r>
            <a:r>
              <a:rPr lang="fr-FR" sz="2400" spc="-1" baseline="30000" dirty="0">
                <a:solidFill>
                  <a:srgbClr val="376092"/>
                </a:solidFill>
                <a:latin typeface="Arial"/>
              </a:rPr>
              <a:t>2</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r>
              <a:rPr lang="fr-FR" sz="2400" spc="-1" dirty="0">
                <a:solidFill>
                  <a:srgbClr val="376092"/>
                </a:solidFill>
                <a:latin typeface="Arial"/>
              </a:rPr>
              <a: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390586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Longueur – Matrice d’adjacence au carré :</a:t>
            </a:r>
            <a:endParaRPr lang="en-US" sz="3200" b="0" strike="noStrike" spc="-1" dirty="0">
              <a:solidFill>
                <a:srgbClr val="376092"/>
              </a:solidFill>
              <a:latin typeface="Arial"/>
            </a:endParaRPr>
          </a:p>
        </p:txBody>
      </p:sp>
      <p:sp>
        <p:nvSpPr>
          <p:cNvPr id="140" name="TextShape 2"/>
          <p:cNvSpPr txBox="1"/>
          <p:nvPr/>
        </p:nvSpPr>
        <p:spPr>
          <a:xfrm>
            <a:off x="457200" y="1162975"/>
            <a:ext cx="8464858" cy="4962785"/>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matrice d’adjacence au carré de notre exemple est la suivante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Vérifions quelques valeurs pour voir si elles correspondent à des chemins de longueur 2.</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seul l’existence du chemin nous importe, nous pouvons convertir cette matrice en matrice booléenne en remplaçant toutes les valeurs supérieures à 1 par 1.</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486B37F0-423B-4D5A-BCC2-B2DAE5D91897}"/>
              </a:ext>
            </a:extLst>
          </p:cNvPr>
          <p:cNvPicPr>
            <a:picLocks noChangeAspect="1"/>
          </p:cNvPicPr>
          <p:nvPr/>
        </p:nvPicPr>
        <p:blipFill>
          <a:blip r:embed="rId2"/>
          <a:stretch>
            <a:fillRect/>
          </a:stretch>
        </p:blipFill>
        <p:spPr>
          <a:xfrm>
            <a:off x="1319032" y="1955168"/>
            <a:ext cx="6505575" cy="2486025"/>
          </a:xfrm>
          <a:prstGeom prst="rect">
            <a:avLst/>
          </a:prstGeom>
        </p:spPr>
      </p:pic>
    </p:spTree>
    <p:extLst>
      <p:ext uri="{BB962C8B-B14F-4D97-AF65-F5344CB8AC3E}">
        <p14:creationId xmlns:p14="http://schemas.microsoft.com/office/powerpoint/2010/main" val="2384259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Longueur – Mais comment ça marche ? :</a:t>
            </a:r>
            <a:endParaRPr lang="en-US" sz="3200" b="0" strike="noStrike" spc="-1" dirty="0">
              <a:solidFill>
                <a:srgbClr val="376092"/>
              </a:solidFill>
              <a:latin typeface="Arial"/>
            </a:endParaRPr>
          </a:p>
        </p:txBody>
      </p:sp>
      <p:sp>
        <p:nvSpPr>
          <p:cNvPr id="140" name="TextShape 2"/>
          <p:cNvSpPr txBox="1"/>
          <p:nvPr/>
        </p:nvSpPr>
        <p:spPr>
          <a:xfrm>
            <a:off x="457200" y="1162975"/>
            <a:ext cx="8464858" cy="4962785"/>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Observons un cas plus simple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1 : Vérifier si on a un chemin A-&gt;A et un chemin A-&gt;C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2 : Vérifier si on a un chemin A-&gt;B et un chemin B-&gt;C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3 : Vérifier si on a un chemin A-&gt;C et un chemin C-&gt;C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somme de 1, 2 et 3 donne le nombre de nouveaux chemins</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4" name="Image 3">
            <a:extLst>
              <a:ext uri="{FF2B5EF4-FFF2-40B4-BE49-F238E27FC236}">
                <a16:creationId xmlns:a16="http://schemas.microsoft.com/office/drawing/2014/main" id="{01BA925E-5EC3-4F85-920D-709EB2056289}"/>
              </a:ext>
            </a:extLst>
          </p:cNvPr>
          <p:cNvPicPr>
            <a:picLocks noChangeAspect="1"/>
          </p:cNvPicPr>
          <p:nvPr/>
        </p:nvPicPr>
        <p:blipFill>
          <a:blip r:embed="rId2"/>
          <a:stretch>
            <a:fillRect/>
          </a:stretch>
        </p:blipFill>
        <p:spPr>
          <a:xfrm>
            <a:off x="1234597" y="1589694"/>
            <a:ext cx="2371050" cy="2371050"/>
          </a:xfrm>
          <a:prstGeom prst="rect">
            <a:avLst/>
          </a:prstGeom>
        </p:spPr>
      </p:pic>
      <p:pic>
        <p:nvPicPr>
          <p:cNvPr id="7" name="Image 6">
            <a:extLst>
              <a:ext uri="{FF2B5EF4-FFF2-40B4-BE49-F238E27FC236}">
                <a16:creationId xmlns:a16="http://schemas.microsoft.com/office/drawing/2014/main" id="{842FB7EA-9809-4B2C-8199-0AE7A5527C3E}"/>
              </a:ext>
            </a:extLst>
          </p:cNvPr>
          <p:cNvPicPr>
            <a:picLocks noChangeAspect="1"/>
          </p:cNvPicPr>
          <p:nvPr/>
        </p:nvPicPr>
        <p:blipFill>
          <a:blip r:embed="rId3"/>
          <a:stretch>
            <a:fillRect/>
          </a:stretch>
        </p:blipFill>
        <p:spPr>
          <a:xfrm>
            <a:off x="5155550" y="990601"/>
            <a:ext cx="3817583" cy="2965113"/>
          </a:xfrm>
          <a:prstGeom prst="rect">
            <a:avLst/>
          </a:prstGeom>
        </p:spPr>
      </p:pic>
    </p:spTree>
    <p:extLst>
      <p:ext uri="{BB962C8B-B14F-4D97-AF65-F5344CB8AC3E}">
        <p14:creationId xmlns:p14="http://schemas.microsoft.com/office/powerpoint/2010/main" val="4038613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Longueur – Opération sur matrices booléennes:</a:t>
            </a:r>
            <a:endParaRPr lang="en-US" sz="3200" b="0" strike="noStrike" spc="-1" dirty="0">
              <a:solidFill>
                <a:srgbClr val="376092"/>
              </a:solidFill>
              <a:latin typeface="Arial"/>
            </a:endParaRPr>
          </a:p>
        </p:txBody>
      </p:sp>
      <p:sp>
        <p:nvSpPr>
          <p:cNvPr id="140" name="TextShape 2"/>
          <p:cNvSpPr txBox="1"/>
          <p:nvPr/>
        </p:nvSpPr>
        <p:spPr>
          <a:xfrm>
            <a:off x="457200" y="1417320"/>
            <a:ext cx="8464858"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Dans le cas où seules les possibilités de chemin nous importent et non le nombre de chemins, il est intéressant de passer par des opérations booléennes sur les matrices.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matrice booléenne ne contient que des 0 et des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multiplication ⨂ suit la table de vérité du « et logique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L’addition ⊕ suit la table de vérité du « ou logique »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FD53E860-07FB-4B9D-8203-A50CEE0D726B}"/>
              </a:ext>
            </a:extLst>
          </p:cNvPr>
          <p:cNvPicPr>
            <a:picLocks noChangeAspect="1"/>
          </p:cNvPicPr>
          <p:nvPr/>
        </p:nvPicPr>
        <p:blipFill>
          <a:blip r:embed="rId2"/>
          <a:stretch>
            <a:fillRect/>
          </a:stretch>
        </p:blipFill>
        <p:spPr>
          <a:xfrm>
            <a:off x="3685994" y="3682764"/>
            <a:ext cx="885825" cy="933450"/>
          </a:xfrm>
          <a:prstGeom prst="rect">
            <a:avLst/>
          </a:prstGeom>
        </p:spPr>
      </p:pic>
      <p:pic>
        <p:nvPicPr>
          <p:cNvPr id="3" name="Image 2">
            <a:extLst>
              <a:ext uri="{FF2B5EF4-FFF2-40B4-BE49-F238E27FC236}">
                <a16:creationId xmlns:a16="http://schemas.microsoft.com/office/drawing/2014/main" id="{E01A10CD-18BF-4828-9876-F91161238364}"/>
              </a:ext>
            </a:extLst>
          </p:cNvPr>
          <p:cNvPicPr>
            <a:picLocks noChangeAspect="1"/>
          </p:cNvPicPr>
          <p:nvPr/>
        </p:nvPicPr>
        <p:blipFill>
          <a:blip r:embed="rId3"/>
          <a:stretch>
            <a:fillRect/>
          </a:stretch>
        </p:blipFill>
        <p:spPr>
          <a:xfrm>
            <a:off x="3685994" y="5098928"/>
            <a:ext cx="885825" cy="933450"/>
          </a:xfrm>
          <a:prstGeom prst="rect">
            <a:avLst/>
          </a:prstGeom>
        </p:spPr>
      </p:pic>
    </p:spTree>
    <p:extLst>
      <p:ext uri="{BB962C8B-B14F-4D97-AF65-F5344CB8AC3E}">
        <p14:creationId xmlns:p14="http://schemas.microsoft.com/office/powerpoint/2010/main" val="3414102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Longueur – Opération sur matrices booléennes:</a:t>
            </a:r>
            <a:endParaRPr lang="en-US" sz="3200" b="0" strike="noStrike" spc="-1" dirty="0">
              <a:solidFill>
                <a:srgbClr val="376092"/>
              </a:solidFill>
              <a:latin typeface="Arial"/>
            </a:endParaRPr>
          </a:p>
        </p:txBody>
      </p:sp>
      <p:sp>
        <p:nvSpPr>
          <p:cNvPr id="140" name="TextShape 2"/>
          <p:cNvSpPr txBox="1"/>
          <p:nvPr/>
        </p:nvSpPr>
        <p:spPr>
          <a:xfrm>
            <a:off x="457200" y="1589103"/>
            <a:ext cx="8464858" cy="4536657"/>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les matrices booléennes, nous pouvons aussi définir un opérateur de puissance booléenne :</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M</a:t>
            </a:r>
            <a:r>
              <a:rPr lang="fr-FR" sz="2400" spc="-1" baseline="30000" dirty="0" err="1">
                <a:solidFill>
                  <a:srgbClr val="376092"/>
                </a:solidFill>
                <a:latin typeface="Arial"/>
              </a:rPr>
              <a:t>p</a:t>
            </a:r>
            <a:r>
              <a:rPr lang="fr-FR" sz="2400" spc="-1" dirty="0">
                <a:solidFill>
                  <a:srgbClr val="376092"/>
                </a:solidFill>
                <a:latin typeface="Arial"/>
              </a:rPr>
              <a:t> = M x M x M x … x M</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a:t>
            </a:r>
            <a:r>
              <a:rPr lang="fr-FR" sz="2400" spc="-1" baseline="30000" dirty="0">
                <a:solidFill>
                  <a:srgbClr val="376092"/>
                </a:solidFill>
                <a:latin typeface="Arial"/>
              </a:rPr>
              <a:t>[p] </a:t>
            </a:r>
            <a:r>
              <a:rPr lang="fr-FR" sz="2400" spc="-1" dirty="0">
                <a:solidFill>
                  <a:srgbClr val="376092"/>
                </a:solidFill>
                <a:latin typeface="Arial"/>
              </a:rPr>
              <a:t>= M ⨂ M ⨂ M ⨂ … ⨂ M</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autres règles sur la multiplication et l’addition matricielles restent les mêmes.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353468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Fermeture transitive d’un graphe:</a:t>
            </a:r>
            <a:endParaRPr lang="en-US" sz="3200" b="0" strike="noStrike" spc="-1" dirty="0">
              <a:solidFill>
                <a:srgbClr val="376092"/>
              </a:solidFill>
              <a:latin typeface="Arial"/>
            </a:endParaRPr>
          </a:p>
        </p:txBody>
      </p:sp>
      <p:sp>
        <p:nvSpPr>
          <p:cNvPr id="140" name="TextShape 2"/>
          <p:cNvSpPr txBox="1"/>
          <p:nvPr/>
        </p:nvSpPr>
        <p:spPr>
          <a:xfrm>
            <a:off x="457200" y="1589103"/>
            <a:ext cx="8464858" cy="4536657"/>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fermeture transitive d’un graphe consiste à rajouter tous les arcs entre deux sommets dés qu’il existe un chemin entre ces deux sommets (peu importe la longueur du chemin).</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4DAB1D5D-E465-41C7-8172-9CD0855C2E4E}"/>
              </a:ext>
            </a:extLst>
          </p:cNvPr>
          <p:cNvPicPr>
            <a:picLocks noChangeAspect="1"/>
          </p:cNvPicPr>
          <p:nvPr/>
        </p:nvPicPr>
        <p:blipFill>
          <a:blip r:embed="rId2"/>
          <a:stretch>
            <a:fillRect/>
          </a:stretch>
        </p:blipFill>
        <p:spPr>
          <a:xfrm>
            <a:off x="627864" y="3152913"/>
            <a:ext cx="4905375" cy="3552825"/>
          </a:xfrm>
          <a:prstGeom prst="rect">
            <a:avLst/>
          </a:prstGeom>
        </p:spPr>
      </p:pic>
      <p:pic>
        <p:nvPicPr>
          <p:cNvPr id="3" name="Image 2">
            <a:extLst>
              <a:ext uri="{FF2B5EF4-FFF2-40B4-BE49-F238E27FC236}">
                <a16:creationId xmlns:a16="http://schemas.microsoft.com/office/drawing/2014/main" id="{5A90E06F-3C9F-4E0B-A49D-4B3C615C0B39}"/>
              </a:ext>
            </a:extLst>
          </p:cNvPr>
          <p:cNvPicPr>
            <a:picLocks noChangeAspect="1"/>
          </p:cNvPicPr>
          <p:nvPr/>
        </p:nvPicPr>
        <p:blipFill>
          <a:blip r:embed="rId3"/>
          <a:stretch>
            <a:fillRect/>
          </a:stretch>
        </p:blipFill>
        <p:spPr>
          <a:xfrm>
            <a:off x="4727359" y="2981130"/>
            <a:ext cx="4067175" cy="3724275"/>
          </a:xfrm>
          <a:prstGeom prst="rect">
            <a:avLst/>
          </a:prstGeom>
        </p:spPr>
      </p:pic>
      <p:pic>
        <p:nvPicPr>
          <p:cNvPr id="9" name="Image 8">
            <a:extLst>
              <a:ext uri="{FF2B5EF4-FFF2-40B4-BE49-F238E27FC236}">
                <a16:creationId xmlns:a16="http://schemas.microsoft.com/office/drawing/2014/main" id="{01205052-C604-454F-B8F9-485C472665CB}"/>
              </a:ext>
            </a:extLst>
          </p:cNvPr>
          <p:cNvPicPr>
            <a:picLocks noChangeAspect="1"/>
          </p:cNvPicPr>
          <p:nvPr/>
        </p:nvPicPr>
        <p:blipFill>
          <a:blip r:embed="rId4"/>
          <a:stretch>
            <a:fillRect/>
          </a:stretch>
        </p:blipFill>
        <p:spPr>
          <a:xfrm>
            <a:off x="4237885" y="4671817"/>
            <a:ext cx="723900" cy="342900"/>
          </a:xfrm>
          <a:prstGeom prst="rect">
            <a:avLst/>
          </a:prstGeom>
        </p:spPr>
      </p:pic>
    </p:spTree>
    <p:extLst>
      <p:ext uri="{BB962C8B-B14F-4D97-AF65-F5344CB8AC3E}">
        <p14:creationId xmlns:p14="http://schemas.microsoft.com/office/powerpoint/2010/main" val="771216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Fermeture transitive d’un graphe:</a:t>
            </a:r>
            <a:endParaRPr lang="en-US" sz="3200" b="0" strike="noStrike" spc="-1" dirty="0">
              <a:solidFill>
                <a:srgbClr val="376092"/>
              </a:solidFill>
              <a:latin typeface="Arial"/>
            </a:endParaRPr>
          </a:p>
        </p:txBody>
      </p:sp>
      <p:sp>
        <p:nvSpPr>
          <p:cNvPr id="140" name="TextShape 2"/>
          <p:cNvSpPr txBox="1"/>
          <p:nvPr/>
        </p:nvSpPr>
        <p:spPr>
          <a:xfrm>
            <a:off x="457200" y="1589103"/>
            <a:ext cx="8464858" cy="4536657"/>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Encore une fois, sur un graphe important, il est difficile d’effectuer une fermeture transitive sans oublier des arcs si on se fie uniquement à l’observation.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avons pourtant toutes les cartes en mains pour calculer la matrice d’adjacence de la fermeture transitive.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effet, pour avoir tous les chemins reliant n sommets, il suffit d’ajouter les chemins de longueur 1, le chemins de longueur 2,… et les chemins de longueur 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avons vu qu’obtenir les chemin d’une longueur donné s’obtient avec une puissance de la matrice d’adjacence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 de fermeture transitive = M ⊕ M</a:t>
            </a:r>
            <a:r>
              <a:rPr lang="fr-FR" sz="2400" spc="-1" baseline="30000" dirty="0">
                <a:solidFill>
                  <a:srgbClr val="376092"/>
                </a:solidFill>
                <a:latin typeface="Arial"/>
              </a:rPr>
              <a:t>[2]</a:t>
            </a:r>
            <a:r>
              <a:rPr lang="fr-FR" sz="2400" spc="-1" dirty="0">
                <a:solidFill>
                  <a:srgbClr val="376092"/>
                </a:solidFill>
                <a:latin typeface="Arial"/>
              </a:rPr>
              <a:t> ⊕ M</a:t>
            </a:r>
            <a:r>
              <a:rPr lang="fr-FR" sz="2400" spc="-1" baseline="30000" dirty="0">
                <a:solidFill>
                  <a:srgbClr val="376092"/>
                </a:solidFill>
                <a:latin typeface="Arial"/>
              </a:rPr>
              <a:t>[3]</a:t>
            </a:r>
            <a:r>
              <a:rPr lang="fr-FR" sz="2400" spc="-1" dirty="0">
                <a:solidFill>
                  <a:srgbClr val="376092"/>
                </a:solidFill>
                <a:latin typeface="Arial"/>
              </a:rPr>
              <a:t> + … + M</a:t>
            </a:r>
            <a:r>
              <a:rPr lang="fr-FR" sz="2400" spc="-1" baseline="30000" dirty="0">
                <a:solidFill>
                  <a:srgbClr val="376092"/>
                </a:solidFill>
                <a:latin typeface="Arial"/>
              </a:rPr>
              <a:t>[n]</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892843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Longueur par l’exemple :</a:t>
            </a:r>
            <a:endParaRPr lang="en-US" sz="3200" b="0" strike="noStrike" spc="-1" dirty="0">
              <a:solidFill>
                <a:srgbClr val="376092"/>
              </a:solidFill>
              <a:latin typeface="Arial"/>
            </a:endParaRPr>
          </a:p>
        </p:txBody>
      </p:sp>
      <p:sp>
        <p:nvSpPr>
          <p:cNvPr id="140" name="TextShape 2"/>
          <p:cNvSpPr txBox="1"/>
          <p:nvPr/>
        </p:nvSpPr>
        <p:spPr>
          <a:xfrm>
            <a:off x="457200" y="1589103"/>
            <a:ext cx="8464858" cy="4536657"/>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l’exemple suivant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 matrice d’adjacence M</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M</a:t>
            </a:r>
            <a:r>
              <a:rPr lang="fr-FR" sz="2400" spc="-1" baseline="30000" dirty="0">
                <a:solidFill>
                  <a:srgbClr val="376092"/>
                </a:solidFill>
                <a:latin typeface="Arial"/>
              </a:rPr>
              <a:t>2</a:t>
            </a:r>
            <a:r>
              <a:rPr lang="fr-FR" sz="2400" spc="-1" dirty="0">
                <a:solidFill>
                  <a:srgbClr val="376092"/>
                </a:solidFill>
                <a:latin typeface="Arial"/>
              </a:rPr>
              <a:t> et M</a:t>
            </a:r>
            <a:r>
              <a:rPr lang="fr-FR" sz="2400" spc="-1" baseline="30000" dirty="0">
                <a:solidFill>
                  <a:srgbClr val="376092"/>
                </a:solidFill>
                <a:latin typeface="Arial"/>
              </a:rPr>
              <a:t>3 </a:t>
            </a:r>
            <a:r>
              <a:rPr lang="fr-FR" sz="2400" spc="-1" dirty="0">
                <a:solidFill>
                  <a:srgbClr val="376092"/>
                </a:solidFill>
                <a:latin typeface="Arial"/>
              </a:rPr>
              <a:t>en déduire M</a:t>
            </a:r>
            <a:r>
              <a:rPr lang="fr-FR" sz="2400" spc="-1" baseline="30000" dirty="0">
                <a:solidFill>
                  <a:srgbClr val="376092"/>
                </a:solidFill>
                <a:latin typeface="Arial"/>
              </a:rPr>
              <a:t>[2] </a:t>
            </a:r>
            <a:r>
              <a:rPr lang="fr-FR" sz="2400" spc="-1" dirty="0">
                <a:solidFill>
                  <a:srgbClr val="376092"/>
                </a:solidFill>
                <a:latin typeface="Arial"/>
              </a:rPr>
              <a:t>et M</a:t>
            </a:r>
            <a:r>
              <a:rPr lang="fr-FR" sz="2400" spc="-1" baseline="30000" dirty="0">
                <a:solidFill>
                  <a:srgbClr val="376092"/>
                </a:solidFill>
                <a:latin typeface="Arial"/>
              </a:rPr>
              <a:t>[3]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Déduire la matrice de fermeture transitive.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un algorithme qui effectue la somme booléenne de deux matrices.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un algorithme qui effectue le produit booléen de deux matrices.</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323D6CA3-790D-41C4-A6EE-A3380E66944D}"/>
              </a:ext>
            </a:extLst>
          </p:cNvPr>
          <p:cNvPicPr>
            <a:picLocks noChangeAspect="1"/>
          </p:cNvPicPr>
          <p:nvPr/>
        </p:nvPicPr>
        <p:blipFill>
          <a:blip r:embed="rId2"/>
          <a:stretch>
            <a:fillRect/>
          </a:stretch>
        </p:blipFill>
        <p:spPr>
          <a:xfrm>
            <a:off x="5521310" y="133156"/>
            <a:ext cx="4067175" cy="3724275"/>
          </a:xfrm>
          <a:prstGeom prst="rect">
            <a:avLst/>
          </a:prstGeom>
        </p:spPr>
      </p:pic>
    </p:spTree>
    <p:extLst>
      <p:ext uri="{BB962C8B-B14F-4D97-AF65-F5344CB8AC3E}">
        <p14:creationId xmlns:p14="http://schemas.microsoft.com/office/powerpoint/2010/main" val="312662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dans un graphe :</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pouvoir attribuer des niveaux aux sommets d’un graphe, il faut que le graphe ne comporte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Aucune boucle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Aucun circuit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faut également que le graphe soit orienté.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faut en fait que l’on ne puisse pas revenir sur un sommet que l’on a déjà visité.</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92046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et habillement :</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fixer des niveau de sommets au tâches que nous faisons le matin pour nous habiller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Commençons par déduire la matrice d’adjacence des informations ci-dessus.</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3B96D019-D672-46DA-8B42-94A266988233}"/>
              </a:ext>
            </a:extLst>
          </p:cNvPr>
          <p:cNvPicPr>
            <a:picLocks noChangeAspect="1"/>
          </p:cNvPicPr>
          <p:nvPr/>
        </p:nvPicPr>
        <p:blipFill>
          <a:blip r:embed="rId2"/>
          <a:stretch>
            <a:fillRect/>
          </a:stretch>
        </p:blipFill>
        <p:spPr>
          <a:xfrm>
            <a:off x="1995307" y="2271620"/>
            <a:ext cx="5153025" cy="3362325"/>
          </a:xfrm>
          <a:prstGeom prst="rect">
            <a:avLst/>
          </a:prstGeom>
        </p:spPr>
      </p:pic>
    </p:spTree>
    <p:extLst>
      <p:ext uri="{BB962C8B-B14F-4D97-AF65-F5344CB8AC3E}">
        <p14:creationId xmlns:p14="http://schemas.microsoft.com/office/powerpoint/2010/main" val="3968153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0:</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Une fois la matrice obtenue, tous les sommets de niveau 0 sont les sommets qui n’ont pas de prédécesseur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donc noter S</a:t>
            </a:r>
            <a:r>
              <a:rPr lang="fr-FR" sz="2400" spc="-1" baseline="-25000" dirty="0">
                <a:solidFill>
                  <a:srgbClr val="376092"/>
                </a:solidFill>
                <a:latin typeface="Arial"/>
              </a:rPr>
              <a:t>0</a:t>
            </a:r>
            <a:r>
              <a:rPr lang="fr-FR" sz="2400" spc="-1" dirty="0">
                <a:solidFill>
                  <a:srgbClr val="376092"/>
                </a:solidFill>
                <a:latin typeface="Arial"/>
              </a:rPr>
              <a:t>={Montre; Caleçon; chaussettes; chemise}. Il s’agit dans notre cas des vêtements que vous pouvez mettre sans préalable.</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2B41C707-B592-445D-BA02-F30368F0C53D}"/>
              </a:ext>
            </a:extLst>
          </p:cNvPr>
          <p:cNvPicPr>
            <a:picLocks noChangeAspect="1"/>
          </p:cNvPicPr>
          <p:nvPr/>
        </p:nvPicPr>
        <p:blipFill>
          <a:blip r:embed="rId2"/>
          <a:stretch>
            <a:fillRect/>
          </a:stretch>
        </p:blipFill>
        <p:spPr>
          <a:xfrm>
            <a:off x="457200" y="2269296"/>
            <a:ext cx="8398276" cy="2717315"/>
          </a:xfrm>
          <a:prstGeom prst="rect">
            <a:avLst/>
          </a:prstGeom>
        </p:spPr>
      </p:pic>
    </p:spTree>
    <p:extLst>
      <p:ext uri="{BB962C8B-B14F-4D97-AF65-F5344CB8AC3E}">
        <p14:creationId xmlns:p14="http://schemas.microsoft.com/office/powerpoint/2010/main" val="1898422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1:</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obtenir les sommets de niveau 1, on ignore les sommets de niveau 0 et on cherche à nouveau les sommets sans prédécesseurs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donc noter S</a:t>
            </a:r>
            <a:r>
              <a:rPr lang="fr-FR" sz="2400" spc="-1" baseline="-25000" dirty="0">
                <a:solidFill>
                  <a:srgbClr val="376092"/>
                </a:solidFill>
                <a:latin typeface="Arial"/>
              </a:rPr>
              <a:t>1</a:t>
            </a:r>
            <a:r>
              <a:rPr lang="fr-FR" sz="2400" spc="-1" dirty="0">
                <a:solidFill>
                  <a:srgbClr val="376092"/>
                </a:solidFill>
                <a:latin typeface="Arial"/>
              </a:rPr>
              <a:t>={Pantalon; Cravate}.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déterminer les sommets de niveau 2.</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AEEB05E0-2D88-4953-989D-A9E71C0CBF0B}"/>
              </a:ext>
            </a:extLst>
          </p:cNvPr>
          <p:cNvPicPr>
            <a:picLocks noChangeAspect="1"/>
          </p:cNvPicPr>
          <p:nvPr/>
        </p:nvPicPr>
        <p:blipFill>
          <a:blip r:embed="rId2"/>
          <a:stretch>
            <a:fillRect/>
          </a:stretch>
        </p:blipFill>
        <p:spPr>
          <a:xfrm>
            <a:off x="457200" y="2710880"/>
            <a:ext cx="8052047" cy="2605291"/>
          </a:xfrm>
          <a:prstGeom prst="rect">
            <a:avLst/>
          </a:prstGeom>
        </p:spPr>
      </p:pic>
    </p:spTree>
    <p:extLst>
      <p:ext uri="{BB962C8B-B14F-4D97-AF65-F5344CB8AC3E}">
        <p14:creationId xmlns:p14="http://schemas.microsoft.com/office/powerpoint/2010/main" val="3597112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2:</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obtenir les sommets de niveau 2, on ignore les sommets de niveau 0, les sommets de niveau 1 et on cherche à nouveau les sommets sans prédécesseurs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donc noter S</a:t>
            </a:r>
            <a:r>
              <a:rPr lang="fr-FR" sz="2400" spc="-1" baseline="-25000" dirty="0">
                <a:solidFill>
                  <a:srgbClr val="376092"/>
                </a:solidFill>
                <a:latin typeface="Arial"/>
              </a:rPr>
              <a:t>2</a:t>
            </a:r>
            <a:r>
              <a:rPr lang="fr-FR" sz="2400" spc="-1" dirty="0">
                <a:solidFill>
                  <a:srgbClr val="376092"/>
                </a:solidFill>
                <a:latin typeface="Arial"/>
              </a:rPr>
              <a:t>={Chaussures; Ceinture}.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continue tant qu’il reste des sommets non traités.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D702EA30-533A-4E08-9F01-61E1EF25166E}"/>
              </a:ext>
            </a:extLst>
          </p:cNvPr>
          <p:cNvPicPr>
            <a:picLocks noChangeAspect="1"/>
          </p:cNvPicPr>
          <p:nvPr/>
        </p:nvPicPr>
        <p:blipFill>
          <a:blip r:embed="rId2"/>
          <a:stretch>
            <a:fillRect/>
          </a:stretch>
        </p:blipFill>
        <p:spPr>
          <a:xfrm>
            <a:off x="318707" y="2702970"/>
            <a:ext cx="8461309" cy="2737710"/>
          </a:xfrm>
          <a:prstGeom prst="rect">
            <a:avLst/>
          </a:prstGeom>
        </p:spPr>
      </p:pic>
    </p:spTree>
    <p:extLst>
      <p:ext uri="{BB962C8B-B14F-4D97-AF65-F5344CB8AC3E}">
        <p14:creationId xmlns:p14="http://schemas.microsoft.com/office/powerpoint/2010/main" val="863789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avec les prédécesseurs:</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 retrouver le même résultat sans la matrice d’adjacence en utilisant les prédécesseurs: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Retrouvons le tableau des prédécesseurs à partir de celui des successeurs</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3B96D019-D672-46DA-8B42-94A266988233}"/>
              </a:ext>
            </a:extLst>
          </p:cNvPr>
          <p:cNvPicPr>
            <a:picLocks noChangeAspect="1"/>
          </p:cNvPicPr>
          <p:nvPr/>
        </p:nvPicPr>
        <p:blipFill>
          <a:blip r:embed="rId2"/>
          <a:stretch>
            <a:fillRect/>
          </a:stretch>
        </p:blipFill>
        <p:spPr>
          <a:xfrm>
            <a:off x="1995307" y="2271620"/>
            <a:ext cx="5153025" cy="3362325"/>
          </a:xfrm>
          <a:prstGeom prst="rect">
            <a:avLst/>
          </a:prstGeom>
        </p:spPr>
      </p:pic>
    </p:spTree>
    <p:extLst>
      <p:ext uri="{BB962C8B-B14F-4D97-AF65-F5344CB8AC3E}">
        <p14:creationId xmlns:p14="http://schemas.microsoft.com/office/powerpoint/2010/main" val="78175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avec les prédécesseurs :</a:t>
            </a:r>
            <a:endParaRPr lang="en-US" sz="3200" b="0" strike="noStrike" spc="-1" dirty="0">
              <a:solidFill>
                <a:srgbClr val="376092"/>
              </a:solidFill>
              <a:latin typeface="Arial"/>
            </a:endParaRPr>
          </a:p>
        </p:txBody>
      </p:sp>
      <p:sp>
        <p:nvSpPr>
          <p:cNvPr id="140" name="TextShape 2"/>
          <p:cNvSpPr txBox="1"/>
          <p:nvPr/>
        </p:nvSpPr>
        <p:spPr>
          <a:xfrm>
            <a:off x="457200" y="1417320"/>
            <a:ext cx="8322816"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 tableau des prédécesseurs met rapidement en lumière les éléments qui n’ont pas de prédécesseurs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donc noter S</a:t>
            </a:r>
            <a:r>
              <a:rPr lang="fr-FR" sz="2400" spc="-1" baseline="-25000" dirty="0">
                <a:solidFill>
                  <a:srgbClr val="376092"/>
                </a:solidFill>
                <a:latin typeface="Arial"/>
              </a:rPr>
              <a:t>0</a:t>
            </a:r>
            <a:r>
              <a:rPr lang="fr-FR" sz="2400" spc="-1" dirty="0">
                <a:solidFill>
                  <a:srgbClr val="376092"/>
                </a:solidFill>
                <a:latin typeface="Arial"/>
              </a:rPr>
              <a:t>={Montre; Caleçon; chaussettes; chemise}.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C614EFBF-BED7-4746-AADF-B9BBE742837F}"/>
              </a:ext>
            </a:extLst>
          </p:cNvPr>
          <p:cNvPicPr>
            <a:picLocks noChangeAspect="1"/>
          </p:cNvPicPr>
          <p:nvPr/>
        </p:nvPicPr>
        <p:blipFill>
          <a:blip r:embed="rId2"/>
          <a:stretch>
            <a:fillRect/>
          </a:stretch>
        </p:blipFill>
        <p:spPr>
          <a:xfrm>
            <a:off x="1995307" y="2271619"/>
            <a:ext cx="5153025" cy="3362325"/>
          </a:xfrm>
          <a:prstGeom prst="rect">
            <a:avLst/>
          </a:prstGeom>
        </p:spPr>
      </p:pic>
    </p:spTree>
    <p:extLst>
      <p:ext uri="{BB962C8B-B14F-4D97-AF65-F5344CB8AC3E}">
        <p14:creationId xmlns:p14="http://schemas.microsoft.com/office/powerpoint/2010/main" val="916976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avec les prédécesseurs :</a:t>
            </a:r>
            <a:endParaRPr lang="en-US" sz="3200" b="0" strike="noStrike" spc="-1" dirty="0">
              <a:solidFill>
                <a:srgbClr val="376092"/>
              </a:solidFill>
              <a:latin typeface="Arial"/>
            </a:endParaRPr>
          </a:p>
        </p:txBody>
      </p:sp>
      <p:sp>
        <p:nvSpPr>
          <p:cNvPr id="140" name="TextShape 2"/>
          <p:cNvSpPr txBox="1"/>
          <p:nvPr/>
        </p:nvSpPr>
        <p:spPr>
          <a:xfrm>
            <a:off x="457200" y="1020932"/>
            <a:ext cx="8322816" cy="510482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obtenir les sommets de niveau 1 il suffit de ne plus tenir compte des prédécesseurs du niveau 0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donc noter S</a:t>
            </a:r>
            <a:r>
              <a:rPr lang="fr-FR" sz="2400" spc="-1" baseline="-25000" dirty="0">
                <a:solidFill>
                  <a:srgbClr val="376092"/>
                </a:solidFill>
                <a:latin typeface="Arial"/>
              </a:rPr>
              <a:t>1</a:t>
            </a:r>
            <a:r>
              <a:rPr lang="fr-FR" sz="2400" spc="-1" dirty="0">
                <a:solidFill>
                  <a:srgbClr val="376092"/>
                </a:solidFill>
                <a:latin typeface="Arial"/>
              </a:rPr>
              <a:t>={Pantalon; Cravate}.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déterminer les sommets de niveau 2.</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E83A5975-7DAD-4F7D-AB8F-5B5D2EC8EBA4}"/>
              </a:ext>
            </a:extLst>
          </p:cNvPr>
          <p:cNvPicPr>
            <a:picLocks noChangeAspect="1"/>
          </p:cNvPicPr>
          <p:nvPr/>
        </p:nvPicPr>
        <p:blipFill>
          <a:blip r:embed="rId2"/>
          <a:stretch>
            <a:fillRect/>
          </a:stretch>
        </p:blipFill>
        <p:spPr>
          <a:xfrm>
            <a:off x="2095320" y="1892183"/>
            <a:ext cx="4953000" cy="3362325"/>
          </a:xfrm>
          <a:prstGeom prst="rect">
            <a:avLst/>
          </a:prstGeom>
        </p:spPr>
      </p:pic>
    </p:spTree>
    <p:extLst>
      <p:ext uri="{BB962C8B-B14F-4D97-AF65-F5344CB8AC3E}">
        <p14:creationId xmlns:p14="http://schemas.microsoft.com/office/powerpoint/2010/main" val="944542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Arborescence :</a:t>
            </a:r>
            <a:endParaRPr lang="en-US" sz="3200" b="0" strike="noStrike" spc="-1" dirty="0">
              <a:solidFill>
                <a:srgbClr val="376092"/>
              </a:solidFill>
              <a:latin typeface="Arial"/>
            </a:endParaRPr>
          </a:p>
        </p:txBody>
      </p:sp>
      <p:sp>
        <p:nvSpPr>
          <p:cNvPr id="140" name="TextShape 2"/>
          <p:cNvSpPr txBox="1"/>
          <p:nvPr/>
        </p:nvSpPr>
        <p:spPr>
          <a:xfrm>
            <a:off x="457200" y="1020932"/>
            <a:ext cx="8322816" cy="510482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arbre est un graphe particulier qui possède un sommet de niveau 0, la racine à partir duquel on peut atteindre tout autre sommet par un chemin unique.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sommets qui n’ont pas de successeurs sont appelés feuilles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Notre arbre généalogique est justement un exemple d’arbre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5" name="Image 4">
            <a:extLst>
              <a:ext uri="{FF2B5EF4-FFF2-40B4-BE49-F238E27FC236}">
                <a16:creationId xmlns:a16="http://schemas.microsoft.com/office/drawing/2014/main" id="{DC16CE00-2F8F-4A0E-B02B-BFAA4385BD1A}"/>
              </a:ext>
            </a:extLst>
          </p:cNvPr>
          <p:cNvPicPr>
            <a:picLocks noChangeAspect="1"/>
          </p:cNvPicPr>
          <p:nvPr/>
        </p:nvPicPr>
        <p:blipFill>
          <a:blip r:embed="rId2"/>
          <a:stretch>
            <a:fillRect/>
          </a:stretch>
        </p:blipFill>
        <p:spPr>
          <a:xfrm>
            <a:off x="275298" y="3871750"/>
            <a:ext cx="8686620" cy="2385485"/>
          </a:xfrm>
          <a:prstGeom prst="rect">
            <a:avLst/>
          </a:prstGeom>
        </p:spPr>
      </p:pic>
    </p:spTree>
    <p:extLst>
      <p:ext uri="{BB962C8B-B14F-4D97-AF65-F5344CB8AC3E}">
        <p14:creationId xmlns:p14="http://schemas.microsoft.com/office/powerpoint/2010/main" val="1360731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Graphe pondéré :</a:t>
            </a:r>
            <a:endParaRPr lang="en-US" sz="3200" b="0" strike="noStrike" spc="-1" dirty="0">
              <a:solidFill>
                <a:srgbClr val="376092"/>
              </a:solidFill>
              <a:latin typeface="Arial"/>
            </a:endParaRPr>
          </a:p>
        </p:txBody>
      </p:sp>
      <p:sp>
        <p:nvSpPr>
          <p:cNvPr id="140" name="TextShape 2"/>
          <p:cNvSpPr txBox="1"/>
          <p:nvPr/>
        </p:nvSpPr>
        <p:spPr>
          <a:xfrm>
            <a:off x="457200" y="1020932"/>
            <a:ext cx="8322816" cy="510482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Jusqu’à maintenant nous nous sommes surtout intéressés à l’existence d’une relation. Une matrice booléenne nous convenait donc tout à fait.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existe des cas où la relation elle-même doit être quantifiée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Distance entre deux villes : On sait qu’il existe un chemin, mais il faut connaitre sa longueur pour le GPS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Débit possible de chaque liaison d’un réseau : Peut nous permettre de retrouver les goulot d’étranglement.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Ces pondérations sont très facilement modélisable dans notre matrice d’adjacence.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1025440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Fonctionnement du graphe pondéré :</a:t>
            </a:r>
            <a:endParaRPr lang="en-US" sz="3200" b="0" strike="noStrike" spc="-1" dirty="0">
              <a:solidFill>
                <a:srgbClr val="376092"/>
              </a:solidFill>
              <a:latin typeface="Arial"/>
            </a:endParaRPr>
          </a:p>
        </p:txBody>
      </p:sp>
      <p:sp>
        <p:nvSpPr>
          <p:cNvPr id="140" name="TextShape 2"/>
          <p:cNvSpPr txBox="1"/>
          <p:nvPr/>
        </p:nvSpPr>
        <p:spPr>
          <a:xfrm>
            <a:off x="457200" y="1020932"/>
            <a:ext cx="8322816" cy="510482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Chaque chemin possède une pondération et il est donc facile de calculer la longueur des chemins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chemin (E, C, B, A) a une valeur de 5 + 8 + 7 = 20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chemin (B, A, D) a une valeur de 7 + 5 = 12</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06A2C1D3-DD75-4106-A6CA-4C2441F68401}"/>
              </a:ext>
            </a:extLst>
          </p:cNvPr>
          <p:cNvPicPr>
            <a:picLocks noChangeAspect="1"/>
          </p:cNvPicPr>
          <p:nvPr/>
        </p:nvPicPr>
        <p:blipFill>
          <a:blip r:embed="rId2"/>
          <a:stretch>
            <a:fillRect/>
          </a:stretch>
        </p:blipFill>
        <p:spPr>
          <a:xfrm>
            <a:off x="1678565" y="1878243"/>
            <a:ext cx="5193016" cy="3549913"/>
          </a:xfrm>
          <a:prstGeom prst="rect">
            <a:avLst/>
          </a:prstGeom>
        </p:spPr>
      </p:pic>
    </p:spTree>
    <p:extLst>
      <p:ext uri="{BB962C8B-B14F-4D97-AF65-F5344CB8AC3E}">
        <p14:creationId xmlns:p14="http://schemas.microsoft.com/office/powerpoint/2010/main" val="137971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Niveau de sommet par l’exemple :</a:t>
            </a:r>
            <a:endParaRPr lang="en-US" sz="3200" b="0" strike="noStrike" spc="-1" dirty="0">
              <a:solidFill>
                <a:srgbClr val="376092"/>
              </a:solidFill>
              <a:latin typeface="Arial"/>
            </a:endParaRPr>
          </a:p>
        </p:txBody>
      </p:sp>
      <p:sp>
        <p:nvSpPr>
          <p:cNvPr id="140" name="TextShape 2"/>
          <p:cNvSpPr txBox="1"/>
          <p:nvPr/>
        </p:nvSpPr>
        <p:spPr>
          <a:xfrm>
            <a:off x="457200" y="1020932"/>
            <a:ext cx="8322816" cy="510482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la matrice d’adjacence du graphe pondéré que nous venons de voir.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 algorithme qui donne la longueur d’un chemin en fonction d’une matrice d’adjacence et de liste des points parcourus par le chemin (Exemple (1, 4, 3, 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 algorithme qui détecte un cycle dans un chemin.</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402644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Ordonnancement avec la méthode MPM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méthode MPM permet de minimiser le temps de réalisation d’un ensemble de tâche tout en respectant des contraintes d’antériorités.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Chacune des tâches du projet global est définie en fonction de sa durée et des tâches qu’il est nécessaire de faire en amont.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Sans contrainte d’antériorité, les tâches peuvent s’effectuer en parallèle.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036642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et gestion de projet informatique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l’exemple d’un projet informatique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Recherchons les niveaux de chacune des tâches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tracer le graphe orienté et pondéré de ce projet en rajoutant un sommet concernant le début du projet et un sommet pour la fin du projet.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DD95ADE2-5DB7-4B3A-8DD2-18A249BC9B2E}"/>
              </a:ext>
            </a:extLst>
          </p:cNvPr>
          <p:cNvPicPr>
            <a:picLocks noChangeAspect="1"/>
          </p:cNvPicPr>
          <p:nvPr/>
        </p:nvPicPr>
        <p:blipFill>
          <a:blip r:embed="rId2"/>
          <a:stretch>
            <a:fillRect/>
          </a:stretch>
        </p:blipFill>
        <p:spPr>
          <a:xfrm>
            <a:off x="457200" y="1868692"/>
            <a:ext cx="8146752" cy="2457095"/>
          </a:xfrm>
          <a:prstGeom prst="rect">
            <a:avLst/>
          </a:prstGeom>
        </p:spPr>
      </p:pic>
    </p:spTree>
    <p:extLst>
      <p:ext uri="{BB962C8B-B14F-4D97-AF65-F5344CB8AC3E}">
        <p14:creationId xmlns:p14="http://schemas.microsoft.com/office/powerpoint/2010/main" val="350068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niveau et graphe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Niveau des sommets du graphe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Graphe représentant le projet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déjà de déduire la durée minimum du projet.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9F5F8092-2FF2-4801-AFA7-7FC7FE0FCAAC}"/>
              </a:ext>
            </a:extLst>
          </p:cNvPr>
          <p:cNvPicPr>
            <a:picLocks noChangeAspect="1"/>
          </p:cNvPicPr>
          <p:nvPr/>
        </p:nvPicPr>
        <p:blipFill>
          <a:blip r:embed="rId2"/>
          <a:stretch>
            <a:fillRect/>
          </a:stretch>
        </p:blipFill>
        <p:spPr>
          <a:xfrm>
            <a:off x="1585819" y="1951776"/>
            <a:ext cx="5610225" cy="1676400"/>
          </a:xfrm>
          <a:prstGeom prst="rect">
            <a:avLst/>
          </a:prstGeom>
        </p:spPr>
      </p:pic>
      <p:pic>
        <p:nvPicPr>
          <p:cNvPr id="4" name="Image 3">
            <a:extLst>
              <a:ext uri="{FF2B5EF4-FFF2-40B4-BE49-F238E27FC236}">
                <a16:creationId xmlns:a16="http://schemas.microsoft.com/office/drawing/2014/main" id="{078B6BA6-B90E-41AC-B3AC-E6DF42AF42BB}"/>
              </a:ext>
            </a:extLst>
          </p:cNvPr>
          <p:cNvPicPr>
            <a:picLocks noChangeAspect="1"/>
          </p:cNvPicPr>
          <p:nvPr/>
        </p:nvPicPr>
        <p:blipFill>
          <a:blip r:embed="rId3"/>
          <a:stretch>
            <a:fillRect/>
          </a:stretch>
        </p:blipFill>
        <p:spPr>
          <a:xfrm>
            <a:off x="-180" y="4309411"/>
            <a:ext cx="9144000" cy="1533973"/>
          </a:xfrm>
          <a:prstGeom prst="rect">
            <a:avLst/>
          </a:prstGeom>
        </p:spPr>
      </p:pic>
    </p:spTree>
    <p:extLst>
      <p:ext uri="{BB962C8B-B14F-4D97-AF65-F5344CB8AC3E}">
        <p14:creationId xmlns:p14="http://schemas.microsoft.com/office/powerpoint/2010/main" val="3017333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Date au plus tôt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date au plus tôt permet de savoir quand il est possible de commencer une tâche car tous les prédécesseurs ont été réalisés.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notons t(A) la date au plus tôt de la tâche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notons d(A) la durée de réalisation de la tâche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 Algorithmie » et « Analyse de la BDD » n’ont pas de prédécesseurs, nous pouvons donc les démarrer au temps 0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t(Algorithmie) = 0 et t(Analyse de la BDD)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 Ecriture du code » doit attendre la fin d’ « Algorithmie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t(Ecriture du code) = t(Algorithmie) + d(Algorithmie)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1867194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Date au plus tôt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situation devient un peu plus complexe lorsqu’une tâche a plusieurs prédécesseurs.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tâche « Réalisation de la BDD » doit attendre la fin de l’étape « Algorithmie » et de l’étape « Analyse BDD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ne peut donc débuter une tâche que lorsque la tâche précédente la plus longue a été réalisée.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t(Réalisation BDD) = max (t(Algorithmie) + d(Algorithmie), t(Analyse BDD) + d(Analyse BDD))</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t(Réalisation BDD) = max (0 + 3, 0 + 2) = 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Notons les dates au plus tôt sur le graphe de notre projet.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7696418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Date au plus tôt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Voici notre graphe complété avec les dates au plus tôt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 graphe met en lumière que certaines tâches seront terminées et qu’elles devront attendre la fin d’autres tâches en parallèle.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Par exemple « Optimisation et </a:t>
            </a:r>
            <a:r>
              <a:rPr lang="fr-FR" sz="2400" spc="-1" dirty="0" err="1">
                <a:solidFill>
                  <a:srgbClr val="376092"/>
                </a:solidFill>
                <a:latin typeface="Arial"/>
              </a:rPr>
              <a:t>refactoring</a:t>
            </a:r>
            <a:r>
              <a:rPr lang="fr-FR" sz="2400" spc="-1" dirty="0">
                <a:solidFill>
                  <a:srgbClr val="376092"/>
                </a:solidFill>
                <a:latin typeface="Arial"/>
              </a:rPr>
              <a:t> » débute au temps 7 et dure 3, donc est terminée au temps 10. Cependant la mise en production doit attendre les tests d’intégrations au temps 12. Nous avons de la marge.</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52498EB5-F7DB-4B7C-B8C1-6013A0421F67}"/>
              </a:ext>
            </a:extLst>
          </p:cNvPr>
          <p:cNvPicPr>
            <a:picLocks noChangeAspect="1"/>
          </p:cNvPicPr>
          <p:nvPr/>
        </p:nvPicPr>
        <p:blipFill>
          <a:blip r:embed="rId2"/>
          <a:stretch>
            <a:fillRect/>
          </a:stretch>
        </p:blipFill>
        <p:spPr>
          <a:xfrm>
            <a:off x="-180" y="1895027"/>
            <a:ext cx="9144000" cy="1533973"/>
          </a:xfrm>
          <a:prstGeom prst="rect">
            <a:avLst/>
          </a:prstGeom>
        </p:spPr>
      </p:pic>
    </p:spTree>
    <p:extLst>
      <p:ext uri="{BB962C8B-B14F-4D97-AF65-F5344CB8AC3E}">
        <p14:creationId xmlns:p14="http://schemas.microsoft.com/office/powerpoint/2010/main" val="16454560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Date au plus tard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date au plus tard permet de savoir quand il est possible de commencer une tâche au plus tard sans repousser la fin du projet global.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notons T(A) la date au plus tard de la tâche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notons d(A) la durée de réalisation de la tâche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date de fin de projet ne peut pas être repoussée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T(fin) = t(fin) = 15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ce qui concerne la « Mise en production », elle ne possède qu’un seul successeur donc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T(Mise en production) = T(Fin) – d(</a:t>
            </a:r>
            <a:r>
              <a:rPr lang="fr-FR" sz="2400" spc="-1" dirty="0" err="1">
                <a:solidFill>
                  <a:srgbClr val="376092"/>
                </a:solidFill>
                <a:latin typeface="Arial"/>
              </a:rPr>
              <a:t>MeP</a:t>
            </a:r>
            <a:r>
              <a:rPr lang="fr-FR" sz="2400" spc="-1" dirty="0">
                <a:solidFill>
                  <a:srgbClr val="376092"/>
                </a:solidFill>
                <a:latin typeface="Arial"/>
              </a:rPr>
              <a:t>) = 15 – 3 = 12</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552970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Date au plus tard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Tant que la tâche n’a qu’un seul successeur, il est aisé de calculer la date au plus tard.</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tâche « Ecriture du code » a deux successeurs. Dans ce cas, il faut effectuer le calcul pour les deux successeurs et en garder la valeur minimum.</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T(Ecriture code) = min (T(Optimisation et </a:t>
            </a:r>
            <a:r>
              <a:rPr lang="fr-FR" sz="2400" spc="-1" dirty="0" err="1">
                <a:solidFill>
                  <a:srgbClr val="376092"/>
                </a:solidFill>
                <a:latin typeface="Arial"/>
              </a:rPr>
              <a:t>refactoring</a:t>
            </a:r>
            <a:r>
              <a:rPr lang="fr-FR" sz="2400" spc="-1" dirty="0">
                <a:solidFill>
                  <a:srgbClr val="376092"/>
                </a:solidFill>
                <a:latin typeface="Arial"/>
              </a:rPr>
              <a:t>) – d(Ecriture code), T(Tests intégration) – d (Ecriture code))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T(Ecriture code) = min(9-4, 8-4) = min(5, 4) = 4</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Notons les dates au plus tard sur le graphe de notre projet.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2102320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Date au plus tôt et au plus tard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Voici notre graphe complété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L’étape « Ecriture du code » peut commencer au temps 3 ou au temps 4 sans repousser le terme du projet.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L’étape « Réalisation de la BDD » n’a pas cette liberté, il s’agit d’une tâche critique (t(A) = T(A)).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chemin critique est un chemin reliant le début à la fin en ne contenant que des tâches critiques.</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5" name="Image 4">
            <a:extLst>
              <a:ext uri="{FF2B5EF4-FFF2-40B4-BE49-F238E27FC236}">
                <a16:creationId xmlns:a16="http://schemas.microsoft.com/office/drawing/2014/main" id="{B8DAE2E4-55FA-419E-A06F-7A1681D5F6F6}"/>
              </a:ext>
            </a:extLst>
          </p:cNvPr>
          <p:cNvPicPr>
            <a:picLocks noChangeAspect="1"/>
          </p:cNvPicPr>
          <p:nvPr/>
        </p:nvPicPr>
        <p:blipFill>
          <a:blip r:embed="rId2"/>
          <a:stretch>
            <a:fillRect/>
          </a:stretch>
        </p:blipFill>
        <p:spPr>
          <a:xfrm>
            <a:off x="-180" y="1733884"/>
            <a:ext cx="9144000" cy="1695116"/>
          </a:xfrm>
          <a:prstGeom prst="rect">
            <a:avLst/>
          </a:prstGeom>
        </p:spPr>
      </p:pic>
    </p:spTree>
    <p:extLst>
      <p:ext uri="{BB962C8B-B14F-4D97-AF65-F5344CB8AC3E}">
        <p14:creationId xmlns:p14="http://schemas.microsoft.com/office/powerpoint/2010/main" val="27983274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Notion de marges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marge totale d’une tâche est le retard maximum qui ne repoussera pas la date de fin du projet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MT(A) = T(A) – t(A)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marge libre d’une tâche est le retard maximum qui ne repoussera pas la date de début au plus tôt de chacune des tâches qui la suive directement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ML(A) = min(t(A+1) – t(A) – d(A))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marge certaine d’une tâche est le retard maximum sur la date de début, quand celle-ci commence à sa date au plus tard, qui ne repoussera pas la date de début au plus tôt de chacune des tâches qui la suive directement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MC(A) = min(t(A+1) – T(A) – d(A), 0)</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474760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MPM – Calcul de marges :</a:t>
            </a:r>
            <a:endParaRPr lang="en-US" sz="3200" b="0" strike="noStrike" spc="-1" dirty="0">
              <a:solidFill>
                <a:srgbClr val="376092"/>
              </a:solidFill>
              <a:latin typeface="Arial"/>
            </a:endParaRPr>
          </a:p>
        </p:txBody>
      </p:sp>
      <p:sp>
        <p:nvSpPr>
          <p:cNvPr id="140" name="TextShape 2"/>
          <p:cNvSpPr txBox="1"/>
          <p:nvPr/>
        </p:nvSpPr>
        <p:spPr>
          <a:xfrm>
            <a:off x="457200" y="1348966"/>
            <a:ext cx="8322816" cy="477679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Voici les marges pour notre projet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marge totale indique la marge sur chaque tâche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marge libre indique la marge disponible pour une tâche débutée au plus tôt sans avoir a changer les dates au plus tôt des successeurs.</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La marge certaine à 0 nous indique que toute tâche débutée en date au plus tard, ne peut subir aucun retard si on veut conserver la date de fin du projet.</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743E771D-7451-4148-8442-8EDCF95B3917}"/>
              </a:ext>
            </a:extLst>
          </p:cNvPr>
          <p:cNvPicPr>
            <a:picLocks noChangeAspect="1"/>
          </p:cNvPicPr>
          <p:nvPr/>
        </p:nvPicPr>
        <p:blipFill>
          <a:blip r:embed="rId2"/>
          <a:stretch>
            <a:fillRect/>
          </a:stretch>
        </p:blipFill>
        <p:spPr>
          <a:xfrm>
            <a:off x="261884" y="1767049"/>
            <a:ext cx="8713448" cy="1661951"/>
          </a:xfrm>
          <a:prstGeom prst="rect">
            <a:avLst/>
          </a:prstGeom>
        </p:spPr>
      </p:pic>
    </p:spTree>
    <p:extLst>
      <p:ext uri="{BB962C8B-B14F-4D97-AF65-F5344CB8AC3E}">
        <p14:creationId xmlns:p14="http://schemas.microsoft.com/office/powerpoint/2010/main" val="265351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Introduction de la prochaine séance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Evaluation sur les matrices et les graphes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Programmer des algorithmes en Python</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Etudier un exercice type d’évaluation de fin d’année.</a:t>
            </a: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4208</TotalTime>
  <Words>3307</Words>
  <Application>Microsoft Office PowerPoint</Application>
  <PresentationFormat>Affichage à l'écran (4:3)</PresentationFormat>
  <Paragraphs>895</Paragraphs>
  <Slides>49</Slides>
  <Notes>0</Notes>
  <HiddenSlides>0</HiddenSlides>
  <MMClips>0</MMClips>
  <ScaleCrop>false</ScaleCrop>
  <HeadingPairs>
    <vt:vector size="8" baseType="variant">
      <vt:variant>
        <vt:lpstr>Polices utilisées</vt:lpstr>
      </vt:variant>
      <vt:variant>
        <vt:i4>5</vt:i4>
      </vt:variant>
      <vt:variant>
        <vt:lpstr>Thème</vt:lpstr>
      </vt:variant>
      <vt:variant>
        <vt:i4>3</vt:i4>
      </vt:variant>
      <vt:variant>
        <vt:lpstr>Serveurs OLE incorporés</vt:lpstr>
      </vt:variant>
      <vt:variant>
        <vt:i4>1</vt:i4>
      </vt:variant>
      <vt:variant>
        <vt:lpstr>Titres des diapositives</vt:lpstr>
      </vt:variant>
      <vt:variant>
        <vt:i4>49</vt:i4>
      </vt:variant>
    </vt:vector>
  </HeadingPairs>
  <TitlesOfParts>
    <vt:vector size="58" baseType="lpstr">
      <vt:lpstr>Arial</vt:lpstr>
      <vt:lpstr>Calibri</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257</cp:revision>
  <dcterms:created xsi:type="dcterms:W3CDTF">2012-01-17T22:15:29Z</dcterms:created>
  <dcterms:modified xsi:type="dcterms:W3CDTF">2025-08-29T13:08:45Z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