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51"/>
  </p:notesMasterIdLst>
  <p:sldIdLst>
    <p:sldId id="256" r:id="rId4"/>
    <p:sldId id="257" r:id="rId5"/>
    <p:sldId id="343" r:id="rId6"/>
    <p:sldId id="378" r:id="rId7"/>
    <p:sldId id="259" r:id="rId8"/>
    <p:sldId id="360" r:id="rId9"/>
    <p:sldId id="361" r:id="rId10"/>
    <p:sldId id="362" r:id="rId11"/>
    <p:sldId id="364" r:id="rId12"/>
    <p:sldId id="363" r:id="rId13"/>
    <p:sldId id="365" r:id="rId14"/>
    <p:sldId id="366" r:id="rId15"/>
    <p:sldId id="367" r:id="rId16"/>
    <p:sldId id="368" r:id="rId17"/>
    <p:sldId id="369" r:id="rId18"/>
    <p:sldId id="391" r:id="rId19"/>
    <p:sldId id="387" r:id="rId20"/>
    <p:sldId id="370" r:id="rId21"/>
    <p:sldId id="392" r:id="rId22"/>
    <p:sldId id="390" r:id="rId23"/>
    <p:sldId id="371" r:id="rId24"/>
    <p:sldId id="372" r:id="rId25"/>
    <p:sldId id="373" r:id="rId26"/>
    <p:sldId id="374" r:id="rId27"/>
    <p:sldId id="388" r:id="rId28"/>
    <p:sldId id="389" r:id="rId29"/>
    <p:sldId id="375" r:id="rId30"/>
    <p:sldId id="376" r:id="rId31"/>
    <p:sldId id="377" r:id="rId32"/>
    <p:sldId id="344" r:id="rId33"/>
    <p:sldId id="379" r:id="rId34"/>
    <p:sldId id="380" r:id="rId35"/>
    <p:sldId id="381" r:id="rId36"/>
    <p:sldId id="345" r:id="rId37"/>
    <p:sldId id="382" r:id="rId38"/>
    <p:sldId id="383" r:id="rId39"/>
    <p:sldId id="384" r:id="rId40"/>
    <p:sldId id="346" r:id="rId41"/>
    <p:sldId id="398" r:id="rId42"/>
    <p:sldId id="397" r:id="rId43"/>
    <p:sldId id="385" r:id="rId44"/>
    <p:sldId id="386" r:id="rId45"/>
    <p:sldId id="393" r:id="rId46"/>
    <p:sldId id="394" r:id="rId47"/>
    <p:sldId id="395" r:id="rId48"/>
    <p:sldId id="396" r:id="rId49"/>
    <p:sldId id="281" r:id="rId50"/>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92"/>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1.xlsx"/><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2.xlsx"/><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Excel_Worksheet3.xlsx"/><Relationship Id="rId1" Type="http://schemas.openxmlformats.org/officeDocument/2006/relationships/slideLayout" Target="../slideLayouts/slideLayout15.xml"/><Relationship Id="rId5" Type="http://schemas.openxmlformats.org/officeDocument/2006/relationships/image" Target="../media/image9.emf"/><Relationship Id="rId4" Type="http://schemas.openxmlformats.org/officeDocument/2006/relationships/package" Target="../embeddings/Microsoft_Excel_Worksheet4.xlsx"/></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5.xlsx"/><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package" Target="../embeddings/Microsoft_Excel_Worksheet6.xlsx"/><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Excel_Worksheet7.xlsx"/><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Excel_Worksheet8.xlsx"/><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package" Target="../embeddings/Microsoft_Excel_Worksheet9.xlsx"/><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Excel_Worksheet10.xlsx"/><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package" Target="../embeddings/Microsoft_Excel_Worksheet11.xlsx"/><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Arithmétique</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a:solidFill>
                  <a:srgbClr val="999999"/>
                </a:solidFill>
                <a:latin typeface="Arial"/>
              </a:rPr>
              <a:t> </a:t>
            </a:r>
            <a:r>
              <a:rPr lang="fr-FR" sz="2400" spc="-1" dirty="0">
                <a:solidFill>
                  <a:srgbClr val="999999"/>
                </a:solidFill>
                <a:latin typeface="Arial"/>
              </a:rPr>
              <a:t>BTS SIO</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Arithmétiq</a:t>
            </a:r>
            <a:r>
              <a:rPr lang="fr-FR" sz="3200" spc="-1" dirty="0">
                <a:solidFill>
                  <a:srgbClr val="376092"/>
                </a:solidFill>
                <a:latin typeface="Arial"/>
              </a:rPr>
              <a:t>ue</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Rappel sur la division euclidienne</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Systèmes de numération et conversions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Nombres premiers</a:t>
            </a:r>
            <a:r>
              <a:rPr lang="en-US" sz="2400" spc="-1">
                <a:solidFill>
                  <a:srgbClr val="376092"/>
                </a:solidFill>
                <a:latin typeface="Calibri"/>
              </a:rPr>
              <a:t> et</a:t>
            </a:r>
            <a:r>
              <a:rPr lang="en-US" sz="2400" spc="-1" dirty="0">
                <a:solidFill>
                  <a:srgbClr val="376092"/>
                </a:solidFill>
                <a:latin typeface="Calibri"/>
              </a:rPr>
              <a:t> </a:t>
            </a:r>
            <a:r>
              <a:rPr lang="fr-FR" sz="2400" spc="-1">
                <a:solidFill>
                  <a:srgbClr val="376092"/>
                </a:solidFill>
                <a:latin typeface="Calibri"/>
              </a:rPr>
              <a:t>Plus </a:t>
            </a:r>
            <a:r>
              <a:rPr lang="fr-FR" sz="2400" spc="-1" dirty="0">
                <a:solidFill>
                  <a:srgbClr val="376092"/>
                </a:solidFill>
                <a:latin typeface="Calibri"/>
              </a:rPr>
              <a:t>grand commun diviseurs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Congruence</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Rappel sur la division euclidienne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L’ensemble N contient tous les entiers naturels (0, 1, 2, .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division euclidienne d’un nombre A par un nombre B permet de déterminer un quotient et un reste de tel sorte que : A = B * quotient + reste (avec 0 &lt; reste &lt; quotient)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division est faite avec une calculatrice qui donne un résultat décimal, le quotient est la partie entière du résultat : 15 / 2 = 7.5 et j’en déduis le reste : 15 = 2*7 + 1</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En programmation, il y a deux opérations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 La division entre deux entiers donne le quotient</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 : Le modulo donne le reste de la division entière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Donc A = B * (A /B) + (A%B)</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Rappel sur la division euclidienne – divisibilité:</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dit qu’un entier « a » est divisible par un autre entier « b » s’il existe un entier naturel k tel que </a:t>
            </a:r>
            <a:r>
              <a:rPr lang="fr-FR" sz="2400" spc="-1" dirty="0">
                <a:solidFill>
                  <a:srgbClr val="376092"/>
                </a:solidFill>
                <a:latin typeface="Arial"/>
              </a:rPr>
              <a:t>a = b x k</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Autrement dit, « a » est divisible par « b » lorsque le reste de la division euclidienne de « a » par « b » est égal à 0.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dit alors que « b » est un diviseur de « a » et que « a » est un multiple de « b » et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a est divisible par b alors tous les multiples de a sont divisibles par b</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Si a est divisible par b et b est divisible par c alors a est divisible par c.</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a et b sont divisibles par c alors toute combinaison k1 x a + k2 x b est aussi divisible par c.</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284880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Nous sommes habitués à compter en base 10. Ceci veut dire qu’il n’existe pas de représentation d’un chiffre 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fois arrivé à 9, le nombre suivant remet les unités à 0 et incrémente le chiffre des dizaines.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d’utiliser d’autres bases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base 2 ou binaire n’utilise que les chiffres 0 et 1 (le type booléen utilise aussi la base 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base 8 ou octale utilise les chiffres 0, 1, 2, 3, 4, 5, 6, 7</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base 16 ou hexadécimale utilise les chiffres 0, 1, 2, 3, 4, 5, 6, 7, 8, 9, A, B, C, D, E, F.</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comparaison :</a:t>
            </a:r>
            <a:endParaRPr lang="en-US" sz="3200" b="0" strike="noStrike" spc="-1" dirty="0">
              <a:solidFill>
                <a:srgbClr val="376092"/>
              </a:solidFill>
              <a:latin typeface="Arial"/>
            </a:endParaRPr>
          </a:p>
        </p:txBody>
      </p:sp>
      <p:sp>
        <p:nvSpPr>
          <p:cNvPr id="140" name="TextShape 2"/>
          <p:cNvSpPr txBox="1"/>
          <p:nvPr/>
        </p:nvSpPr>
        <p:spPr>
          <a:xfrm>
            <a:off x="3897296" y="1065320"/>
            <a:ext cx="4789143"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zéro est identique dans toutes les bases.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cas général une base n n’utilise jamais le nombre 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binaire est utilisé en informatique car il correspond à l’état du courant dans un câble: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 courant ne passe pas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courant passe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L’octal et l’</a:t>
            </a:r>
            <a:r>
              <a:rPr lang="fr-FR" sz="2400" b="0" strike="noStrike" spc="-1" dirty="0" err="1">
                <a:solidFill>
                  <a:srgbClr val="376092"/>
                </a:solidFill>
                <a:latin typeface="Arial"/>
              </a:rPr>
              <a:t>héxa</a:t>
            </a:r>
            <a:r>
              <a:rPr lang="fr-FR" sz="2400" b="0" strike="noStrike" spc="-1" dirty="0">
                <a:solidFill>
                  <a:srgbClr val="376092"/>
                </a:solidFill>
                <a:latin typeface="Arial"/>
              </a:rPr>
              <a:t> sont utilisés également car elles peuvent représenter des ensembles de bits (16 et 8 puissance de 2)</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13618A98-525F-4CE4-997B-1BBF1ADB5ABB}"/>
              </a:ext>
            </a:extLst>
          </p:cNvPr>
          <p:cNvGraphicFramePr>
            <a:graphicFrameLocks noChangeAspect="1"/>
          </p:cNvGraphicFramePr>
          <p:nvPr>
            <p:extLst>
              <p:ext uri="{D42A27DB-BD31-4B8C-83A1-F6EECF244321}">
                <p14:modId xmlns:p14="http://schemas.microsoft.com/office/powerpoint/2010/main" val="1439155438"/>
              </p:ext>
            </p:extLst>
          </p:nvPr>
        </p:nvGraphicFramePr>
        <p:xfrm>
          <a:off x="834501" y="1065320"/>
          <a:ext cx="2827492" cy="5302622"/>
        </p:xfrm>
        <a:graphic>
          <a:graphicData uri="http://schemas.openxmlformats.org/presentationml/2006/ole">
            <mc:AlternateContent xmlns:mc="http://schemas.openxmlformats.org/markup-compatibility/2006">
              <mc:Choice xmlns:v="urn:schemas-microsoft-com:vml" Requires="v">
                <p:oleObj name="Worksheet" r:id="rId2" imgW="3133731" imgH="5877061" progId="Excel.Sheet.12">
                  <p:embed/>
                </p:oleObj>
              </mc:Choice>
              <mc:Fallback>
                <p:oleObj name="Worksheet" r:id="rId2" imgW="3133731" imgH="5877061" progId="Excel.Sheet.12">
                  <p:embed/>
                  <p:pic>
                    <p:nvPicPr>
                      <p:cNvPr id="0" name=""/>
                      <p:cNvPicPr/>
                      <p:nvPr/>
                    </p:nvPicPr>
                    <p:blipFill>
                      <a:blip r:embed="rId3"/>
                      <a:stretch>
                        <a:fillRect/>
                      </a:stretch>
                    </p:blipFill>
                    <p:spPr>
                      <a:xfrm>
                        <a:off x="834501" y="1065320"/>
                        <a:ext cx="2827492" cy="5302622"/>
                      </a:xfrm>
                      <a:prstGeom prst="rect">
                        <a:avLst/>
                      </a:prstGeom>
                    </p:spPr>
                  </p:pic>
                </p:oleObj>
              </mc:Fallback>
            </mc:AlternateContent>
          </a:graphicData>
        </a:graphic>
      </p:graphicFrame>
    </p:spTree>
    <p:extLst>
      <p:ext uri="{BB962C8B-B14F-4D97-AF65-F5344CB8AC3E}">
        <p14:creationId xmlns:p14="http://schemas.microsoft.com/office/powerpoint/2010/main" val="2897112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notation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Par convention si aucune annotation n’est fournie, nous considérons qu’un nombre est en base 10 : 123, 10, 1055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utilisons une autre base il faut le spécifier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12 = (1100)</a:t>
            </a:r>
            <a:r>
              <a:rPr lang="fr-FR" sz="2400" spc="-1" baseline="-25000" dirty="0">
                <a:solidFill>
                  <a:srgbClr val="376092"/>
                </a:solidFill>
                <a:latin typeface="Arial"/>
              </a:rPr>
              <a:t>2 </a:t>
            </a:r>
            <a:r>
              <a:rPr lang="fr-FR" sz="2400" spc="-1" dirty="0">
                <a:solidFill>
                  <a:srgbClr val="376092"/>
                </a:solidFill>
                <a:latin typeface="Arial"/>
              </a:rPr>
              <a:t>= (14)</a:t>
            </a:r>
            <a:r>
              <a:rPr lang="fr-FR" sz="2400" spc="-1" baseline="-25000" dirty="0">
                <a:solidFill>
                  <a:srgbClr val="376092"/>
                </a:solidFill>
                <a:latin typeface="Arial"/>
              </a:rPr>
              <a:t>8 </a:t>
            </a:r>
            <a:r>
              <a:rPr lang="fr-FR" sz="2400" spc="-1" dirty="0">
                <a:solidFill>
                  <a:srgbClr val="376092"/>
                </a:solidFill>
                <a:latin typeface="Arial"/>
              </a:rPr>
              <a:t>= (C)</a:t>
            </a:r>
            <a:r>
              <a:rPr lang="fr-FR" sz="2400" spc="-1" baseline="-25000" dirty="0">
                <a:solidFill>
                  <a:srgbClr val="376092"/>
                </a:solidFill>
                <a:latin typeface="Arial"/>
              </a:rPr>
              <a:t>16</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Il est donc possible de convertir un nombre d’une base à l’autre, pour cela nous allons nous pencher sur ce que nous savons déjà sur les nombres décimaux.</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 nombre 1654 peut se décomposer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Donc 1654 = 1 * 1000 + 6 * 100 + 5 * 10 + 4 * 1</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4" name="Objet 3">
            <a:extLst>
              <a:ext uri="{FF2B5EF4-FFF2-40B4-BE49-F238E27FC236}">
                <a16:creationId xmlns:a16="http://schemas.microsoft.com/office/drawing/2014/main" id="{41CC0477-5564-46FB-BA89-3DC5FF946F8C}"/>
              </a:ext>
            </a:extLst>
          </p:cNvPr>
          <p:cNvGraphicFramePr>
            <a:graphicFrameLocks noChangeAspect="1"/>
          </p:cNvGraphicFramePr>
          <p:nvPr>
            <p:extLst>
              <p:ext uri="{D42A27DB-BD31-4B8C-83A1-F6EECF244321}">
                <p14:modId xmlns:p14="http://schemas.microsoft.com/office/powerpoint/2010/main" val="3600652822"/>
              </p:ext>
            </p:extLst>
          </p:nvPr>
        </p:nvGraphicFramePr>
        <p:xfrm>
          <a:off x="3158647" y="4773274"/>
          <a:ext cx="3057525" cy="542925"/>
        </p:xfrm>
        <a:graphic>
          <a:graphicData uri="http://schemas.openxmlformats.org/presentationml/2006/ole">
            <mc:AlternateContent xmlns:mc="http://schemas.openxmlformats.org/markup-compatibility/2006">
              <mc:Choice xmlns:v="urn:schemas-microsoft-com:vml" Requires="v">
                <p:oleObj name="Worksheet" r:id="rId2" imgW="3057582" imgH="542823" progId="Excel.Sheet.12">
                  <p:embed/>
                </p:oleObj>
              </mc:Choice>
              <mc:Fallback>
                <p:oleObj name="Worksheet" r:id="rId2" imgW="3057582" imgH="542823" progId="Excel.Sheet.12">
                  <p:embed/>
                  <p:pic>
                    <p:nvPicPr>
                      <p:cNvPr id="0" name=""/>
                      <p:cNvPicPr/>
                      <p:nvPr/>
                    </p:nvPicPr>
                    <p:blipFill>
                      <a:blip r:embed="rId3"/>
                      <a:stretch>
                        <a:fillRect/>
                      </a:stretch>
                    </p:blipFill>
                    <p:spPr>
                      <a:xfrm>
                        <a:off x="3158647" y="4773274"/>
                        <a:ext cx="3057525" cy="542925"/>
                      </a:xfrm>
                      <a:prstGeom prst="rect">
                        <a:avLst/>
                      </a:prstGeom>
                    </p:spPr>
                  </p:pic>
                </p:oleObj>
              </mc:Fallback>
            </mc:AlternateContent>
          </a:graphicData>
        </a:graphic>
      </p:graphicFrame>
    </p:spTree>
    <p:extLst>
      <p:ext uri="{BB962C8B-B14F-4D97-AF65-F5344CB8AC3E}">
        <p14:creationId xmlns:p14="http://schemas.microsoft.com/office/powerpoint/2010/main" val="656886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notation de la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voyons qu’il y a un rapport entre la décomposition de notre nombre et la base dans laquelle il s’exprime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1654 = 1 *</a:t>
            </a:r>
            <a:r>
              <a:rPr lang="fr-FR" sz="2400" spc="-1" dirty="0">
                <a:solidFill>
                  <a:srgbClr val="FF0000"/>
                </a:solidFill>
                <a:latin typeface="Arial"/>
              </a:rPr>
              <a:t>10</a:t>
            </a:r>
            <a:r>
              <a:rPr lang="fr-FR" sz="2400" spc="-1" baseline="30000" dirty="0">
                <a:solidFill>
                  <a:srgbClr val="376092"/>
                </a:solidFill>
                <a:latin typeface="Arial"/>
              </a:rPr>
              <a:t>3</a:t>
            </a:r>
            <a:r>
              <a:rPr lang="fr-FR" sz="2400" spc="-1" dirty="0">
                <a:solidFill>
                  <a:srgbClr val="376092"/>
                </a:solidFill>
                <a:latin typeface="Arial"/>
              </a:rPr>
              <a:t> + 6 * </a:t>
            </a:r>
            <a:r>
              <a:rPr lang="fr-FR" sz="2400" spc="-1" dirty="0">
                <a:solidFill>
                  <a:srgbClr val="FF0000"/>
                </a:solidFill>
                <a:latin typeface="Arial"/>
              </a:rPr>
              <a:t>10</a:t>
            </a:r>
            <a:r>
              <a:rPr lang="fr-FR" sz="2400" spc="-1" baseline="30000" dirty="0">
                <a:solidFill>
                  <a:srgbClr val="376092"/>
                </a:solidFill>
                <a:latin typeface="Arial"/>
              </a:rPr>
              <a:t>2</a:t>
            </a:r>
            <a:r>
              <a:rPr lang="fr-FR" sz="2400" spc="-1" dirty="0">
                <a:solidFill>
                  <a:srgbClr val="376092"/>
                </a:solidFill>
                <a:latin typeface="Arial"/>
              </a:rPr>
              <a:t> + 5 * </a:t>
            </a:r>
            <a:r>
              <a:rPr lang="fr-FR" sz="2400" spc="-1" dirty="0">
                <a:solidFill>
                  <a:srgbClr val="FF0000"/>
                </a:solidFill>
                <a:latin typeface="Arial"/>
              </a:rPr>
              <a:t>10</a:t>
            </a:r>
            <a:r>
              <a:rPr lang="fr-FR" sz="2400" spc="-1" baseline="30000" dirty="0">
                <a:solidFill>
                  <a:srgbClr val="376092"/>
                </a:solidFill>
                <a:latin typeface="Arial"/>
              </a:rPr>
              <a:t>1</a:t>
            </a:r>
            <a:r>
              <a:rPr lang="fr-FR" sz="2400" spc="-1" dirty="0">
                <a:solidFill>
                  <a:srgbClr val="376092"/>
                </a:solidFill>
                <a:latin typeface="Arial"/>
              </a:rPr>
              <a:t> + 4 *</a:t>
            </a:r>
            <a:r>
              <a:rPr lang="fr-FR" sz="2400" spc="-1" dirty="0">
                <a:solidFill>
                  <a:srgbClr val="FF0000"/>
                </a:solidFill>
                <a:latin typeface="Arial"/>
              </a:rPr>
              <a:t>10</a:t>
            </a:r>
            <a:r>
              <a:rPr lang="fr-FR" sz="2400" spc="-1" baseline="30000" dirty="0">
                <a:solidFill>
                  <a:srgbClr val="376092"/>
                </a:solidFill>
                <a:latin typeface="Arial"/>
              </a:rPr>
              <a:t>0</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Ceci est vrai pour toute les bases ce qui nous permet de convertir facilement vers la base 10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(1100)</a:t>
            </a:r>
            <a:r>
              <a:rPr lang="fr-FR" sz="2400" spc="-1" baseline="-25000" dirty="0">
                <a:solidFill>
                  <a:srgbClr val="376092"/>
                </a:solidFill>
                <a:latin typeface="Arial"/>
              </a:rPr>
              <a:t>2</a:t>
            </a:r>
            <a:r>
              <a:rPr lang="fr-FR" sz="2400" spc="-1" dirty="0">
                <a:solidFill>
                  <a:srgbClr val="376092"/>
                </a:solidFill>
                <a:latin typeface="Arial"/>
              </a:rPr>
              <a:t> = 1 * 2</a:t>
            </a:r>
            <a:r>
              <a:rPr lang="fr-FR" sz="2400" spc="-1" baseline="30000" dirty="0">
                <a:solidFill>
                  <a:srgbClr val="376092"/>
                </a:solidFill>
                <a:latin typeface="Arial"/>
              </a:rPr>
              <a:t>3</a:t>
            </a:r>
            <a:r>
              <a:rPr lang="fr-FR" sz="2400" spc="-1" dirty="0">
                <a:solidFill>
                  <a:srgbClr val="376092"/>
                </a:solidFill>
                <a:latin typeface="Arial"/>
              </a:rPr>
              <a:t> + 1 * 2</a:t>
            </a:r>
            <a:r>
              <a:rPr lang="fr-FR" sz="2400" spc="-1" baseline="30000" dirty="0">
                <a:solidFill>
                  <a:srgbClr val="376092"/>
                </a:solidFill>
                <a:latin typeface="Arial"/>
              </a:rPr>
              <a:t>2</a:t>
            </a:r>
            <a:r>
              <a:rPr lang="fr-FR" sz="2400" spc="-1" dirty="0">
                <a:solidFill>
                  <a:srgbClr val="376092"/>
                </a:solidFill>
                <a:latin typeface="Arial"/>
              </a:rPr>
              <a:t> + 0 * 2</a:t>
            </a:r>
            <a:r>
              <a:rPr lang="fr-FR" sz="2400" spc="-1" baseline="30000" dirty="0">
                <a:solidFill>
                  <a:srgbClr val="376092"/>
                </a:solidFill>
                <a:latin typeface="Arial"/>
              </a:rPr>
              <a:t>1</a:t>
            </a:r>
            <a:r>
              <a:rPr lang="fr-FR" sz="2400" spc="-1" dirty="0">
                <a:solidFill>
                  <a:srgbClr val="376092"/>
                </a:solidFill>
                <a:latin typeface="Arial"/>
              </a:rPr>
              <a:t> + 0 * 2</a:t>
            </a:r>
            <a:r>
              <a:rPr lang="fr-FR" sz="2400" spc="-1" baseline="30000" dirty="0">
                <a:solidFill>
                  <a:srgbClr val="376092"/>
                </a:solidFill>
                <a:latin typeface="Arial"/>
              </a:rPr>
              <a:t>0</a:t>
            </a:r>
            <a:r>
              <a:rPr lang="fr-FR" sz="2400" spc="-1" dirty="0">
                <a:solidFill>
                  <a:srgbClr val="376092"/>
                </a:solidFill>
                <a:latin typeface="Arial"/>
              </a:rPr>
              <a:t> = 12</a:t>
            </a: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3" name="Objet 2">
            <a:extLst>
              <a:ext uri="{FF2B5EF4-FFF2-40B4-BE49-F238E27FC236}">
                <a16:creationId xmlns:a16="http://schemas.microsoft.com/office/drawing/2014/main" id="{02A62C36-E8ED-4461-AA7B-0DA00E72F1CA}"/>
              </a:ext>
            </a:extLst>
          </p:cNvPr>
          <p:cNvGraphicFramePr>
            <a:graphicFrameLocks noChangeAspect="1"/>
          </p:cNvGraphicFramePr>
          <p:nvPr>
            <p:extLst>
              <p:ext uri="{D42A27DB-BD31-4B8C-83A1-F6EECF244321}">
                <p14:modId xmlns:p14="http://schemas.microsoft.com/office/powerpoint/2010/main" val="2959409623"/>
              </p:ext>
            </p:extLst>
          </p:nvPr>
        </p:nvGraphicFramePr>
        <p:xfrm>
          <a:off x="2525189" y="2890837"/>
          <a:ext cx="3933825" cy="1076325"/>
        </p:xfrm>
        <a:graphic>
          <a:graphicData uri="http://schemas.openxmlformats.org/presentationml/2006/ole">
            <mc:AlternateContent xmlns:mc="http://schemas.openxmlformats.org/markup-compatibility/2006">
              <mc:Choice xmlns:v="urn:schemas-microsoft-com:vml" Requires="v">
                <p:oleObj name="Worksheet" r:id="rId2" imgW="3933755" imgH="1076461" progId="Excel.Sheet.12">
                  <p:embed/>
                </p:oleObj>
              </mc:Choice>
              <mc:Fallback>
                <p:oleObj name="Worksheet" r:id="rId2" imgW="3933755" imgH="1076461" progId="Excel.Sheet.12">
                  <p:embed/>
                  <p:pic>
                    <p:nvPicPr>
                      <p:cNvPr id="0" name=""/>
                      <p:cNvPicPr/>
                      <p:nvPr/>
                    </p:nvPicPr>
                    <p:blipFill>
                      <a:blip r:embed="rId3"/>
                      <a:stretch>
                        <a:fillRect/>
                      </a:stretch>
                    </p:blipFill>
                    <p:spPr>
                      <a:xfrm>
                        <a:off x="2525189" y="2890837"/>
                        <a:ext cx="3933825" cy="1076325"/>
                      </a:xfrm>
                      <a:prstGeom prst="rect">
                        <a:avLst/>
                      </a:prstGeom>
                    </p:spPr>
                  </p:pic>
                </p:oleObj>
              </mc:Fallback>
            </mc:AlternateContent>
          </a:graphicData>
        </a:graphic>
      </p:graphicFrame>
    </p:spTree>
    <p:extLst>
      <p:ext uri="{BB962C8B-B14F-4D97-AF65-F5344CB8AC3E}">
        <p14:creationId xmlns:p14="http://schemas.microsoft.com/office/powerpoint/2010/main" val="3523107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vers la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convertir quelques exemples vers la base 10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(10101)</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(111011)</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(11111111)</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(124)</a:t>
            </a:r>
            <a:r>
              <a:rPr lang="fr-FR" sz="2400" spc="-1" baseline="-25000" dirty="0">
                <a:solidFill>
                  <a:srgbClr val="376092"/>
                </a:solidFill>
                <a:latin typeface="Arial"/>
              </a:rPr>
              <a:t>8</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(256)</a:t>
            </a:r>
            <a:r>
              <a:rPr lang="fr-FR" sz="2400" spc="-1" baseline="-25000" dirty="0">
                <a:solidFill>
                  <a:srgbClr val="376092"/>
                </a:solidFill>
                <a:latin typeface="Arial"/>
              </a:rPr>
              <a:t>8</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(A8)</a:t>
            </a:r>
            <a:r>
              <a:rPr lang="fr-FR" sz="2400" spc="-1" baseline="-25000" dirty="0">
                <a:solidFill>
                  <a:srgbClr val="376092"/>
                </a:solidFill>
                <a:latin typeface="Arial"/>
              </a:rPr>
              <a:t>16 </a:t>
            </a:r>
            <a:r>
              <a:rPr lang="fr-FR" sz="2400" spc="-1" dirty="0">
                <a:solidFill>
                  <a:srgbClr val="376092"/>
                </a:solidFill>
                <a:latin typeface="Arial"/>
              </a:rPr>
              <a:t>(Remplacer les lettres par leurs valeurs)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(FF)</a:t>
            </a:r>
            <a:r>
              <a:rPr lang="fr-FR" sz="2400" spc="-1" baseline="-25000" dirty="0">
                <a:solidFill>
                  <a:srgbClr val="376092"/>
                </a:solidFill>
                <a:latin typeface="Arial"/>
              </a:rPr>
              <a:t>16</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mettre en place un convertisseur dans un tableur.</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769672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vers la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convertir quelques exemples vers la base 10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(10101)</a:t>
            </a:r>
            <a:r>
              <a:rPr lang="fr-FR" sz="2400" spc="-1" baseline="-25000" dirty="0">
                <a:solidFill>
                  <a:srgbClr val="376092"/>
                </a:solidFill>
                <a:latin typeface="Arial"/>
              </a:rPr>
              <a:t>2 </a:t>
            </a:r>
            <a:r>
              <a:rPr lang="fr-FR" sz="2400" spc="-1" dirty="0">
                <a:solidFill>
                  <a:srgbClr val="376092"/>
                </a:solidFill>
                <a:latin typeface="Arial"/>
              </a:rPr>
              <a:t>= 1 * 2</a:t>
            </a:r>
            <a:r>
              <a:rPr lang="fr-FR" sz="2400" spc="-1" baseline="30000" dirty="0">
                <a:solidFill>
                  <a:srgbClr val="376092"/>
                </a:solidFill>
                <a:latin typeface="Arial"/>
              </a:rPr>
              <a:t>4</a:t>
            </a:r>
            <a:r>
              <a:rPr lang="fr-FR" sz="2400" spc="-1" dirty="0">
                <a:solidFill>
                  <a:srgbClr val="376092"/>
                </a:solidFill>
                <a:latin typeface="Arial"/>
              </a:rPr>
              <a:t> + 0 * 2</a:t>
            </a:r>
            <a:r>
              <a:rPr lang="fr-FR" sz="2400" spc="-1" baseline="30000" dirty="0">
                <a:solidFill>
                  <a:srgbClr val="376092"/>
                </a:solidFill>
                <a:latin typeface="Arial"/>
              </a:rPr>
              <a:t>3</a:t>
            </a:r>
            <a:r>
              <a:rPr lang="fr-FR" sz="2400" spc="-1" dirty="0">
                <a:solidFill>
                  <a:srgbClr val="376092"/>
                </a:solidFill>
                <a:latin typeface="Arial"/>
              </a:rPr>
              <a:t> + 1 * 2</a:t>
            </a:r>
            <a:r>
              <a:rPr lang="fr-FR" sz="2400" spc="-1" baseline="30000" dirty="0">
                <a:solidFill>
                  <a:srgbClr val="376092"/>
                </a:solidFill>
                <a:latin typeface="Arial"/>
              </a:rPr>
              <a:t>2</a:t>
            </a:r>
            <a:r>
              <a:rPr lang="fr-FR" sz="2400" spc="-1" dirty="0">
                <a:solidFill>
                  <a:srgbClr val="376092"/>
                </a:solidFill>
                <a:latin typeface="Arial"/>
              </a:rPr>
              <a:t> + 0 * 2</a:t>
            </a:r>
            <a:r>
              <a:rPr lang="fr-FR" sz="2400" spc="-1" baseline="30000" dirty="0">
                <a:solidFill>
                  <a:srgbClr val="376092"/>
                </a:solidFill>
                <a:latin typeface="Arial"/>
              </a:rPr>
              <a:t>1</a:t>
            </a:r>
            <a:r>
              <a:rPr lang="fr-FR" sz="2400" spc="-1" dirty="0">
                <a:solidFill>
                  <a:srgbClr val="376092"/>
                </a:solidFill>
                <a:latin typeface="Arial"/>
              </a:rPr>
              <a:t> + 1 * 2</a:t>
            </a:r>
            <a:r>
              <a:rPr lang="fr-FR" sz="2400" spc="-1" baseline="30000" dirty="0">
                <a:solidFill>
                  <a:srgbClr val="376092"/>
                </a:solidFill>
                <a:latin typeface="Arial"/>
              </a:rPr>
              <a:t>0</a:t>
            </a:r>
            <a:r>
              <a:rPr lang="fr-FR" sz="2400" spc="-1" dirty="0">
                <a:solidFill>
                  <a:srgbClr val="376092"/>
                </a:solidFill>
                <a:latin typeface="Arial"/>
              </a:rPr>
              <a:t> = 21</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(111011)</a:t>
            </a:r>
            <a:r>
              <a:rPr lang="fr-FR" sz="2400" spc="-1" baseline="-25000" dirty="0">
                <a:solidFill>
                  <a:srgbClr val="376092"/>
                </a:solidFill>
                <a:latin typeface="Arial"/>
              </a:rPr>
              <a:t>2 </a:t>
            </a:r>
            <a:r>
              <a:rPr lang="fr-FR" sz="2400" spc="-1" dirty="0">
                <a:solidFill>
                  <a:srgbClr val="376092"/>
                </a:solidFill>
                <a:latin typeface="Arial"/>
              </a:rPr>
              <a:t>= 59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(11111111)</a:t>
            </a:r>
            <a:r>
              <a:rPr lang="fr-FR" sz="2400" spc="-1" baseline="-25000" dirty="0">
                <a:solidFill>
                  <a:srgbClr val="376092"/>
                </a:solidFill>
                <a:latin typeface="Arial"/>
              </a:rPr>
              <a:t>2 </a:t>
            </a:r>
            <a:r>
              <a:rPr lang="fr-FR" sz="2400" spc="-1" dirty="0">
                <a:solidFill>
                  <a:srgbClr val="376092"/>
                </a:solidFill>
                <a:latin typeface="Arial"/>
              </a:rPr>
              <a:t>= 255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(124)</a:t>
            </a:r>
            <a:r>
              <a:rPr lang="fr-FR" sz="2400" spc="-1" baseline="-25000" dirty="0">
                <a:solidFill>
                  <a:srgbClr val="376092"/>
                </a:solidFill>
                <a:latin typeface="Arial"/>
              </a:rPr>
              <a:t>8</a:t>
            </a:r>
            <a:r>
              <a:rPr lang="fr-FR" sz="2400" spc="-1" dirty="0">
                <a:solidFill>
                  <a:srgbClr val="376092"/>
                </a:solidFill>
                <a:latin typeface="Arial"/>
              </a:rPr>
              <a:t> = 84</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(256)</a:t>
            </a:r>
            <a:r>
              <a:rPr lang="fr-FR" sz="2400" spc="-1" baseline="-25000" dirty="0">
                <a:solidFill>
                  <a:srgbClr val="376092"/>
                </a:solidFill>
                <a:latin typeface="Arial"/>
              </a:rPr>
              <a:t>8</a:t>
            </a:r>
            <a:r>
              <a:rPr lang="fr-FR" sz="2400" spc="-1" dirty="0">
                <a:solidFill>
                  <a:srgbClr val="376092"/>
                </a:solidFill>
                <a:latin typeface="Arial"/>
              </a:rPr>
              <a:t> = 174</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(A8)</a:t>
            </a:r>
            <a:r>
              <a:rPr lang="fr-FR" sz="2400" spc="-1" baseline="-25000" dirty="0">
                <a:solidFill>
                  <a:srgbClr val="376092"/>
                </a:solidFill>
                <a:latin typeface="Arial"/>
              </a:rPr>
              <a:t>16</a:t>
            </a:r>
            <a:r>
              <a:rPr lang="fr-FR" sz="2400" spc="-1" dirty="0">
                <a:solidFill>
                  <a:srgbClr val="376092"/>
                </a:solidFill>
                <a:latin typeface="Arial"/>
              </a:rPr>
              <a:t> = 168</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(FF)</a:t>
            </a:r>
            <a:r>
              <a:rPr lang="fr-FR" sz="2400" spc="-1" baseline="-25000" dirty="0">
                <a:solidFill>
                  <a:srgbClr val="376092"/>
                </a:solidFill>
                <a:latin typeface="Arial"/>
              </a:rPr>
              <a:t>16</a:t>
            </a:r>
            <a:r>
              <a:rPr lang="fr-FR" sz="2400" spc="-1" dirty="0">
                <a:solidFill>
                  <a:srgbClr val="376092"/>
                </a:solidFill>
                <a:latin typeface="Arial"/>
              </a:rPr>
              <a:t> = 255</a:t>
            </a:r>
            <a:endParaRPr lang="fr-FR" sz="2400" spc="-1" baseline="-25000"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Analysons les résultats obtenus entre la base 2 et la base 16</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492455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depuis la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Méthode 1 : Utilisations de la puissance la plus grande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63 = 0 * 128 et 63 = 0*64 mais 63 = 1 * 32 + 31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31 = 1 * 16 + 15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15 = 1 * 8 + 7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7 = 1 * 4 + 3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3 = 1 * 2 + 1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1 * 1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63 = (00111111)</a:t>
            </a:r>
            <a:r>
              <a:rPr lang="fr-FR" sz="2400" spc="-1" baseline="-25000" dirty="0">
                <a:solidFill>
                  <a:srgbClr val="376092"/>
                </a:solidFill>
                <a:latin typeface="Arial"/>
              </a:rPr>
              <a:t>2</a:t>
            </a:r>
          </a:p>
          <a:p>
            <a:pPr marL="565200" lvl="1">
              <a:spcAft>
                <a:spcPts val="1060"/>
              </a:spcAft>
              <a:buClr>
                <a:srgbClr val="000000"/>
              </a:buClr>
              <a:buSzPct val="45000"/>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45AFA50F-C582-47D4-B6CD-B8EDF6786FFF}"/>
              </a:ext>
            </a:extLst>
          </p:cNvPr>
          <p:cNvGraphicFramePr>
            <a:graphicFrameLocks noChangeAspect="1"/>
          </p:cNvGraphicFramePr>
          <p:nvPr>
            <p:extLst>
              <p:ext uri="{D42A27DB-BD31-4B8C-83A1-F6EECF244321}">
                <p14:modId xmlns:p14="http://schemas.microsoft.com/office/powerpoint/2010/main" val="2643993668"/>
              </p:ext>
            </p:extLst>
          </p:nvPr>
        </p:nvGraphicFramePr>
        <p:xfrm>
          <a:off x="1152110" y="1843457"/>
          <a:ext cx="6981825" cy="809625"/>
        </p:xfrm>
        <a:graphic>
          <a:graphicData uri="http://schemas.openxmlformats.org/presentationml/2006/ole">
            <mc:AlternateContent xmlns:mc="http://schemas.openxmlformats.org/markup-compatibility/2006">
              <mc:Choice xmlns:v="urn:schemas-microsoft-com:vml" Requires="v">
                <p:oleObj name="Worksheet" r:id="rId2" imgW="6981857" imgH="809489" progId="Excel.Sheet.12">
                  <p:embed/>
                </p:oleObj>
              </mc:Choice>
              <mc:Fallback>
                <p:oleObj name="Worksheet" r:id="rId2" imgW="6981857" imgH="809489" progId="Excel.Sheet.12">
                  <p:embed/>
                  <p:pic>
                    <p:nvPicPr>
                      <p:cNvPr id="0" name=""/>
                      <p:cNvPicPr/>
                      <p:nvPr/>
                    </p:nvPicPr>
                    <p:blipFill>
                      <a:blip r:embed="rId3"/>
                      <a:stretch>
                        <a:fillRect/>
                      </a:stretch>
                    </p:blipFill>
                    <p:spPr>
                      <a:xfrm>
                        <a:off x="1152110" y="1843457"/>
                        <a:ext cx="6981825" cy="809625"/>
                      </a:xfrm>
                      <a:prstGeom prst="rect">
                        <a:avLst/>
                      </a:prstGeom>
                    </p:spPr>
                  </p:pic>
                </p:oleObj>
              </mc:Fallback>
            </mc:AlternateContent>
          </a:graphicData>
        </a:graphic>
      </p:graphicFrame>
      <p:graphicFrame>
        <p:nvGraphicFramePr>
          <p:cNvPr id="3" name="Objet 2">
            <a:extLst>
              <a:ext uri="{FF2B5EF4-FFF2-40B4-BE49-F238E27FC236}">
                <a16:creationId xmlns:a16="http://schemas.microsoft.com/office/drawing/2014/main" id="{75244F8A-D146-4980-8A79-68DA7EA67725}"/>
              </a:ext>
            </a:extLst>
          </p:cNvPr>
          <p:cNvGraphicFramePr>
            <a:graphicFrameLocks noChangeAspect="1"/>
          </p:cNvGraphicFramePr>
          <p:nvPr>
            <p:extLst>
              <p:ext uri="{D42A27DB-BD31-4B8C-83A1-F6EECF244321}">
                <p14:modId xmlns:p14="http://schemas.microsoft.com/office/powerpoint/2010/main" val="617172711"/>
              </p:ext>
            </p:extLst>
          </p:nvPr>
        </p:nvGraphicFramePr>
        <p:xfrm>
          <a:off x="3086239" y="4027180"/>
          <a:ext cx="5972175" cy="1076325"/>
        </p:xfrm>
        <a:graphic>
          <a:graphicData uri="http://schemas.openxmlformats.org/presentationml/2006/ole">
            <mc:AlternateContent xmlns:mc="http://schemas.openxmlformats.org/markup-compatibility/2006">
              <mc:Choice xmlns:v="urn:schemas-microsoft-com:vml" Requires="v">
                <p:oleObj name="Worksheet" r:id="rId4" imgW="5972041" imgH="1076461" progId="Excel.Sheet.12">
                  <p:embed/>
                </p:oleObj>
              </mc:Choice>
              <mc:Fallback>
                <p:oleObj name="Worksheet" r:id="rId4" imgW="5972041" imgH="1076461" progId="Excel.Sheet.12">
                  <p:embed/>
                  <p:pic>
                    <p:nvPicPr>
                      <p:cNvPr id="0" name=""/>
                      <p:cNvPicPr/>
                      <p:nvPr/>
                    </p:nvPicPr>
                    <p:blipFill>
                      <a:blip r:embed="rId5"/>
                      <a:stretch>
                        <a:fillRect/>
                      </a:stretch>
                    </p:blipFill>
                    <p:spPr>
                      <a:xfrm>
                        <a:off x="3086239" y="4027180"/>
                        <a:ext cx="5972175" cy="1076325"/>
                      </a:xfrm>
                      <a:prstGeom prst="rect">
                        <a:avLst/>
                      </a:prstGeom>
                    </p:spPr>
                  </p:pic>
                </p:oleObj>
              </mc:Fallback>
            </mc:AlternateContent>
          </a:graphicData>
        </a:graphic>
      </p:graphicFrame>
      <p:cxnSp>
        <p:nvCxnSpPr>
          <p:cNvPr id="5" name="Connecteur droit avec flèche 4">
            <a:extLst>
              <a:ext uri="{FF2B5EF4-FFF2-40B4-BE49-F238E27FC236}">
                <a16:creationId xmlns:a16="http://schemas.microsoft.com/office/drawing/2014/main" id="{688CCD16-6F06-4CD6-8B69-C85E209A1BE6}"/>
              </a:ext>
            </a:extLst>
          </p:cNvPr>
          <p:cNvCxnSpPr/>
          <p:nvPr/>
        </p:nvCxnSpPr>
        <p:spPr>
          <a:xfrm>
            <a:off x="1713390" y="3249227"/>
            <a:ext cx="7128769" cy="1677880"/>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1A0460D0-4C20-4C5E-A1F0-87AC006CAF1C}"/>
              </a:ext>
            </a:extLst>
          </p:cNvPr>
          <p:cNvCxnSpPr>
            <a:cxnSpLocks/>
          </p:cNvCxnSpPr>
          <p:nvPr/>
        </p:nvCxnSpPr>
        <p:spPr>
          <a:xfrm>
            <a:off x="3737499" y="3249227"/>
            <a:ext cx="4705165" cy="1677880"/>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FB719555-0CFA-43CD-8ECE-50AB1991823B}"/>
              </a:ext>
            </a:extLst>
          </p:cNvPr>
          <p:cNvCxnSpPr>
            <a:cxnSpLocks/>
          </p:cNvCxnSpPr>
          <p:nvPr/>
        </p:nvCxnSpPr>
        <p:spPr>
          <a:xfrm>
            <a:off x="5921406" y="3311371"/>
            <a:ext cx="2068497" cy="161573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5FE3207F-EE57-473C-BA65-CD35610ED9B7}"/>
              </a:ext>
            </a:extLst>
          </p:cNvPr>
          <p:cNvCxnSpPr>
            <a:cxnSpLocks/>
          </p:cNvCxnSpPr>
          <p:nvPr/>
        </p:nvCxnSpPr>
        <p:spPr>
          <a:xfrm>
            <a:off x="1691196" y="3795722"/>
            <a:ext cx="5819313" cy="1177018"/>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6D5CC6F6-DC0B-46BC-8491-D32C85FA7ED9}"/>
              </a:ext>
            </a:extLst>
          </p:cNvPr>
          <p:cNvCxnSpPr>
            <a:cxnSpLocks/>
          </p:cNvCxnSpPr>
          <p:nvPr/>
        </p:nvCxnSpPr>
        <p:spPr>
          <a:xfrm>
            <a:off x="1713390" y="4361415"/>
            <a:ext cx="5140171" cy="62783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AA1ECA92-1D72-4F5B-85AC-26D6F178E4D6}"/>
              </a:ext>
            </a:extLst>
          </p:cNvPr>
          <p:cNvCxnSpPr>
            <a:cxnSpLocks/>
          </p:cNvCxnSpPr>
          <p:nvPr/>
        </p:nvCxnSpPr>
        <p:spPr>
          <a:xfrm>
            <a:off x="1469614" y="4846714"/>
            <a:ext cx="4629097" cy="147468"/>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AB1B2CD7-C1AE-4911-9083-828B5AD261FD}"/>
              </a:ext>
            </a:extLst>
          </p:cNvPr>
          <p:cNvCxnSpPr>
            <a:cxnSpLocks/>
          </p:cNvCxnSpPr>
          <p:nvPr/>
        </p:nvCxnSpPr>
        <p:spPr>
          <a:xfrm flipV="1">
            <a:off x="1469614" y="5033126"/>
            <a:ext cx="3732701" cy="34209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BF226974-F935-45B2-A594-5B39F12D6C7B}"/>
              </a:ext>
            </a:extLst>
          </p:cNvPr>
          <p:cNvCxnSpPr>
            <a:cxnSpLocks/>
          </p:cNvCxnSpPr>
          <p:nvPr/>
        </p:nvCxnSpPr>
        <p:spPr>
          <a:xfrm flipV="1">
            <a:off x="1469614" y="5021485"/>
            <a:ext cx="2813861" cy="85997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860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depuis la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Méthode 2 : Utilisations de la division euclidienne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continuons les divisions successives, nous obtenons les 0 non significatifs.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retrouvons bien le même résultat avec les 2 méthodes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cxnSp>
        <p:nvCxnSpPr>
          <p:cNvPr id="11" name="Connecteur droit avec flèche 10">
            <a:extLst>
              <a:ext uri="{FF2B5EF4-FFF2-40B4-BE49-F238E27FC236}">
                <a16:creationId xmlns:a16="http://schemas.microsoft.com/office/drawing/2014/main" id="{FB719555-0CFA-43CD-8ECE-50AB1991823B}"/>
              </a:ext>
            </a:extLst>
          </p:cNvPr>
          <p:cNvCxnSpPr>
            <a:cxnSpLocks/>
          </p:cNvCxnSpPr>
          <p:nvPr/>
        </p:nvCxnSpPr>
        <p:spPr>
          <a:xfrm flipH="1" flipV="1">
            <a:off x="1384918" y="2963673"/>
            <a:ext cx="4225769" cy="1404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Objet 3">
            <a:extLst>
              <a:ext uri="{FF2B5EF4-FFF2-40B4-BE49-F238E27FC236}">
                <a16:creationId xmlns:a16="http://schemas.microsoft.com/office/drawing/2014/main" id="{32090EFC-99EF-42AA-A9FB-366030EF0072}"/>
              </a:ext>
            </a:extLst>
          </p:cNvPr>
          <p:cNvGraphicFramePr>
            <a:graphicFrameLocks noChangeAspect="1"/>
          </p:cNvGraphicFramePr>
          <p:nvPr>
            <p:extLst>
              <p:ext uri="{D42A27DB-BD31-4B8C-83A1-F6EECF244321}">
                <p14:modId xmlns:p14="http://schemas.microsoft.com/office/powerpoint/2010/main" val="1959878441"/>
              </p:ext>
            </p:extLst>
          </p:nvPr>
        </p:nvGraphicFramePr>
        <p:xfrm>
          <a:off x="1279541" y="1868797"/>
          <a:ext cx="6105525" cy="2676525"/>
        </p:xfrm>
        <a:graphic>
          <a:graphicData uri="http://schemas.openxmlformats.org/presentationml/2006/ole">
            <mc:AlternateContent xmlns:mc="http://schemas.openxmlformats.org/markup-compatibility/2006">
              <mc:Choice xmlns:v="urn:schemas-microsoft-com:vml" Requires="v">
                <p:oleObj name="Worksheet" r:id="rId2" imgW="6105378" imgH="2676457" progId="Excel.Sheet.12">
                  <p:embed/>
                </p:oleObj>
              </mc:Choice>
              <mc:Fallback>
                <p:oleObj name="Worksheet" r:id="rId2" imgW="6105378" imgH="2676457" progId="Excel.Sheet.12">
                  <p:embed/>
                  <p:pic>
                    <p:nvPicPr>
                      <p:cNvPr id="0" name=""/>
                      <p:cNvPicPr/>
                      <p:nvPr/>
                    </p:nvPicPr>
                    <p:blipFill>
                      <a:blip r:embed="rId3"/>
                      <a:stretch>
                        <a:fillRect/>
                      </a:stretch>
                    </p:blipFill>
                    <p:spPr>
                      <a:xfrm>
                        <a:off x="1279541" y="1868797"/>
                        <a:ext cx="6105525" cy="2676525"/>
                      </a:xfrm>
                      <a:prstGeom prst="rect">
                        <a:avLst/>
                      </a:prstGeom>
                    </p:spPr>
                  </p:pic>
                </p:oleObj>
              </mc:Fallback>
            </mc:AlternateContent>
          </a:graphicData>
        </a:graphic>
      </p:graphicFrame>
    </p:spTree>
    <p:extLst>
      <p:ext uri="{BB962C8B-B14F-4D97-AF65-F5344CB8AC3E}">
        <p14:creationId xmlns:p14="http://schemas.microsoft.com/office/powerpoint/2010/main" val="3608752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entre les bases de puissances de 2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Méthode 3 : Propriété de la puissance de 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 binaire est la base 2 (2</a:t>
            </a:r>
            <a:r>
              <a:rPr lang="fr-FR" sz="2400" spc="-1" baseline="30000" dirty="0">
                <a:solidFill>
                  <a:srgbClr val="376092"/>
                </a:solidFill>
                <a:latin typeface="Arial"/>
              </a:rPr>
              <a:t>1</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L’hexadécimal est la base 16 (2</a:t>
            </a:r>
            <a:r>
              <a:rPr lang="fr-FR" sz="2400" spc="-1" baseline="30000" dirty="0">
                <a:solidFill>
                  <a:srgbClr val="376092"/>
                </a:solidFill>
                <a:latin typeface="Arial"/>
              </a:rPr>
              <a:t>4</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L’octal est la base 8 (2</a:t>
            </a:r>
            <a:r>
              <a:rPr lang="fr-FR" sz="2400" spc="-1" baseline="30000" dirty="0">
                <a:solidFill>
                  <a:srgbClr val="376092"/>
                </a:solidFill>
                <a:latin typeface="Arial"/>
              </a:rPr>
              <a:t>3</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propriété nous permet facilement de convertir entre ces bases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unité binaire correspond à 1 bit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unité hexadécimal correspond à 4 bits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unité octale correspond à 3 bits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02513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entre les bases de puissances de 2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Méthode 3 : Groupage par paquets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représentation octale se retrouve en groupant les bits par 3 : (00101011)</a:t>
            </a:r>
            <a:r>
              <a:rPr lang="fr-FR" sz="2400" spc="-1" baseline="-25000" dirty="0">
                <a:solidFill>
                  <a:srgbClr val="376092"/>
                </a:solidFill>
                <a:latin typeface="Arial"/>
              </a:rPr>
              <a:t>2</a:t>
            </a:r>
            <a:r>
              <a:rPr lang="fr-FR" sz="2400" spc="-1" dirty="0">
                <a:solidFill>
                  <a:srgbClr val="376092"/>
                </a:solidFill>
                <a:latin typeface="Arial"/>
              </a:rPr>
              <a:t> = (053)</a:t>
            </a:r>
            <a:r>
              <a:rPr lang="fr-FR" sz="2400" spc="-1" baseline="-25000" dirty="0">
                <a:solidFill>
                  <a:srgbClr val="376092"/>
                </a:solidFill>
                <a:latin typeface="Arial"/>
              </a:rPr>
              <a:t>8</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représentation Hexa se retrouve en groupant les bits par 4 : (00101011)</a:t>
            </a:r>
            <a:r>
              <a:rPr lang="fr-FR" sz="2400" spc="-1" baseline="-25000" dirty="0">
                <a:solidFill>
                  <a:srgbClr val="376092"/>
                </a:solidFill>
                <a:latin typeface="Arial"/>
              </a:rPr>
              <a:t>2</a:t>
            </a:r>
            <a:r>
              <a:rPr lang="fr-FR" sz="2400" spc="-1" dirty="0">
                <a:solidFill>
                  <a:srgbClr val="376092"/>
                </a:solidFill>
                <a:latin typeface="Arial"/>
              </a:rPr>
              <a:t> = (2B)</a:t>
            </a:r>
            <a:r>
              <a:rPr lang="fr-FR" sz="2400" spc="-1" baseline="-25000" dirty="0">
                <a:solidFill>
                  <a:srgbClr val="376092"/>
                </a:solidFill>
                <a:latin typeface="Arial"/>
              </a:rPr>
              <a:t>16</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facilité de conversion fait qu’on utilise souvent l’Hexa a la place du binaire en informatique (couleur en HTML)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785AB896-EC86-4B84-94BD-911CC8633A7D}"/>
              </a:ext>
            </a:extLst>
          </p:cNvPr>
          <p:cNvGraphicFramePr>
            <a:graphicFrameLocks noChangeAspect="1"/>
          </p:cNvGraphicFramePr>
          <p:nvPr>
            <p:extLst>
              <p:ext uri="{D42A27DB-BD31-4B8C-83A1-F6EECF244321}">
                <p14:modId xmlns:p14="http://schemas.microsoft.com/office/powerpoint/2010/main" val="2044114069"/>
              </p:ext>
            </p:extLst>
          </p:nvPr>
        </p:nvGraphicFramePr>
        <p:xfrm>
          <a:off x="1408591" y="1852998"/>
          <a:ext cx="6096000" cy="2138363"/>
        </p:xfrm>
        <a:graphic>
          <a:graphicData uri="http://schemas.openxmlformats.org/presentationml/2006/ole">
            <mc:AlternateContent xmlns:mc="http://schemas.openxmlformats.org/markup-compatibility/2006">
              <mc:Choice xmlns:v="urn:schemas-microsoft-com:vml" Requires="v">
                <p:oleObj name="Worksheet" r:id="rId2" imgW="9153480" imgH="3209789" progId="Excel.Sheet.12">
                  <p:embed/>
                </p:oleObj>
              </mc:Choice>
              <mc:Fallback>
                <p:oleObj name="Worksheet" r:id="rId2" imgW="9153480" imgH="3209789" progId="Excel.Sheet.12">
                  <p:embed/>
                  <p:pic>
                    <p:nvPicPr>
                      <p:cNvPr id="0" name=""/>
                      <p:cNvPicPr/>
                      <p:nvPr/>
                    </p:nvPicPr>
                    <p:blipFill>
                      <a:blip r:embed="rId3"/>
                      <a:stretch>
                        <a:fillRect/>
                      </a:stretch>
                    </p:blipFill>
                    <p:spPr>
                      <a:xfrm>
                        <a:off x="1408591" y="1852998"/>
                        <a:ext cx="6096000" cy="2138363"/>
                      </a:xfrm>
                      <a:prstGeom prst="rect">
                        <a:avLst/>
                      </a:prstGeom>
                    </p:spPr>
                  </p:pic>
                </p:oleObj>
              </mc:Fallback>
            </mc:AlternateContent>
          </a:graphicData>
        </a:graphic>
      </p:graphicFrame>
    </p:spTree>
    <p:extLst>
      <p:ext uri="{BB962C8B-B14F-4D97-AF65-F5344CB8AC3E}">
        <p14:creationId xmlns:p14="http://schemas.microsoft.com/office/powerpoint/2010/main" val="273434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conversion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convertir quelques exemples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21 = (?)</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59 = (?)</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84 = (?)</a:t>
            </a:r>
            <a:r>
              <a:rPr lang="fr-FR" sz="2400" spc="-1" baseline="-25000" dirty="0">
                <a:solidFill>
                  <a:srgbClr val="376092"/>
                </a:solidFill>
                <a:latin typeface="Arial"/>
              </a:rPr>
              <a:t>8</a:t>
            </a:r>
            <a:r>
              <a:rPr lang="fr-FR" sz="2400" spc="-1" dirty="0">
                <a:solidFill>
                  <a:srgbClr val="376092"/>
                </a:solidFill>
                <a:latin typeface="Arial"/>
              </a:rPr>
              <a:t> </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168 = (?)</a:t>
            </a:r>
            <a:r>
              <a:rPr lang="fr-FR" sz="2400" spc="-1" baseline="-25000" dirty="0">
                <a:solidFill>
                  <a:srgbClr val="376092"/>
                </a:solidFill>
                <a:latin typeface="Arial"/>
              </a:rPr>
              <a:t>16</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(11111111)</a:t>
            </a:r>
            <a:r>
              <a:rPr lang="fr-FR" sz="2400" spc="-1" baseline="-25000" dirty="0">
                <a:solidFill>
                  <a:srgbClr val="376092"/>
                </a:solidFill>
                <a:latin typeface="Arial"/>
              </a:rPr>
              <a:t>2 </a:t>
            </a:r>
            <a:r>
              <a:rPr lang="fr-FR" sz="2400" spc="-1" dirty="0">
                <a:solidFill>
                  <a:srgbClr val="376092"/>
                </a:solidFill>
                <a:latin typeface="Arial"/>
              </a:rPr>
              <a:t>= (?)</a:t>
            </a:r>
            <a:r>
              <a:rPr lang="fr-FR" sz="2400" spc="-1" baseline="-25000" dirty="0">
                <a:solidFill>
                  <a:srgbClr val="376092"/>
                </a:solidFill>
                <a:latin typeface="Arial"/>
              </a:rPr>
              <a:t>10</a:t>
            </a:r>
            <a:r>
              <a:rPr lang="fr-FR" sz="2400" spc="-1" dirty="0">
                <a:solidFill>
                  <a:srgbClr val="376092"/>
                </a:solidFill>
                <a:latin typeface="Arial"/>
              </a:rPr>
              <a:t> = (?)</a:t>
            </a:r>
            <a:r>
              <a:rPr lang="fr-FR" sz="2400" spc="-1" baseline="-25000" dirty="0">
                <a:solidFill>
                  <a:srgbClr val="376092"/>
                </a:solidFill>
                <a:latin typeface="Arial"/>
              </a:rPr>
              <a:t>8</a:t>
            </a:r>
            <a:r>
              <a:rPr lang="fr-FR" sz="2400" spc="-1" dirty="0">
                <a:solidFill>
                  <a:srgbClr val="376092"/>
                </a:solidFill>
                <a:latin typeface="Arial"/>
              </a:rPr>
              <a:t> = (?)</a:t>
            </a:r>
            <a:r>
              <a:rPr lang="fr-FR" sz="2400" spc="-1" baseline="-25000" dirty="0">
                <a:solidFill>
                  <a:srgbClr val="376092"/>
                </a:solidFill>
                <a:latin typeface="Arial"/>
              </a:rPr>
              <a:t>16 </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(010110101)</a:t>
            </a:r>
            <a:r>
              <a:rPr lang="fr-FR" sz="2400" spc="-1" baseline="-25000" dirty="0">
                <a:solidFill>
                  <a:srgbClr val="376092"/>
                </a:solidFill>
                <a:latin typeface="Arial"/>
              </a:rPr>
              <a:t>2 </a:t>
            </a:r>
            <a:r>
              <a:rPr lang="fr-FR" sz="2400" spc="-1" dirty="0">
                <a:solidFill>
                  <a:srgbClr val="376092"/>
                </a:solidFill>
                <a:latin typeface="Arial"/>
              </a:rPr>
              <a:t>= (?)</a:t>
            </a:r>
            <a:r>
              <a:rPr lang="fr-FR" sz="2400" spc="-1" baseline="-25000" dirty="0">
                <a:solidFill>
                  <a:srgbClr val="376092"/>
                </a:solidFill>
                <a:latin typeface="Arial"/>
              </a:rPr>
              <a:t>8</a:t>
            </a:r>
            <a:r>
              <a:rPr lang="fr-FR" sz="2400" spc="-1" dirty="0">
                <a:solidFill>
                  <a:srgbClr val="376092"/>
                </a:solidFill>
                <a:latin typeface="Arial"/>
              </a:rPr>
              <a:t> = (?)</a:t>
            </a:r>
            <a:r>
              <a:rPr lang="fr-FR" sz="2400" spc="-1" baseline="-25000" dirty="0">
                <a:solidFill>
                  <a:srgbClr val="376092"/>
                </a:solidFill>
                <a:latin typeface="Arial"/>
              </a:rPr>
              <a:t>16 </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308840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Algorithmie :</a:t>
            </a:r>
            <a:endParaRPr lang="en-US" sz="3200" b="0" strike="noStrike" spc="-1" dirty="0">
              <a:solidFill>
                <a:srgbClr val="376092"/>
              </a:solidFill>
              <a:latin typeface="Arial"/>
            </a:endParaRPr>
          </a:p>
        </p:txBody>
      </p:sp>
      <p:sp>
        <p:nvSpPr>
          <p:cNvPr id="140" name="TextShape 2"/>
          <p:cNvSpPr txBox="1"/>
          <p:nvPr/>
        </p:nvSpPr>
        <p:spPr>
          <a:xfrm>
            <a:off x="457200" y="1136342"/>
            <a:ext cx="8229240" cy="498941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permet d’afficher un chiffre par ligne à partir d’un nombre fourni en paramètre.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permet d’afficher un chiffre par ligne à partir d’un tableau fourni en paramètre.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multiplie tous les éléments d’un tableau par 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compte le nombre d’éléments dans un tableau.</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donne la représentation en base 10 d’un chiffre hexadécimal.</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797807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Algorithmie :</a:t>
            </a:r>
            <a:endParaRPr lang="en-US" sz="3200" b="0" strike="noStrike" spc="-1" dirty="0">
              <a:solidFill>
                <a:srgbClr val="376092"/>
              </a:solidFill>
              <a:latin typeface="Arial"/>
            </a:endParaRPr>
          </a:p>
        </p:txBody>
      </p:sp>
      <p:sp>
        <p:nvSpPr>
          <p:cNvPr id="140" name="TextShape 2"/>
          <p:cNvSpPr txBox="1"/>
          <p:nvPr/>
        </p:nvSpPr>
        <p:spPr>
          <a:xfrm>
            <a:off x="457200" y="1136342"/>
            <a:ext cx="8229240" cy="498941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Comment représenter un nombre dans une autre base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convertie un nombre binaire en nombre décimal.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convertie un nombre hexadécimal en nombre décimal.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convertie un nombre décimal en binaire en vous appuyant sur les puissance de 2.</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convertie un nombre décimal en binaire en vous appuyant sur la division euclidienne.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convertie un nombre binaire en nombre hexadécimal.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Tester deux conversions opposées.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648367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Représenter les nombres à virgule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nombres à virgules pour les nombres en base 10 se représente également sous forme de puissance de la base : 1654,103</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logique de puissance de la base qui a été vue pour les nombres entiers reste vraie pour les décimales.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reste vrai pour toutes les bases que nous avons vu jusqu’ici.</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FE4E62DD-2A2B-4B22-B895-E9659C4C711A}"/>
              </a:ext>
            </a:extLst>
          </p:cNvPr>
          <p:cNvGraphicFramePr>
            <a:graphicFrameLocks noChangeAspect="1"/>
          </p:cNvGraphicFramePr>
          <p:nvPr>
            <p:extLst>
              <p:ext uri="{D42A27DB-BD31-4B8C-83A1-F6EECF244321}">
                <p14:modId xmlns:p14="http://schemas.microsoft.com/office/powerpoint/2010/main" val="2337344271"/>
              </p:ext>
            </p:extLst>
          </p:nvPr>
        </p:nvGraphicFramePr>
        <p:xfrm>
          <a:off x="998553" y="2695214"/>
          <a:ext cx="6667500" cy="1076325"/>
        </p:xfrm>
        <a:graphic>
          <a:graphicData uri="http://schemas.openxmlformats.org/presentationml/2006/ole">
            <mc:AlternateContent xmlns:mc="http://schemas.openxmlformats.org/markup-compatibility/2006">
              <mc:Choice xmlns:v="urn:schemas-microsoft-com:vml" Requires="v">
                <p:oleObj name="Worksheet" r:id="rId2" imgW="6667475" imgH="1076461" progId="Excel.Sheet.12">
                  <p:embed/>
                </p:oleObj>
              </mc:Choice>
              <mc:Fallback>
                <p:oleObj name="Worksheet" r:id="rId2" imgW="6667475" imgH="1076461" progId="Excel.Sheet.12">
                  <p:embed/>
                  <p:pic>
                    <p:nvPicPr>
                      <p:cNvPr id="0" name=""/>
                      <p:cNvPicPr/>
                      <p:nvPr/>
                    </p:nvPicPr>
                    <p:blipFill>
                      <a:blip r:embed="rId3"/>
                      <a:stretch>
                        <a:fillRect/>
                      </a:stretch>
                    </p:blipFill>
                    <p:spPr>
                      <a:xfrm>
                        <a:off x="998553" y="2695214"/>
                        <a:ext cx="6667500" cy="1076325"/>
                      </a:xfrm>
                      <a:prstGeom prst="rect">
                        <a:avLst/>
                      </a:prstGeom>
                    </p:spPr>
                  </p:pic>
                </p:oleObj>
              </mc:Fallback>
            </mc:AlternateContent>
          </a:graphicData>
        </a:graphic>
      </p:graphicFrame>
    </p:spTree>
    <p:extLst>
      <p:ext uri="{BB962C8B-B14F-4D97-AF65-F5344CB8AC3E}">
        <p14:creationId xmlns:p14="http://schemas.microsoft.com/office/powerpoint/2010/main" val="2062505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Représenter les nombres à virgule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convertir en base 10 quelques nombres à virgule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(101,101)</a:t>
            </a:r>
            <a:r>
              <a:rPr lang="fr-FR" sz="2400" spc="-1" baseline="-25000" dirty="0">
                <a:solidFill>
                  <a:srgbClr val="376092"/>
                </a:solidFill>
                <a:latin typeface="Arial"/>
              </a:rPr>
              <a: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(1A,2B)</a:t>
            </a:r>
            <a:r>
              <a:rPr lang="fr-FR" sz="2400" spc="-1" baseline="-25000" dirty="0">
                <a:solidFill>
                  <a:srgbClr val="376092"/>
                </a:solidFill>
                <a:latin typeface="Arial"/>
              </a:rPr>
              <a:t>16</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(71,52)</a:t>
            </a:r>
            <a:r>
              <a:rPr lang="fr-FR" sz="2400" spc="-1" baseline="-25000" dirty="0">
                <a:solidFill>
                  <a:srgbClr val="376092"/>
                </a:solidFill>
                <a:latin typeface="Arial"/>
              </a:rPr>
              <a:t>8</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3016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Algorithmes décimaux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retourne VRAI si le paramètre est pair et FAUX sinon.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retourne « Supérieur », « Inférieur » ou « Egal » selon la valeur de 2 paramètres.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retourne Vrai si le tableau en paramètre est trié et FAUX sinon.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permet d’afficher un nombre à virgule à partir d’un entier et du nombre de décimales.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Modifier la fonction précédente pour ajouter le signe.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888824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Addition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L’addition dans une base différente de 10 se pose exactement de la même façon, la seule différence est que la retenue est déclenché par un dépassement de la base.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+ 0 = 0 + 1 =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0 + 0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+ 1 = 0 et on ajoute une retenue pour la puissance suivante (en base 2, la quantité 2 s’écrit : 10)</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4" name="Objet 3">
            <a:extLst>
              <a:ext uri="{FF2B5EF4-FFF2-40B4-BE49-F238E27FC236}">
                <a16:creationId xmlns:a16="http://schemas.microsoft.com/office/drawing/2014/main" id="{004C7FB1-3D4E-4A37-B169-33C4F9F49D20}"/>
              </a:ext>
            </a:extLst>
          </p:cNvPr>
          <p:cNvGraphicFramePr>
            <a:graphicFrameLocks noChangeAspect="1"/>
          </p:cNvGraphicFramePr>
          <p:nvPr>
            <p:extLst>
              <p:ext uri="{D42A27DB-BD31-4B8C-83A1-F6EECF244321}">
                <p14:modId xmlns:p14="http://schemas.microsoft.com/office/powerpoint/2010/main" val="2821592357"/>
              </p:ext>
            </p:extLst>
          </p:nvPr>
        </p:nvGraphicFramePr>
        <p:xfrm>
          <a:off x="1292071" y="2810569"/>
          <a:ext cx="5867400" cy="1609725"/>
        </p:xfrm>
        <a:graphic>
          <a:graphicData uri="http://schemas.openxmlformats.org/presentationml/2006/ole">
            <mc:AlternateContent xmlns:mc="http://schemas.openxmlformats.org/markup-compatibility/2006">
              <mc:Choice xmlns:v="urn:schemas-microsoft-com:vml" Requires="v">
                <p:oleObj name="Worksheet" r:id="rId2" imgW="5867451" imgH="1609793" progId="Excel.Sheet.12">
                  <p:embed/>
                </p:oleObj>
              </mc:Choice>
              <mc:Fallback>
                <p:oleObj name="Worksheet" r:id="rId2" imgW="5867451" imgH="1609793" progId="Excel.Sheet.12">
                  <p:embed/>
                  <p:pic>
                    <p:nvPicPr>
                      <p:cNvPr id="0" name=""/>
                      <p:cNvPicPr/>
                      <p:nvPr/>
                    </p:nvPicPr>
                    <p:blipFill>
                      <a:blip r:embed="rId3"/>
                      <a:stretch>
                        <a:fillRect/>
                      </a:stretch>
                    </p:blipFill>
                    <p:spPr>
                      <a:xfrm>
                        <a:off x="1292071" y="2810569"/>
                        <a:ext cx="5867400" cy="1609725"/>
                      </a:xfrm>
                      <a:prstGeom prst="rect">
                        <a:avLst/>
                      </a:prstGeom>
                    </p:spPr>
                  </p:pic>
                </p:oleObj>
              </mc:Fallback>
            </mc:AlternateContent>
          </a:graphicData>
        </a:graphic>
      </p:graphicFrame>
      <p:graphicFrame>
        <p:nvGraphicFramePr>
          <p:cNvPr id="7" name="Objet 6">
            <a:extLst>
              <a:ext uri="{FF2B5EF4-FFF2-40B4-BE49-F238E27FC236}">
                <a16:creationId xmlns:a16="http://schemas.microsoft.com/office/drawing/2014/main" id="{27EF337F-DD80-4F06-8672-9DD371328508}"/>
              </a:ext>
            </a:extLst>
          </p:cNvPr>
          <p:cNvGraphicFramePr>
            <a:graphicFrameLocks noChangeAspect="1"/>
          </p:cNvGraphicFramePr>
          <p:nvPr>
            <p:extLst>
              <p:ext uri="{D42A27DB-BD31-4B8C-83A1-F6EECF244321}">
                <p14:modId xmlns:p14="http://schemas.microsoft.com/office/powerpoint/2010/main" val="924377729"/>
              </p:ext>
            </p:extLst>
          </p:nvPr>
        </p:nvGraphicFramePr>
        <p:xfrm>
          <a:off x="1444471" y="2962969"/>
          <a:ext cx="5867400" cy="1609725"/>
        </p:xfrm>
        <a:graphic>
          <a:graphicData uri="http://schemas.openxmlformats.org/presentationml/2006/ole">
            <mc:AlternateContent xmlns:mc="http://schemas.openxmlformats.org/markup-compatibility/2006">
              <mc:Choice xmlns:v="urn:schemas-microsoft-com:vml" Requires="v">
                <p:oleObj name="Worksheet" r:id="rId2" imgW="5867451" imgH="1609793" progId="Excel.Sheet.12">
                  <p:embed/>
                </p:oleObj>
              </mc:Choice>
              <mc:Fallback>
                <p:oleObj name="Worksheet" r:id="rId2" imgW="5867451" imgH="1609793" progId="Excel.Sheet.12">
                  <p:embed/>
                  <p:pic>
                    <p:nvPicPr>
                      <p:cNvPr id="4" name="Objet 3">
                        <a:extLst>
                          <a:ext uri="{FF2B5EF4-FFF2-40B4-BE49-F238E27FC236}">
                            <a16:creationId xmlns:a16="http://schemas.microsoft.com/office/drawing/2014/main" id="{004C7FB1-3D4E-4A37-B169-33C4F9F49D20}"/>
                          </a:ext>
                        </a:extLst>
                      </p:cNvPr>
                      <p:cNvPicPr/>
                      <p:nvPr/>
                    </p:nvPicPr>
                    <p:blipFill>
                      <a:blip r:embed="rId3"/>
                      <a:stretch>
                        <a:fillRect/>
                      </a:stretch>
                    </p:blipFill>
                    <p:spPr>
                      <a:xfrm>
                        <a:off x="1444471" y="2962969"/>
                        <a:ext cx="5867400" cy="1609725"/>
                      </a:xfrm>
                      <a:prstGeom prst="rect">
                        <a:avLst/>
                      </a:prstGeom>
                    </p:spPr>
                  </p:pic>
                </p:oleObj>
              </mc:Fallback>
            </mc:AlternateContent>
          </a:graphicData>
        </a:graphic>
      </p:graphicFrame>
    </p:spTree>
    <p:extLst>
      <p:ext uri="{BB962C8B-B14F-4D97-AF65-F5344CB8AC3E}">
        <p14:creationId xmlns:p14="http://schemas.microsoft.com/office/powerpoint/2010/main" val="1255448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Soustraction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Comme pour l’addition, la soustraction se comporte comme en base 10 en tenant compte de la base comme nouvelle référence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0 – 1 nécessite une retenue pour faire 10 -1 = 1, cette retenue empruntée à la puissance plus élevée doit ensuite être déduite à la puissance suivante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1 = 0, 0 – 0 = 0 et 1 – 0 = 1</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03EE6FFE-45D2-4040-80CC-4346C95165E0}"/>
              </a:ext>
            </a:extLst>
          </p:cNvPr>
          <p:cNvGraphicFramePr>
            <a:graphicFrameLocks noChangeAspect="1"/>
          </p:cNvGraphicFramePr>
          <p:nvPr>
            <p:extLst>
              <p:ext uri="{D42A27DB-BD31-4B8C-83A1-F6EECF244321}">
                <p14:modId xmlns:p14="http://schemas.microsoft.com/office/powerpoint/2010/main" val="1337999867"/>
              </p:ext>
            </p:extLst>
          </p:nvPr>
        </p:nvGraphicFramePr>
        <p:xfrm>
          <a:off x="1700032" y="2559960"/>
          <a:ext cx="5743575" cy="1876425"/>
        </p:xfrm>
        <a:graphic>
          <a:graphicData uri="http://schemas.openxmlformats.org/presentationml/2006/ole">
            <mc:AlternateContent xmlns:mc="http://schemas.openxmlformats.org/markup-compatibility/2006">
              <mc:Choice xmlns:v="urn:schemas-microsoft-com:vml" Requires="v">
                <p:oleObj name="Worksheet" r:id="rId2" imgW="5743594" imgH="1876459" progId="Excel.Sheet.12">
                  <p:embed/>
                </p:oleObj>
              </mc:Choice>
              <mc:Fallback>
                <p:oleObj name="Worksheet" r:id="rId2" imgW="5743594" imgH="1876459" progId="Excel.Sheet.12">
                  <p:embed/>
                  <p:pic>
                    <p:nvPicPr>
                      <p:cNvPr id="0" name=""/>
                      <p:cNvPicPr/>
                      <p:nvPr/>
                    </p:nvPicPr>
                    <p:blipFill>
                      <a:blip r:embed="rId3"/>
                      <a:stretch>
                        <a:fillRect/>
                      </a:stretch>
                    </p:blipFill>
                    <p:spPr>
                      <a:xfrm>
                        <a:off x="1700032" y="2559960"/>
                        <a:ext cx="5743575" cy="1876425"/>
                      </a:xfrm>
                      <a:prstGeom prst="rect">
                        <a:avLst/>
                      </a:prstGeom>
                    </p:spPr>
                  </p:pic>
                </p:oleObj>
              </mc:Fallback>
            </mc:AlternateContent>
          </a:graphicData>
        </a:graphic>
      </p:graphicFrame>
    </p:spTree>
    <p:extLst>
      <p:ext uri="{BB962C8B-B14F-4D97-AF65-F5344CB8AC3E}">
        <p14:creationId xmlns:p14="http://schemas.microsoft.com/office/powerpoint/2010/main" val="2220283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Multiplication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Comme pour l’addition, la multiplication se comporte comme en base 10 en tenant compte de la base comme nouvelle référence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résultat peut être testé avec une calculatrice scientifique.</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4" name="Objet 3">
            <a:extLst>
              <a:ext uri="{FF2B5EF4-FFF2-40B4-BE49-F238E27FC236}">
                <a16:creationId xmlns:a16="http://schemas.microsoft.com/office/drawing/2014/main" id="{3D69F3B0-A81C-4CCC-8AFF-BE633F40A32F}"/>
              </a:ext>
            </a:extLst>
          </p:cNvPr>
          <p:cNvGraphicFramePr>
            <a:graphicFrameLocks noChangeAspect="1"/>
          </p:cNvGraphicFramePr>
          <p:nvPr>
            <p:extLst>
              <p:ext uri="{D42A27DB-BD31-4B8C-83A1-F6EECF244321}">
                <p14:modId xmlns:p14="http://schemas.microsoft.com/office/powerpoint/2010/main" val="659420371"/>
              </p:ext>
            </p:extLst>
          </p:nvPr>
        </p:nvGraphicFramePr>
        <p:xfrm>
          <a:off x="1900057" y="2676665"/>
          <a:ext cx="5343525" cy="2676525"/>
        </p:xfrm>
        <a:graphic>
          <a:graphicData uri="http://schemas.openxmlformats.org/presentationml/2006/ole">
            <mc:AlternateContent xmlns:mc="http://schemas.openxmlformats.org/markup-compatibility/2006">
              <mc:Choice xmlns:v="urn:schemas-microsoft-com:vml" Requires="v">
                <p:oleObj name="Worksheet" r:id="rId2" imgW="5343582" imgH="2676457" progId="Excel.Sheet.12">
                  <p:embed/>
                </p:oleObj>
              </mc:Choice>
              <mc:Fallback>
                <p:oleObj name="Worksheet" r:id="rId2" imgW="5343582" imgH="2676457" progId="Excel.Sheet.12">
                  <p:embed/>
                  <p:pic>
                    <p:nvPicPr>
                      <p:cNvPr id="0" name=""/>
                      <p:cNvPicPr/>
                      <p:nvPr/>
                    </p:nvPicPr>
                    <p:blipFill>
                      <a:blip r:embed="rId3"/>
                      <a:stretch>
                        <a:fillRect/>
                      </a:stretch>
                    </p:blipFill>
                    <p:spPr>
                      <a:xfrm>
                        <a:off x="1900057" y="2676665"/>
                        <a:ext cx="5343525" cy="2676525"/>
                      </a:xfrm>
                      <a:prstGeom prst="rect">
                        <a:avLst/>
                      </a:prstGeom>
                    </p:spPr>
                  </p:pic>
                </p:oleObj>
              </mc:Fallback>
            </mc:AlternateContent>
          </a:graphicData>
        </a:graphic>
      </p:graphicFrame>
    </p:spTree>
    <p:extLst>
      <p:ext uri="{BB962C8B-B14F-4D97-AF65-F5344CB8AC3E}">
        <p14:creationId xmlns:p14="http://schemas.microsoft.com/office/powerpoint/2010/main" val="1847429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Division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Comme pour l’addition, la division se comporte comme en base 10 en tenant compte de la base comme nouvelle référence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résultat peut être testé avec une calculatrice scientifique.</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3" name="Objet 2">
            <a:extLst>
              <a:ext uri="{FF2B5EF4-FFF2-40B4-BE49-F238E27FC236}">
                <a16:creationId xmlns:a16="http://schemas.microsoft.com/office/drawing/2014/main" id="{70F4C63F-995C-4B31-9936-C2DEA8BBE0F3}"/>
              </a:ext>
            </a:extLst>
          </p:cNvPr>
          <p:cNvGraphicFramePr>
            <a:graphicFrameLocks noChangeAspect="1"/>
          </p:cNvGraphicFramePr>
          <p:nvPr>
            <p:extLst>
              <p:ext uri="{D42A27DB-BD31-4B8C-83A1-F6EECF244321}">
                <p14:modId xmlns:p14="http://schemas.microsoft.com/office/powerpoint/2010/main" val="1927347384"/>
              </p:ext>
            </p:extLst>
          </p:nvPr>
        </p:nvGraphicFramePr>
        <p:xfrm>
          <a:off x="294915" y="2559960"/>
          <a:ext cx="8391525" cy="3209925"/>
        </p:xfrm>
        <a:graphic>
          <a:graphicData uri="http://schemas.openxmlformats.org/presentationml/2006/ole">
            <mc:AlternateContent xmlns:mc="http://schemas.openxmlformats.org/markup-compatibility/2006">
              <mc:Choice xmlns:v="urn:schemas-microsoft-com:vml" Requires="v">
                <p:oleObj name="Worksheet" r:id="rId2" imgW="8391378" imgH="3209789" progId="Excel.Sheet.12">
                  <p:embed/>
                </p:oleObj>
              </mc:Choice>
              <mc:Fallback>
                <p:oleObj name="Worksheet" r:id="rId2" imgW="8391378" imgH="3209789" progId="Excel.Sheet.12">
                  <p:embed/>
                  <p:pic>
                    <p:nvPicPr>
                      <p:cNvPr id="0" name=""/>
                      <p:cNvPicPr/>
                      <p:nvPr/>
                    </p:nvPicPr>
                    <p:blipFill>
                      <a:blip r:embed="rId3"/>
                      <a:stretch>
                        <a:fillRect/>
                      </a:stretch>
                    </p:blipFill>
                    <p:spPr>
                      <a:xfrm>
                        <a:off x="294915" y="2559960"/>
                        <a:ext cx="8391525" cy="3209925"/>
                      </a:xfrm>
                      <a:prstGeom prst="rect">
                        <a:avLst/>
                      </a:prstGeom>
                    </p:spPr>
                  </p:pic>
                </p:oleObj>
              </mc:Fallback>
            </mc:AlternateContent>
          </a:graphicData>
        </a:graphic>
      </p:graphicFrame>
    </p:spTree>
    <p:extLst>
      <p:ext uri="{BB962C8B-B14F-4D97-AF65-F5344CB8AC3E}">
        <p14:creationId xmlns:p14="http://schemas.microsoft.com/office/powerpoint/2010/main" val="656791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Exemple d’opération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11101 + 1101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1100011 + 11100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1001101 – 1010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110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 * 10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11110 / 10</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16014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Algorithme d’opération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un algorithme qui affiche les tables de multiplication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qui vérifie que le contenu d’une chaine de caractères est un nombre décimal valide.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Modifier l’algorithme précédent pour vérifier si la chaine contient un nombre hexadécimal valide.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qui retourne le nombre de 1 dans un nombre binaire.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qui inverse un nombre binaire.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additionne 2 bits et retourne le résultat.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4266790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Arrondi sur les nombre de base 10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L’arrondi est une valeur proche de la valeur initiale exprimé avec une certaine précision. Par exemple, pour le nombre 174,826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la dizaine près est 170, car </a:t>
            </a:r>
            <a:r>
              <a:rPr lang="fr-FR" sz="2400" spc="-1" dirty="0">
                <a:solidFill>
                  <a:srgbClr val="00B050"/>
                </a:solidFill>
                <a:latin typeface="Arial"/>
              </a:rPr>
              <a:t>170</a:t>
            </a:r>
            <a:r>
              <a:rPr lang="fr-FR" sz="2400" spc="-1" dirty="0">
                <a:solidFill>
                  <a:srgbClr val="376092"/>
                </a:solidFill>
                <a:latin typeface="Arial"/>
              </a:rPr>
              <a:t> &lt; 174,826 &lt; 180 mais 174,826 est plus proche de 170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l’unité 174 &lt; 174,826 &lt; </a:t>
            </a:r>
            <a:r>
              <a:rPr lang="fr-FR" sz="2400" spc="-1" dirty="0">
                <a:solidFill>
                  <a:srgbClr val="00B050"/>
                </a:solidFill>
                <a:latin typeface="Arial"/>
              </a:rPr>
              <a:t>175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au dixième </a:t>
            </a:r>
            <a:r>
              <a:rPr lang="fr-FR" sz="2400" spc="-1" dirty="0">
                <a:solidFill>
                  <a:srgbClr val="00B050"/>
                </a:solidFill>
                <a:latin typeface="Arial"/>
              </a:rPr>
              <a:t>174,8</a:t>
            </a:r>
            <a:r>
              <a:rPr lang="fr-FR" sz="2400" spc="-1" dirty="0">
                <a:solidFill>
                  <a:srgbClr val="376092"/>
                </a:solidFill>
                <a:latin typeface="Arial"/>
              </a:rPr>
              <a:t> &lt; 174,826 &lt; 174,9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au centième 174,82 &lt; 174,826 &lt; </a:t>
            </a:r>
            <a:r>
              <a:rPr lang="fr-FR" sz="2400" spc="-1" dirty="0">
                <a:solidFill>
                  <a:srgbClr val="00B050"/>
                </a:solidFill>
                <a:latin typeface="Arial"/>
              </a:rPr>
              <a:t>174,83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principe est généralisé pour les autres bases.</a:t>
            </a: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649978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Arrondi sur les nombre de base 2 et 16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(110,1011)</a:t>
            </a:r>
            <a:r>
              <a:rPr lang="fr-FR" sz="2400" spc="-1" baseline="-25000" dirty="0">
                <a:solidFill>
                  <a:srgbClr val="376092"/>
                </a:solidFill>
                <a:latin typeface="Arial"/>
              </a:rPr>
              <a:t>2</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la dizaine </a:t>
            </a:r>
            <a:r>
              <a:rPr lang="fr-FR" sz="2400" spc="-1" dirty="0">
                <a:solidFill>
                  <a:srgbClr val="00B050"/>
                </a:solidFill>
                <a:latin typeface="Arial"/>
              </a:rPr>
              <a:t>(110)</a:t>
            </a:r>
            <a:r>
              <a:rPr lang="fr-FR" sz="2400" spc="-1" baseline="-25000" dirty="0">
                <a:solidFill>
                  <a:srgbClr val="00B050"/>
                </a:solidFill>
                <a:latin typeface="Arial"/>
              </a:rPr>
              <a:t>2</a:t>
            </a:r>
            <a:r>
              <a:rPr lang="fr-FR" sz="2400" spc="-1" dirty="0">
                <a:solidFill>
                  <a:srgbClr val="00B050"/>
                </a:solidFill>
                <a:latin typeface="Arial"/>
              </a:rPr>
              <a:t> </a:t>
            </a:r>
            <a:r>
              <a:rPr lang="fr-FR" sz="2400" spc="-1" dirty="0">
                <a:solidFill>
                  <a:srgbClr val="376092"/>
                </a:solidFill>
                <a:latin typeface="Arial"/>
              </a:rPr>
              <a:t>&lt; (110,1011)</a:t>
            </a:r>
            <a:r>
              <a:rPr lang="fr-FR" sz="2400" spc="-1" baseline="-25000" dirty="0">
                <a:solidFill>
                  <a:srgbClr val="376092"/>
                </a:solidFill>
                <a:latin typeface="Arial"/>
              </a:rPr>
              <a:t>2</a:t>
            </a:r>
            <a:r>
              <a:rPr lang="fr-FR" sz="2400" spc="-1" dirty="0">
                <a:solidFill>
                  <a:srgbClr val="376092"/>
                </a:solidFill>
                <a:latin typeface="Arial"/>
              </a:rPr>
              <a:t> &lt; (1000)</a:t>
            </a:r>
            <a:r>
              <a:rPr lang="fr-FR" sz="2400" spc="-1" baseline="-25000" dirty="0">
                <a:solidFill>
                  <a:srgbClr val="376092"/>
                </a:solidFill>
                <a:latin typeface="Arial"/>
              </a:rPr>
              <a:t>2</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l’unité (110)</a:t>
            </a:r>
            <a:r>
              <a:rPr lang="fr-FR" sz="2400" spc="-1" baseline="-25000" dirty="0">
                <a:solidFill>
                  <a:srgbClr val="376092"/>
                </a:solidFill>
                <a:latin typeface="Arial"/>
              </a:rPr>
              <a:t>2</a:t>
            </a:r>
            <a:r>
              <a:rPr lang="fr-FR" sz="2400" spc="-1" dirty="0">
                <a:solidFill>
                  <a:srgbClr val="376092"/>
                </a:solidFill>
                <a:latin typeface="Arial"/>
              </a:rPr>
              <a:t> &lt; (110,1011)</a:t>
            </a:r>
            <a:r>
              <a:rPr lang="fr-FR" sz="2400" spc="-1" baseline="-25000" dirty="0">
                <a:solidFill>
                  <a:srgbClr val="376092"/>
                </a:solidFill>
                <a:latin typeface="Arial"/>
              </a:rPr>
              <a:t>2</a:t>
            </a:r>
            <a:r>
              <a:rPr lang="fr-FR" sz="2400" spc="-1" dirty="0">
                <a:solidFill>
                  <a:srgbClr val="376092"/>
                </a:solidFill>
                <a:latin typeface="Arial"/>
              </a:rPr>
              <a:t> &lt; </a:t>
            </a:r>
            <a:r>
              <a:rPr lang="fr-FR" sz="2400" spc="-1" dirty="0">
                <a:solidFill>
                  <a:srgbClr val="00B050"/>
                </a:solidFill>
                <a:latin typeface="Arial"/>
              </a:rPr>
              <a:t>(111)</a:t>
            </a:r>
            <a:r>
              <a:rPr lang="fr-FR" sz="2400" spc="-1" baseline="-25000" dirty="0">
                <a:solidFill>
                  <a:srgbClr val="00B050"/>
                </a:solidFill>
                <a:latin typeface="Arial"/>
              </a:rPr>
              <a:t>2</a:t>
            </a:r>
            <a:endParaRPr lang="fr-FR" sz="2400" spc="-1" dirty="0">
              <a:solidFill>
                <a:srgbClr val="00B050"/>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au dixième (110,10)</a:t>
            </a:r>
            <a:r>
              <a:rPr lang="fr-FR" sz="2400" spc="-1" baseline="-25000" dirty="0">
                <a:solidFill>
                  <a:srgbClr val="376092"/>
                </a:solidFill>
                <a:latin typeface="Arial"/>
              </a:rPr>
              <a:t>2</a:t>
            </a:r>
            <a:r>
              <a:rPr lang="fr-FR" sz="2400" spc="-1" dirty="0">
                <a:solidFill>
                  <a:srgbClr val="376092"/>
                </a:solidFill>
                <a:latin typeface="Arial"/>
              </a:rPr>
              <a:t> &lt; (110,1011)</a:t>
            </a:r>
            <a:r>
              <a:rPr lang="fr-FR" sz="2400" spc="-1" baseline="-25000" dirty="0">
                <a:solidFill>
                  <a:srgbClr val="376092"/>
                </a:solidFill>
                <a:latin typeface="Arial"/>
              </a:rPr>
              <a:t>2</a:t>
            </a:r>
            <a:r>
              <a:rPr lang="fr-FR" sz="2400" spc="-1" dirty="0">
                <a:solidFill>
                  <a:srgbClr val="376092"/>
                </a:solidFill>
                <a:latin typeface="Arial"/>
              </a:rPr>
              <a:t> &lt; </a:t>
            </a:r>
            <a:r>
              <a:rPr lang="fr-FR" sz="2400" spc="-1" dirty="0">
                <a:solidFill>
                  <a:srgbClr val="00B050"/>
                </a:solidFill>
                <a:latin typeface="Arial"/>
              </a:rPr>
              <a:t>(110,11)</a:t>
            </a:r>
            <a:r>
              <a:rPr lang="fr-FR" sz="2400" spc="-1" baseline="-25000" dirty="0">
                <a:solidFill>
                  <a:srgbClr val="00B050"/>
                </a:solidFill>
                <a:latin typeface="Arial"/>
              </a:rPr>
              <a:t>2</a:t>
            </a: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(9C51,3D1)</a:t>
            </a:r>
            <a:r>
              <a:rPr lang="fr-FR" sz="2400" spc="-1" baseline="-25000" dirty="0">
                <a:solidFill>
                  <a:srgbClr val="376092"/>
                </a:solidFill>
                <a:latin typeface="Arial"/>
              </a:rPr>
              <a:t>16</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la dizaine </a:t>
            </a:r>
            <a:r>
              <a:rPr lang="fr-FR" sz="2400" spc="-1" dirty="0">
                <a:solidFill>
                  <a:srgbClr val="00B050"/>
                </a:solidFill>
                <a:latin typeface="Arial"/>
              </a:rPr>
              <a:t>(9C50)</a:t>
            </a:r>
            <a:r>
              <a:rPr lang="fr-FR" sz="2400" spc="-1" baseline="-25000" dirty="0">
                <a:solidFill>
                  <a:srgbClr val="00B050"/>
                </a:solidFill>
                <a:latin typeface="Arial"/>
              </a:rPr>
              <a:t>16</a:t>
            </a:r>
            <a:r>
              <a:rPr lang="fr-FR" sz="2400" spc="-1" dirty="0">
                <a:solidFill>
                  <a:srgbClr val="00B050"/>
                </a:solidFill>
                <a:latin typeface="Arial"/>
              </a:rPr>
              <a:t> </a:t>
            </a:r>
            <a:r>
              <a:rPr lang="fr-FR" sz="2400" spc="-1" dirty="0">
                <a:solidFill>
                  <a:srgbClr val="376092"/>
                </a:solidFill>
                <a:latin typeface="Arial"/>
              </a:rPr>
              <a:t>&lt; (9C51,3D1)</a:t>
            </a:r>
            <a:r>
              <a:rPr lang="fr-FR" sz="2400" spc="-1" baseline="-25000" dirty="0">
                <a:solidFill>
                  <a:srgbClr val="376092"/>
                </a:solidFill>
                <a:latin typeface="Arial"/>
              </a:rPr>
              <a:t>16</a:t>
            </a:r>
            <a:r>
              <a:rPr lang="fr-FR" sz="2400" spc="-1" dirty="0">
                <a:solidFill>
                  <a:srgbClr val="376092"/>
                </a:solidFill>
                <a:latin typeface="Arial"/>
              </a:rPr>
              <a:t> &lt; (9C60)</a:t>
            </a:r>
            <a:r>
              <a:rPr lang="fr-FR" sz="2400" spc="-1" baseline="-25000" dirty="0">
                <a:solidFill>
                  <a:srgbClr val="376092"/>
                </a:solidFill>
                <a:latin typeface="Arial"/>
              </a:rPr>
              <a:t>16</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à l’unité </a:t>
            </a:r>
            <a:r>
              <a:rPr lang="fr-FR" sz="2400" spc="-1" dirty="0">
                <a:solidFill>
                  <a:srgbClr val="00B050"/>
                </a:solidFill>
                <a:latin typeface="Arial"/>
              </a:rPr>
              <a:t>(9C51)</a:t>
            </a:r>
            <a:r>
              <a:rPr lang="fr-FR" sz="2400" spc="-1" baseline="-25000" dirty="0">
                <a:solidFill>
                  <a:srgbClr val="00B050"/>
                </a:solidFill>
                <a:latin typeface="Arial"/>
              </a:rPr>
              <a:t>16</a:t>
            </a:r>
            <a:r>
              <a:rPr lang="fr-FR" sz="2400" spc="-1" dirty="0">
                <a:solidFill>
                  <a:srgbClr val="00B050"/>
                </a:solidFill>
                <a:latin typeface="Arial"/>
              </a:rPr>
              <a:t> </a:t>
            </a:r>
            <a:r>
              <a:rPr lang="fr-FR" sz="2400" spc="-1" dirty="0">
                <a:solidFill>
                  <a:srgbClr val="376092"/>
                </a:solidFill>
                <a:latin typeface="Arial"/>
              </a:rPr>
              <a:t>&lt; (9C51,3D1)</a:t>
            </a:r>
            <a:r>
              <a:rPr lang="fr-FR" sz="2400" spc="-1" baseline="-25000" dirty="0">
                <a:solidFill>
                  <a:srgbClr val="376092"/>
                </a:solidFill>
                <a:latin typeface="Arial"/>
              </a:rPr>
              <a:t>16</a:t>
            </a:r>
            <a:r>
              <a:rPr lang="fr-FR" sz="2400" spc="-1" dirty="0">
                <a:solidFill>
                  <a:srgbClr val="376092"/>
                </a:solidFill>
                <a:latin typeface="Arial"/>
              </a:rPr>
              <a:t> &lt; (9C52)</a:t>
            </a:r>
            <a:r>
              <a:rPr lang="fr-FR" sz="2400" spc="-1" baseline="-25000" dirty="0">
                <a:solidFill>
                  <a:srgbClr val="376092"/>
                </a:solidFill>
                <a:latin typeface="Arial"/>
              </a:rPr>
              <a:t>16</a:t>
            </a:r>
            <a:r>
              <a:rPr lang="fr-FR" sz="2400" spc="-1" dirty="0">
                <a:solidFill>
                  <a:srgbClr val="376092"/>
                </a:solidFill>
                <a:latin typeface="Arial"/>
              </a:rPr>
              <a:t> </a:t>
            </a:r>
            <a:endParaRPr lang="fr-FR" sz="2400" spc="-1" dirty="0">
              <a:solidFill>
                <a:srgbClr val="00B050"/>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L’arrondi au dixième </a:t>
            </a:r>
            <a:r>
              <a:rPr lang="fr-FR" sz="2400" spc="-1" dirty="0">
                <a:solidFill>
                  <a:srgbClr val="00B050"/>
                </a:solidFill>
                <a:latin typeface="Arial"/>
              </a:rPr>
              <a:t>(9C51,3D)</a:t>
            </a:r>
            <a:r>
              <a:rPr lang="fr-FR" sz="2400" spc="-1" baseline="-25000" dirty="0">
                <a:solidFill>
                  <a:srgbClr val="00B050"/>
                </a:solidFill>
                <a:latin typeface="Arial"/>
              </a:rPr>
              <a:t>16</a:t>
            </a:r>
            <a:r>
              <a:rPr lang="fr-FR" sz="2400" spc="-1" dirty="0">
                <a:solidFill>
                  <a:srgbClr val="00B050"/>
                </a:solidFill>
                <a:latin typeface="Arial"/>
              </a:rPr>
              <a:t> </a:t>
            </a:r>
            <a:r>
              <a:rPr lang="fr-FR" sz="2400" spc="-1" dirty="0">
                <a:solidFill>
                  <a:srgbClr val="376092"/>
                </a:solidFill>
                <a:latin typeface="Arial"/>
              </a:rPr>
              <a:t>&lt; (9C51,3D1)</a:t>
            </a:r>
            <a:r>
              <a:rPr lang="fr-FR" sz="2400" spc="-1" baseline="-25000" dirty="0">
                <a:solidFill>
                  <a:srgbClr val="376092"/>
                </a:solidFill>
                <a:latin typeface="Arial"/>
              </a:rPr>
              <a:t>16</a:t>
            </a:r>
            <a:r>
              <a:rPr lang="fr-FR" sz="2400" spc="-1" dirty="0">
                <a:solidFill>
                  <a:srgbClr val="376092"/>
                </a:solidFill>
                <a:latin typeface="Arial"/>
              </a:rPr>
              <a:t> &lt; (9C51,3E)</a:t>
            </a:r>
            <a:r>
              <a:rPr lang="fr-FR" sz="2400" spc="-1" baseline="-25000" dirty="0">
                <a:solidFill>
                  <a:srgbClr val="376092"/>
                </a:solidFill>
                <a:latin typeface="Arial"/>
              </a:rPr>
              <a:t>16</a:t>
            </a:r>
            <a:r>
              <a:rPr lang="fr-FR" sz="2400" spc="-1" dirty="0">
                <a:solidFill>
                  <a:srgbClr val="376092"/>
                </a:solidFill>
                <a:latin typeface="Arial"/>
              </a:rPr>
              <a:t> </a:t>
            </a: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212363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Systèmes de numération – Exemple d’arrondis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retourne la valeur absolue d’un nombre.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retourne la valeur décimale arrondie à l’inférieur.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Modifier l’algorithme précédent pour arrondir la valeur au supérieur.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affiche la valeur scientifique d’une valeur.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l’algorithme de la fonction qui vérifie qu’une lettre se trouve dans une chaine donnée.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Modifier l’algorithme pour obtenir le rang de la lettre si trouvée.</a:t>
            </a:r>
          </a:p>
          <a:p>
            <a:pPr marL="432000"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00B050"/>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4041156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Nombres premiers:</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nombre est dit premier s’il possède exactement 2 diviseurs (1 et le nombre lui-même)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Quelques cas particuliers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n’est pas premier car il possède une infinité de diviseurs (et non pas 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n’est pas premier cas il ne possède qu’un seul diviseur.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 est un entier naturel &gt; 2 et n’est pas premier, alors n possède au moins un diviseur d tel que 1 &lt; d &lt;= √n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Pour expliquer ce théorème, cherchons les diviseurs du nombre 64.</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fois la liste des diviseurs disponible, exprimons la valeur 64 au travers des multiplications possibles.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553331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Nombres premiers et algorithmie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théorème que nous venons de voir est très important car il permet de mettre un algorithme de calcul beaucoup plus optimisé.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effet, parcourir tous les nombres de 2 à √n est plus rapide que de parcourir tous les nombres de 2 à n.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retourne tous les diviseurs d’un nombre donné en paramètre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Par un parcours de 2 à 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Modifier la fonction pour utiliser le théorème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Comment utiliser cette fonction pour déterminer si un nombre est premier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742699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Nombres premiers et décomposition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Un nombr</a:t>
            </a:r>
            <a:r>
              <a:rPr lang="fr-FR" sz="2200" spc="-1" dirty="0">
                <a:solidFill>
                  <a:srgbClr val="376092"/>
                </a:solidFill>
                <a:latin typeface="Arial"/>
              </a:rPr>
              <a:t>e premier n’est pas divisible. Un nombre non premier, quant à lui, peut toujours être écrit sous forme d’un produit.</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Au bout des décompositions successives nous arrivons à un produit de nombres premiers (plus de décomposition possible).</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Tout entier naturel &gt; 1 se décompose de façon unique en un produit de facteurs premiers.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Exemple de décomposition de la valeur 64 :</a:t>
            </a:r>
          </a:p>
          <a:p>
            <a:pPr marL="889200" lvl="2" indent="-324000">
              <a:spcAft>
                <a:spcPts val="1060"/>
              </a:spcAft>
              <a:buClr>
                <a:srgbClr val="000000"/>
              </a:buClr>
              <a:buSzPct val="45000"/>
              <a:buFont typeface="Wingdings" charset="2"/>
              <a:buChar char=""/>
            </a:pPr>
            <a:r>
              <a:rPr lang="fr-FR" sz="2200" spc="-1" dirty="0">
                <a:solidFill>
                  <a:srgbClr val="376092"/>
                </a:solidFill>
                <a:latin typeface="Arial"/>
              </a:rPr>
              <a:t>Prenons la liste des premiers nombres premiers : 2, 3, 5, 7, 11, 13, 17.</a:t>
            </a:r>
          </a:p>
          <a:p>
            <a:pPr marL="889200" lvl="2" indent="-324000">
              <a:spcAft>
                <a:spcPts val="1060"/>
              </a:spcAft>
              <a:buClr>
                <a:srgbClr val="000000"/>
              </a:buClr>
              <a:buSzPct val="45000"/>
              <a:buFont typeface="Wingdings" charset="2"/>
              <a:buChar char=""/>
            </a:pPr>
            <a:r>
              <a:rPr lang="fr-FR" sz="2200" spc="-1" dirty="0">
                <a:solidFill>
                  <a:srgbClr val="376092"/>
                </a:solidFill>
                <a:latin typeface="Arial"/>
              </a:rPr>
              <a:t>Prenons la liste de puis le début et vérifions que 84 est divisible par chacun d’entre eux.</a:t>
            </a:r>
          </a:p>
          <a:p>
            <a:pPr marL="889200" lvl="2" indent="-324000">
              <a:spcAft>
                <a:spcPts val="1060"/>
              </a:spcAft>
              <a:buClr>
                <a:srgbClr val="000000"/>
              </a:buClr>
              <a:buSzPct val="45000"/>
              <a:buFont typeface="Wingdings" charset="2"/>
              <a:buChar char=""/>
            </a:pPr>
            <a:r>
              <a:rPr lang="fr-FR" sz="2200" spc="-1" dirty="0">
                <a:solidFill>
                  <a:srgbClr val="376092"/>
                </a:solidFill>
                <a:latin typeface="Arial"/>
              </a:rPr>
              <a:t>Si une division est possible</a:t>
            </a:r>
            <a:r>
              <a:rPr lang="fr-FR" sz="2200" spc="-1">
                <a:solidFill>
                  <a:srgbClr val="376092"/>
                </a:solidFill>
                <a:latin typeface="Arial"/>
              </a:rPr>
              <a:t>, recommencer </a:t>
            </a:r>
            <a:r>
              <a:rPr lang="fr-FR" sz="2200" spc="-1" dirty="0">
                <a:solidFill>
                  <a:srgbClr val="376092"/>
                </a:solidFill>
                <a:latin typeface="Arial"/>
              </a:rPr>
              <a:t>depuis le début.</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461104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Nombres premiers et décomposition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spc="-1" dirty="0">
                <a:solidFill>
                  <a:srgbClr val="376092"/>
                </a:solidFill>
                <a:latin typeface="Arial"/>
              </a:rPr>
              <a:t>8</a:t>
            </a:r>
            <a:r>
              <a:rPr lang="fr-FR" sz="2200" b="0" strike="noStrike" spc="-1" dirty="0">
                <a:solidFill>
                  <a:srgbClr val="376092"/>
                </a:solidFill>
                <a:latin typeface="Arial"/>
              </a:rPr>
              <a:t>4 = 2 x 42</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84 = 2 x 2 x 21</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84 = 2 x 2 x 3 x 7</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Tous les termes de la multiplication sont des nombres premiers,  la décomposition est terminée.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Cette décomposition permet également de retrouver tous les diviseurs de 64 en calculant toutes les possibilités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terme : 2, 3, 7</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 termes : 2x2=4, 2x3=6, 2x7=14, 3x7=21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3 termes : 2x2x3=12, 2x2x7=28, 2x3x7=42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4 termes : 2x2x3x7=84</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Et s’il fallait donner l’algorithme de la décomposition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334011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Plus grand commun diviseur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Nous venons de voir comment retrouver les diviseurs d’un nombre.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Imaginons que nous avons la liste L1 de tous les diviseurs de l’entier naturel a et que nous avons la liste L2 de tous les diviseurs de l’entier naturel b.</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Le PGCD(</a:t>
            </a:r>
            <a:r>
              <a:rPr lang="fr-FR" sz="2200" spc="-1" dirty="0" err="1">
                <a:solidFill>
                  <a:srgbClr val="376092"/>
                </a:solidFill>
                <a:latin typeface="Arial"/>
              </a:rPr>
              <a:t>a,b</a:t>
            </a:r>
            <a:r>
              <a:rPr lang="fr-FR" sz="2200" spc="-1" dirty="0">
                <a:solidFill>
                  <a:srgbClr val="376092"/>
                </a:solidFill>
                <a:latin typeface="Arial"/>
              </a:rPr>
              <a:t>) est le plus grand nombre qui se trouve à la fois dans L1 et dans L2.</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Si le PGCD(a, b) = 1, alors on dit que a et b sont premiers entre eux.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Calculons PGCD(36, 24)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Cherchons les tous les diviseurs des deux nombres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Cherchons les diviseurs communs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Le PGCD est le plus grand des diviseurs communs.</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22396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Plus grand commun diviseur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50900" indent="-324000">
              <a:spcAft>
                <a:spcPts val="1060"/>
              </a:spcAft>
              <a:buClr>
                <a:srgbClr val="000000"/>
              </a:buClr>
              <a:buSzPct val="45000"/>
              <a:buFont typeface="Wingdings" charset="2"/>
              <a:buChar char=""/>
            </a:pPr>
            <a:r>
              <a:rPr lang="fr-FR" sz="2400" spc="-1" dirty="0">
                <a:solidFill>
                  <a:srgbClr val="376092"/>
                </a:solidFill>
                <a:latin typeface="Arial"/>
              </a:rPr>
              <a:t>Imaginons une fonction qui retourne le PGCD de deux entiers fournis en paramètre.</a:t>
            </a:r>
          </a:p>
          <a:p>
            <a:pPr marL="908100" lvl="1" indent="-324000">
              <a:spcAft>
                <a:spcPts val="1060"/>
              </a:spcAft>
              <a:buClr>
                <a:srgbClr val="000000"/>
              </a:buClr>
              <a:buSzPct val="45000"/>
              <a:buFont typeface="Wingdings" charset="2"/>
              <a:buChar char=""/>
            </a:pPr>
            <a:r>
              <a:rPr lang="fr-FR" sz="2400" spc="-1" dirty="0">
                <a:solidFill>
                  <a:srgbClr val="376092"/>
                </a:solidFill>
                <a:latin typeface="Arial"/>
              </a:rPr>
              <a:t>Nous pouvons parcourir une boucle qui va évaluer chaque diviseur possible. Quelles sont les bornes de cette boucle ?</a:t>
            </a:r>
          </a:p>
          <a:p>
            <a:pPr marL="908100" lvl="1" indent="-324000">
              <a:spcAft>
                <a:spcPts val="1060"/>
              </a:spcAft>
              <a:buClr>
                <a:srgbClr val="000000"/>
              </a:buClr>
              <a:buSzPct val="45000"/>
              <a:buFont typeface="Wingdings" charset="2"/>
              <a:buChar char=""/>
            </a:pPr>
            <a:r>
              <a:rPr lang="fr-FR" sz="2400" spc="-1" dirty="0">
                <a:solidFill>
                  <a:srgbClr val="376092"/>
                </a:solidFill>
                <a:latin typeface="Arial"/>
              </a:rPr>
              <a:t>Vérifions si notre fonction donne les bons résultats pour a &lt; b et pour b &gt; a</a:t>
            </a:r>
          </a:p>
          <a:p>
            <a:pPr marL="908100" lvl="1" indent="-324000">
              <a:spcAft>
                <a:spcPts val="1060"/>
              </a:spcAft>
              <a:buClr>
                <a:srgbClr val="000000"/>
              </a:buClr>
              <a:buSzPct val="45000"/>
              <a:buFont typeface="Wingdings" charset="2"/>
              <a:buChar char=""/>
            </a:pPr>
            <a:r>
              <a:rPr lang="fr-FR" sz="2400" spc="-1" dirty="0">
                <a:solidFill>
                  <a:srgbClr val="376092"/>
                </a:solidFill>
                <a:latin typeface="Arial"/>
              </a:rPr>
              <a:t>Discutons des différentes solutions trouvées et terme d’optimisation.</a:t>
            </a:r>
          </a:p>
          <a:p>
            <a:pPr marL="889200" lvl="1"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098904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Algorithme d’Euclide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L’algorithme d’Euclide nous propose une optimisation de la recherche de PGCD.</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Nous avons vu plus haut la propriété suivante : « </a:t>
            </a:r>
            <a:r>
              <a:rPr lang="fr-FR" sz="2000" spc="-1" dirty="0">
                <a:solidFill>
                  <a:srgbClr val="376092"/>
                </a:solidFill>
                <a:latin typeface="Arial"/>
              </a:rPr>
              <a:t>Si a et b sont divisibles par c alors toute combinaison k1 x a + k2 x b est aussi divisible par c ».</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Selon cette propriété, est ce que c divise a – b ?</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Si oui, cela revient à dire que PGCD(a, b) = PGCD(b, a-b) (avec a&gt;b)</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Si a &gt; b alors a = b x quotient + reste et donc reste = a – b x quotient</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Selon la propriété haut-dessus, est ce que c divise le reste ?</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Si oui, cela revient à dire que PGCD(a, b) = PGCD(b, reste(</a:t>
            </a:r>
            <a:r>
              <a:rPr lang="fr-FR" sz="2000" spc="-1" dirty="0" err="1">
                <a:solidFill>
                  <a:srgbClr val="376092"/>
                </a:solidFill>
                <a:latin typeface="Arial"/>
              </a:rPr>
              <a:t>a,b</a:t>
            </a:r>
            <a:r>
              <a:rPr lang="fr-FR" sz="20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000" spc="-1" dirty="0">
                <a:solidFill>
                  <a:srgbClr val="376092"/>
                </a:solidFill>
                <a:latin typeface="Arial"/>
              </a:rPr>
              <a:t>Calculons le PGCD de 32 et 24 avec les deux méthodes :</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Soustraction</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Reste</a:t>
            </a:r>
          </a:p>
          <a:p>
            <a:pPr marL="432000" indent="-324000">
              <a:spcAft>
                <a:spcPts val="1060"/>
              </a:spcAft>
              <a:buClr>
                <a:srgbClr val="000000"/>
              </a:buClr>
              <a:buSzPct val="45000"/>
              <a:buFont typeface="Wingdings" charset="2"/>
              <a:buChar char=""/>
            </a:pPr>
            <a:endParaRPr lang="fr-FR" sz="20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0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018011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Algorithme d’Euclide et algorithmie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000" spc="-1" dirty="0">
                <a:solidFill>
                  <a:srgbClr val="376092"/>
                </a:solidFill>
                <a:latin typeface="Arial"/>
              </a:rPr>
              <a:t>Ecrire une fonction PGCD qui va utiliser l’algorithme d’Euclide.</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Soit sous forme itérative</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Soit sous forme récursive</a:t>
            </a:r>
          </a:p>
          <a:p>
            <a:pPr marL="565200" lvl="1">
              <a:spcAft>
                <a:spcPts val="1060"/>
              </a:spcAft>
              <a:buClr>
                <a:srgbClr val="000000"/>
              </a:buClr>
              <a:buSzPct val="45000"/>
            </a:pPr>
            <a:endParaRPr lang="fr-FR" sz="20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000" spc="-1" dirty="0">
                <a:solidFill>
                  <a:srgbClr val="376092"/>
                </a:solidFill>
                <a:latin typeface="Arial"/>
              </a:rPr>
              <a:t>On peut commencer par se poser les questions sur :</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Les conditions d’arrêt</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Comment passer d’une étape à une autre.</a:t>
            </a:r>
          </a:p>
          <a:p>
            <a:pPr marL="432000" indent="-324000">
              <a:spcAft>
                <a:spcPts val="1060"/>
              </a:spcAft>
              <a:buClr>
                <a:srgbClr val="000000"/>
              </a:buClr>
              <a:buSzPct val="45000"/>
              <a:buFont typeface="Wingdings" charset="2"/>
              <a:buChar char=""/>
            </a:pPr>
            <a:endParaRPr lang="fr-FR" sz="20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000" spc="-1" dirty="0">
                <a:solidFill>
                  <a:srgbClr val="376092"/>
                </a:solidFill>
                <a:latin typeface="Arial"/>
              </a:rPr>
              <a:t>Pour parler un peu de récursivité, prenons l’exemple de la fonction factorielle.</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N! = 1 * 2 * 3 * … * n</a:t>
            </a:r>
          </a:p>
          <a:p>
            <a:pPr marL="432000" indent="-324000">
              <a:spcAft>
                <a:spcPts val="1060"/>
              </a:spcAft>
              <a:buClr>
                <a:srgbClr val="000000"/>
              </a:buClr>
              <a:buSzPct val="45000"/>
              <a:buFont typeface="Wingdings" charset="2"/>
              <a:buChar char=""/>
            </a:pPr>
            <a:endParaRPr lang="fr-FR" sz="20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437353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On dit que deux entiers naturels a et b sont congrus modulo n si et seulemen</a:t>
            </a:r>
            <a:r>
              <a:rPr lang="fr-FR" sz="2200" spc="-1" dirty="0">
                <a:solidFill>
                  <a:srgbClr val="376092"/>
                </a:solidFill>
                <a:latin typeface="Arial"/>
              </a:rPr>
              <a:t>t si a et b ont le même reste dans la division euclidienne par n.</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Donc a </a:t>
            </a:r>
            <a:r>
              <a:rPr lang="fr-FR" sz="2200" spc="-1" dirty="0">
                <a:solidFill>
                  <a:srgbClr val="376092"/>
                </a:solidFill>
                <a:latin typeface="Arial"/>
              </a:rPr>
              <a:t>% n = b % n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relation de congruence est notée : a ≡ b[n] ou b ≡ a[n]</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Nous pouvons aussi noter les propriétés suivantes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 ≡ a[n]</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 ≡ r[n]</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Essayons de voir si </a:t>
            </a:r>
            <a:r>
              <a:rPr lang="fr-FR" sz="2200" spc="-1" dirty="0">
                <a:solidFill>
                  <a:srgbClr val="376092"/>
                </a:solidFill>
                <a:latin typeface="Arial"/>
              </a:rPr>
              <a:t>71 et 31 sont congrus modulo 8.</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03283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 à quoi ça sert ?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Voi</a:t>
            </a:r>
            <a:r>
              <a:rPr lang="fr-FR" sz="2200" spc="-1" dirty="0">
                <a:solidFill>
                  <a:srgbClr val="376092"/>
                </a:solidFill>
                <a:latin typeface="Arial"/>
              </a:rPr>
              <a:t>ci quelques exemples :</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Vous </a:t>
            </a:r>
            <a:r>
              <a:rPr lang="fr-FR" sz="2200" spc="-1" dirty="0">
                <a:solidFill>
                  <a:srgbClr val="376092"/>
                </a:solidFill>
                <a:latin typeface="Arial"/>
              </a:rPr>
              <a:t>lancez une hélice qui va parcourir un certains nombre de tours et vous voulez savoir dans quelle position elle va s’arrêter (reste de la division par 360 degrés).</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Vous voulez réaliser un</a:t>
            </a:r>
            <a:r>
              <a:rPr lang="fr-FR" sz="2200" spc="-1" dirty="0">
                <a:solidFill>
                  <a:srgbClr val="376092"/>
                </a:solidFill>
                <a:latin typeface="Arial"/>
              </a:rPr>
              <a:t>e figure en snowboard et vous voulez savoir si vous allez retomber dans une position qui vous permette de continuer (reste de la division par 180 degrés).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Vous voulez savoir si deux nombres de minutes correspondent aux même minutes une fois convertis en </a:t>
            </a:r>
            <a:r>
              <a:rPr lang="fr-FR" sz="2200" spc="-1" dirty="0" err="1">
                <a:solidFill>
                  <a:srgbClr val="376092"/>
                </a:solidFill>
                <a:latin typeface="Arial"/>
              </a:rPr>
              <a:t>hh:mm</a:t>
            </a:r>
            <a:r>
              <a:rPr lang="fr-FR" sz="2200" spc="-1" dirty="0">
                <a:solidFill>
                  <a:srgbClr val="376092"/>
                </a:solidFill>
                <a:latin typeface="Arial"/>
              </a:rPr>
              <a:t> (reste de la division par 60).</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En cryptographie, j’ai 26 lettres de l’alphabet, pour convertir un nombre en lettre je dois donc avoir un indice entre 0 et 25.</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4026245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 propriétés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Pour connaitre le reste d’une division de ‘a’ par ‘b’ on peut aussi retirer la valeur de ‘b’ à ‘a’ tant que le résultat n’est pas inférieur à ‘a’</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même règle peut s’appliquer pour un nombre négatif.</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Le reste d’une division entière est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Supérieur à 0</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Inférieur strictement au diviseur</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Voyons comment programmer une fonction qui nous donne le reste de la division sans utiliser l’opérateur modulo et tester avec :</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31298 par 7</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-4253 par 11</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08000">
              <a:spcAft>
                <a:spcPts val="1060"/>
              </a:spcAft>
              <a:buClr>
                <a:srgbClr val="000000"/>
              </a:buClr>
              <a:buSzPct val="45000"/>
            </a:pPr>
            <a:endParaRPr lang="fr-FR" sz="2200" spc="-1" dirty="0">
              <a:solidFill>
                <a:srgbClr val="376092"/>
              </a:solidFill>
              <a:latin typeface="Arial"/>
            </a:endParaRPr>
          </a:p>
          <a:p>
            <a:pPr marL="108000">
              <a:spcAft>
                <a:spcPts val="1060"/>
              </a:spcAft>
              <a:buClr>
                <a:srgbClr val="000000"/>
              </a:buClr>
              <a:buSzPct val="45000"/>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794317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 propriétés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Si </a:t>
            </a:r>
            <a:r>
              <a:rPr lang="fr-FR" sz="2200" spc="-1" dirty="0">
                <a:solidFill>
                  <a:srgbClr val="376092"/>
                </a:solidFill>
                <a:latin typeface="Arial"/>
              </a:rPr>
              <a:t>a ≡ b[n] alors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 = k1. n + reste</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b = k2. n + reste</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a-b = k1. n + reste – (k2. n + reste) = k1.n – k2. n</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a-b = n ( k1 – k2)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Donc, si</a:t>
            </a:r>
            <a:r>
              <a:rPr lang="fr-FR" sz="2200" b="0" strike="noStrike" spc="-1" dirty="0">
                <a:solidFill>
                  <a:srgbClr val="376092"/>
                </a:solidFill>
                <a:latin typeface="Arial"/>
              </a:rPr>
              <a:t> </a:t>
            </a:r>
            <a:r>
              <a:rPr lang="fr-FR" sz="2200" spc="-1" dirty="0">
                <a:solidFill>
                  <a:srgbClr val="376092"/>
                </a:solidFill>
                <a:latin typeface="Arial"/>
              </a:rPr>
              <a:t>a ≡ b[n] alors a-b est multiple de n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Cette propriété va nous permettre d’en mettre d’autres en évidence</a:t>
            </a:r>
          </a:p>
          <a:p>
            <a:pPr marL="108000">
              <a:spcAft>
                <a:spcPts val="1060"/>
              </a:spcAft>
              <a:buClr>
                <a:srgbClr val="000000"/>
              </a:buClr>
              <a:buSzPct val="45000"/>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656596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 propriétés :</a:t>
            </a:r>
            <a:endParaRPr lang="en-US" sz="3200" b="0" strike="noStrike" spc="-1" dirty="0">
              <a:solidFill>
                <a:srgbClr val="376092"/>
              </a:solidFill>
              <a:latin typeface="Arial"/>
            </a:endParaRPr>
          </a:p>
        </p:txBody>
      </p:sp>
      <p:sp>
        <p:nvSpPr>
          <p:cNvPr id="140" name="TextShape 2"/>
          <p:cNvSpPr txBox="1"/>
          <p:nvPr/>
        </p:nvSpPr>
        <p:spPr>
          <a:xfrm>
            <a:off x="457200" y="1553592"/>
            <a:ext cx="8229240" cy="457216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Si </a:t>
            </a:r>
            <a:r>
              <a:rPr lang="fr-FR" sz="2200" spc="-1" dirty="0">
                <a:solidFill>
                  <a:srgbClr val="376092"/>
                </a:solidFill>
                <a:latin typeface="Arial"/>
              </a:rPr>
              <a:t>a ≡ b[n], c ≡ d[n] et n entier naturel alors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 + c ≡ b + d [n] et a – c ≡ b – d [n]</a:t>
            </a:r>
          </a:p>
          <a:p>
            <a:pPr marL="889200" lvl="1" indent="-324000">
              <a:spcAft>
                <a:spcPts val="1060"/>
              </a:spcAft>
              <a:buClr>
                <a:srgbClr val="000000"/>
              </a:buClr>
              <a:buSzPct val="45000"/>
              <a:buFont typeface="Wingdings" charset="2"/>
              <a:buChar char=""/>
            </a:pPr>
            <a:r>
              <a:rPr lang="fr-FR" sz="2200" spc="-1" dirty="0" err="1">
                <a:solidFill>
                  <a:srgbClr val="376092"/>
                </a:solidFill>
                <a:latin typeface="Arial"/>
              </a:rPr>
              <a:t>pa</a:t>
            </a:r>
            <a:r>
              <a:rPr lang="fr-FR" sz="2200" spc="-1" dirty="0">
                <a:solidFill>
                  <a:srgbClr val="376092"/>
                </a:solidFill>
                <a:latin typeface="Arial"/>
              </a:rPr>
              <a:t> ≡ pb[n] pour tout entier naturel p </a:t>
            </a:r>
          </a:p>
          <a:p>
            <a:pPr marL="889200" lvl="1" indent="-324000">
              <a:spcAft>
                <a:spcPts val="1060"/>
              </a:spcAft>
              <a:buClr>
                <a:srgbClr val="000000"/>
              </a:buClr>
              <a:buSzPct val="45000"/>
              <a:buFont typeface="Wingdings" charset="2"/>
              <a:buChar char=""/>
            </a:pPr>
            <a:r>
              <a:rPr lang="fr-FR" sz="2200" spc="-1" dirty="0" err="1">
                <a:solidFill>
                  <a:srgbClr val="376092"/>
                </a:solidFill>
                <a:latin typeface="Arial"/>
              </a:rPr>
              <a:t>ac</a:t>
            </a:r>
            <a:r>
              <a:rPr lang="fr-FR" sz="2200" spc="-1" dirty="0">
                <a:solidFill>
                  <a:srgbClr val="376092"/>
                </a:solidFill>
                <a:latin typeface="Arial"/>
              </a:rPr>
              <a:t> ≡ bd[n]</a:t>
            </a:r>
          </a:p>
          <a:p>
            <a:pPr marL="889200" lvl="1" indent="-324000">
              <a:spcAft>
                <a:spcPts val="1060"/>
              </a:spcAft>
              <a:buClr>
                <a:srgbClr val="000000"/>
              </a:buClr>
              <a:buSzPct val="45000"/>
              <a:buFont typeface="Wingdings" charset="2"/>
              <a:buChar char=""/>
            </a:pPr>
            <a:r>
              <a:rPr lang="fr-FR" sz="2200" spc="-1" dirty="0" err="1">
                <a:solidFill>
                  <a:srgbClr val="376092"/>
                </a:solidFill>
                <a:latin typeface="Arial"/>
              </a:rPr>
              <a:t>a</a:t>
            </a:r>
            <a:r>
              <a:rPr lang="fr-FR" sz="2200" spc="-1" baseline="30000" dirty="0" err="1">
                <a:solidFill>
                  <a:srgbClr val="376092"/>
                </a:solidFill>
                <a:latin typeface="Arial"/>
              </a:rPr>
              <a:t>p</a:t>
            </a:r>
            <a:r>
              <a:rPr lang="fr-FR" sz="2200" spc="-1" dirty="0">
                <a:solidFill>
                  <a:srgbClr val="376092"/>
                </a:solidFill>
                <a:latin typeface="Arial"/>
              </a:rPr>
              <a:t> ≡ </a:t>
            </a:r>
            <a:r>
              <a:rPr lang="fr-FR" sz="2200" spc="-1" dirty="0" err="1">
                <a:solidFill>
                  <a:srgbClr val="376092"/>
                </a:solidFill>
                <a:latin typeface="Arial"/>
              </a:rPr>
              <a:t>b</a:t>
            </a:r>
            <a:r>
              <a:rPr lang="fr-FR" sz="2200" spc="-1" baseline="30000" dirty="0" err="1">
                <a:solidFill>
                  <a:srgbClr val="376092"/>
                </a:solidFill>
                <a:latin typeface="Arial"/>
              </a:rPr>
              <a:t>p</a:t>
            </a:r>
            <a:r>
              <a:rPr lang="fr-FR" sz="2200" spc="-1" dirty="0">
                <a:solidFill>
                  <a:srgbClr val="376092"/>
                </a:solidFill>
                <a:latin typeface="Arial"/>
              </a:rPr>
              <a:t> [n] pour tout entier naturel p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Démontrons certaines de ces propriétés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Partons du principe que si a ≡ b[n] alors a-b = k1.n et si c ≡ d[n] alors c-d = k2.n pour démonter les propriétés 1, 2 et 3.</a:t>
            </a: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08000">
              <a:spcAft>
                <a:spcPts val="1060"/>
              </a:spcAft>
              <a:buClr>
                <a:srgbClr val="000000"/>
              </a:buClr>
              <a:buSzPct val="45000"/>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529593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Congruence – calculs énormes  :</a:t>
            </a:r>
            <a:endParaRPr lang="en-US" sz="3200" b="0" strike="noStrike" spc="-1" dirty="0">
              <a:solidFill>
                <a:srgbClr val="376092"/>
              </a:solidFill>
              <a:latin typeface="Arial"/>
            </a:endParaRPr>
          </a:p>
        </p:txBody>
      </p:sp>
      <p:sp>
        <p:nvSpPr>
          <p:cNvPr id="140" name="TextShape 2"/>
          <p:cNvSpPr txBox="1"/>
          <p:nvPr/>
        </p:nvSpPr>
        <p:spPr>
          <a:xfrm>
            <a:off x="457200" y="1597980"/>
            <a:ext cx="8229240" cy="4527779"/>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Démontrer que :</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214 </a:t>
            </a:r>
            <a:r>
              <a:rPr lang="fr-FR" sz="2200" spc="-1" dirty="0">
                <a:solidFill>
                  <a:srgbClr val="376092"/>
                </a:solidFill>
                <a:latin typeface="Arial"/>
              </a:rPr>
              <a:t>≡ 25 [9]</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	1763 </a:t>
            </a:r>
            <a:r>
              <a:rPr lang="fr-FR" sz="2200" spc="-1" dirty="0">
                <a:solidFill>
                  <a:srgbClr val="376092"/>
                </a:solidFill>
                <a:latin typeface="Arial"/>
              </a:rPr>
              <a:t>≡ 818 [27]</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Déterminons les restes des divisions suivantes </a:t>
            </a:r>
            <a:r>
              <a:rPr lang="fr-FR" sz="22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2</a:t>
            </a:r>
            <a:r>
              <a:rPr lang="fr-FR" sz="2200" spc="-1" baseline="30000" dirty="0">
                <a:solidFill>
                  <a:srgbClr val="376092"/>
                </a:solidFill>
                <a:latin typeface="Arial"/>
              </a:rPr>
              <a:t>456</a:t>
            </a:r>
            <a:r>
              <a:rPr lang="fr-FR" sz="2200" spc="-1" dirty="0">
                <a:solidFill>
                  <a:srgbClr val="376092"/>
                </a:solidFill>
                <a:latin typeface="Arial"/>
              </a:rPr>
              <a:t> / 5</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2</a:t>
            </a:r>
            <a:r>
              <a:rPr lang="fr-FR" sz="2200" spc="-1" baseline="30000" dirty="0">
                <a:solidFill>
                  <a:srgbClr val="376092"/>
                </a:solidFill>
                <a:latin typeface="Arial"/>
              </a:rPr>
              <a:t>437</a:t>
            </a:r>
            <a:r>
              <a:rPr lang="fr-FR" sz="2200" spc="-1" dirty="0">
                <a:solidFill>
                  <a:srgbClr val="376092"/>
                </a:solidFill>
                <a:latin typeface="Arial"/>
              </a:rPr>
              <a:t> / 7</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2</a:t>
            </a:r>
            <a:r>
              <a:rPr lang="fr-FR" sz="2200" spc="-1" baseline="30000" dirty="0">
                <a:solidFill>
                  <a:srgbClr val="376092"/>
                </a:solidFill>
                <a:latin typeface="Arial"/>
              </a:rPr>
              <a:t>2009</a:t>
            </a:r>
            <a:r>
              <a:rPr lang="fr-FR" sz="2200" spc="-1" dirty="0">
                <a:solidFill>
                  <a:srgbClr val="376092"/>
                </a:solidFill>
                <a:latin typeface="Arial"/>
              </a:rPr>
              <a:t> / 7</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Commençons par déterminer quelles sont les puissances de 2 avec lesquelles on obtient un reste de 1 ou -1</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L’intérêt ici est d’avoir un terme de la forme 1</a:t>
            </a:r>
            <a:r>
              <a:rPr lang="fr-FR" sz="2200" spc="-1" baseline="30000" dirty="0">
                <a:solidFill>
                  <a:srgbClr val="376092"/>
                </a:solidFill>
                <a:latin typeface="Arial"/>
              </a:rPr>
              <a:t>n</a:t>
            </a:r>
          </a:p>
          <a:p>
            <a:pPr marL="108000">
              <a:spcAft>
                <a:spcPts val="1060"/>
              </a:spcAft>
              <a:buClr>
                <a:srgbClr val="000000"/>
              </a:buClr>
              <a:buSzPct val="45000"/>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285490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Algorithmie – Ecrivons quelques fonctions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une fonction qui prend en paramètres 3 nombres entiers a, b et c et qui renvoie vrai si a est congru à b modulo c</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une fonction qui prend deux nombres entiers a et b en paramètre et qui renvoie la première puissance de a dont le reste par b vaut 1. Tester la fonction avec les exemples vus plus haut.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une fonction qui va nous aider à savoir si un nombre est divisible par 3 en additionnant les chiffres qui le compose jusqu’à obtenir un seul chiffre et le renvoie.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une fonction qui vérifie si un nombre est divisible par 7 par la méthode de </a:t>
            </a:r>
            <a:r>
              <a:rPr lang="fr-FR" sz="2200" spc="-1" dirty="0" err="1">
                <a:solidFill>
                  <a:srgbClr val="376092"/>
                </a:solidFill>
                <a:latin typeface="Arial"/>
              </a:rPr>
              <a:t>Chika</a:t>
            </a:r>
            <a:r>
              <a:rPr lang="fr-FR" sz="2200" spc="-1" dirty="0">
                <a:solidFill>
                  <a:srgbClr val="376092"/>
                </a:solidFill>
                <a:latin typeface="Arial"/>
              </a:rPr>
              <a:t> (jeune nigérian de 12 ans). Selon sa méthode si un nombre est divisible par 7, alors ses dizaines additionnées aux unités multiplié par 5 le sont aussi. Stopper la fonction lorsque l’on obtient un nombre &lt; 70 (7*10).</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0281925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Algorithmie et Cryptographie:</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spc="-1" dirty="0">
                <a:solidFill>
                  <a:srgbClr val="376092"/>
                </a:solidFill>
                <a:latin typeface="Arial"/>
              </a:rPr>
              <a:t>Parlons du cryptage César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Décalage de lettres.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Parlons du cryptage Vigenère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Ajout d'une clé.</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Le cryptage affine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Cryptage par fonction affine : y = </a:t>
            </a:r>
            <a:r>
              <a:rPr lang="fr-FR" sz="2200" spc="-1" dirty="0" err="1">
                <a:solidFill>
                  <a:srgbClr val="376092"/>
                </a:solidFill>
                <a:latin typeface="Arial"/>
              </a:rPr>
              <a:t>a.x</a:t>
            </a:r>
            <a:r>
              <a:rPr lang="fr-FR" sz="2200" spc="-1" dirty="0">
                <a:solidFill>
                  <a:srgbClr val="376092"/>
                </a:solidFill>
                <a:latin typeface="Arial"/>
              </a:rPr>
              <a:t> + b</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Testons avec a = 3 et b = 9</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Pour décoder, il faut trouver c tel que </a:t>
            </a:r>
            <a:r>
              <a:rPr lang="fr-FR" sz="2200" spc="-1" dirty="0" err="1">
                <a:solidFill>
                  <a:srgbClr val="376092"/>
                </a:solidFill>
                <a:latin typeface="Arial"/>
              </a:rPr>
              <a:t>a.c</a:t>
            </a:r>
            <a:r>
              <a:rPr lang="fr-FR" sz="2200" spc="-1" dirty="0">
                <a:solidFill>
                  <a:srgbClr val="376092"/>
                </a:solidFill>
                <a:latin typeface="Arial"/>
              </a:rPr>
              <a:t> ≡ 1 [26]</a:t>
            </a:r>
          </a:p>
          <a:p>
            <a:pPr marL="1346400" lvl="2" indent="-324000">
              <a:spcAft>
                <a:spcPts val="1060"/>
              </a:spcAft>
              <a:buClr>
                <a:srgbClr val="000000"/>
              </a:buClr>
              <a:buSzPct val="45000"/>
              <a:buFont typeface="Wingdings" charset="2"/>
              <a:buChar char=""/>
            </a:pPr>
            <a:r>
              <a:rPr lang="fr-FR" sz="2200" spc="-1" dirty="0">
                <a:solidFill>
                  <a:srgbClr val="376092"/>
                </a:solidFill>
                <a:latin typeface="Arial"/>
              </a:rPr>
              <a:t>Et donc </a:t>
            </a:r>
            <a:r>
              <a:rPr lang="fr-FR" sz="2200" spc="-1" dirty="0" err="1">
                <a:solidFill>
                  <a:srgbClr val="376092"/>
                </a:solidFill>
                <a:latin typeface="Arial"/>
              </a:rPr>
              <a:t>c.y</a:t>
            </a:r>
            <a:r>
              <a:rPr lang="fr-FR" sz="2200" spc="-1" dirty="0">
                <a:solidFill>
                  <a:srgbClr val="376092"/>
                </a:solidFill>
                <a:latin typeface="Arial"/>
              </a:rPr>
              <a:t> ≡ </a:t>
            </a:r>
            <a:r>
              <a:rPr lang="fr-FR" sz="2200" spc="-1" dirty="0" err="1">
                <a:solidFill>
                  <a:srgbClr val="376092"/>
                </a:solidFill>
                <a:latin typeface="Arial"/>
              </a:rPr>
              <a:t>a.c.x</a:t>
            </a:r>
            <a:r>
              <a:rPr lang="fr-FR" sz="2200" spc="-1" dirty="0">
                <a:solidFill>
                  <a:srgbClr val="376092"/>
                </a:solidFill>
                <a:latin typeface="Arial"/>
              </a:rPr>
              <a:t> + </a:t>
            </a:r>
            <a:r>
              <a:rPr lang="fr-FR" sz="2200" spc="-1" dirty="0" err="1">
                <a:solidFill>
                  <a:srgbClr val="376092"/>
                </a:solidFill>
                <a:latin typeface="Arial"/>
              </a:rPr>
              <a:t>b.c</a:t>
            </a:r>
            <a:r>
              <a:rPr lang="fr-FR" sz="2200" spc="-1" dirty="0">
                <a:solidFill>
                  <a:srgbClr val="376092"/>
                </a:solidFill>
                <a:latin typeface="Arial"/>
              </a:rPr>
              <a:t> [26]</a:t>
            </a:r>
          </a:p>
          <a:p>
            <a:pPr marL="1346400" lvl="2" indent="-324000">
              <a:spcAft>
                <a:spcPts val="1060"/>
              </a:spcAft>
              <a:buClr>
                <a:srgbClr val="000000"/>
              </a:buClr>
              <a:buSzPct val="45000"/>
              <a:buFont typeface="Wingdings" charset="2"/>
              <a:buChar char=""/>
            </a:pPr>
            <a:r>
              <a:rPr lang="fr-FR" sz="2200" spc="-1" dirty="0" err="1">
                <a:solidFill>
                  <a:srgbClr val="376092"/>
                </a:solidFill>
                <a:latin typeface="Arial"/>
              </a:rPr>
              <a:t>c.y</a:t>
            </a:r>
            <a:r>
              <a:rPr lang="fr-FR" sz="2200" spc="-1" dirty="0">
                <a:solidFill>
                  <a:srgbClr val="376092"/>
                </a:solidFill>
                <a:latin typeface="Arial"/>
              </a:rPr>
              <a:t> ≡ x + </a:t>
            </a:r>
            <a:r>
              <a:rPr lang="fr-FR" sz="2200" spc="-1" dirty="0" err="1">
                <a:solidFill>
                  <a:srgbClr val="376092"/>
                </a:solidFill>
                <a:latin typeface="Arial"/>
              </a:rPr>
              <a:t>b.c</a:t>
            </a:r>
            <a:r>
              <a:rPr lang="fr-FR" sz="2200" spc="-1" dirty="0">
                <a:solidFill>
                  <a:srgbClr val="376092"/>
                </a:solidFill>
                <a:latin typeface="Arial"/>
              </a:rPr>
              <a:t> [26]</a:t>
            </a:r>
          </a:p>
          <a:p>
            <a:pPr marL="1346400" lvl="2" indent="-324000">
              <a:spcAft>
                <a:spcPts val="1060"/>
              </a:spcAft>
              <a:buClr>
                <a:srgbClr val="000000"/>
              </a:buClr>
              <a:buSzPct val="45000"/>
              <a:buFont typeface="Wingdings" charset="2"/>
              <a:buChar char=""/>
            </a:pPr>
            <a:r>
              <a:rPr lang="fr-FR" sz="2200" spc="-1" dirty="0" err="1">
                <a:solidFill>
                  <a:srgbClr val="376092"/>
                </a:solidFill>
                <a:latin typeface="Arial"/>
              </a:rPr>
              <a:t>c.y</a:t>
            </a:r>
            <a:r>
              <a:rPr lang="fr-FR" sz="2200" spc="-1" dirty="0">
                <a:solidFill>
                  <a:srgbClr val="376092"/>
                </a:solidFill>
                <a:latin typeface="Arial"/>
              </a:rPr>
              <a:t> - </a:t>
            </a:r>
            <a:r>
              <a:rPr lang="fr-FR" sz="2200" spc="-1" dirty="0" err="1">
                <a:solidFill>
                  <a:srgbClr val="376092"/>
                </a:solidFill>
                <a:latin typeface="Arial"/>
              </a:rPr>
              <a:t>b.c</a:t>
            </a:r>
            <a:r>
              <a:rPr lang="fr-FR" sz="2200" spc="-1" dirty="0">
                <a:solidFill>
                  <a:srgbClr val="376092"/>
                </a:solidFill>
                <a:latin typeface="Arial"/>
              </a:rPr>
              <a:t>  ≡ x [26]</a:t>
            </a: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644066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Algorithmie et Cryptographie:</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spc="-1" dirty="0">
                <a:solidFill>
                  <a:srgbClr val="376092"/>
                </a:solidFill>
                <a:latin typeface="Arial"/>
              </a:rPr>
              <a:t>Déterminons que la clé a=3, b=9 est satisfaisante.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Pour cela nous vous voulons déterminer que si on prend deux nombres n1 et n2 différents, leurs codages c1 et c2 sont aussi différents.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contraposée nous dit donc que si c1 = c2 alors n1 = n2.</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On cherche donc à démontrer que 3.n1 + 9 ≡ 3.n2 + 9 [26]</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3.(n1 – n2) ≡ 0 [26]</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Donnons un encadrement de n1-n2 puis de 3.(n1 – n2).</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Visualisons les valeurs possibles sur un intervalle.</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Evaluons chacune de ces valeurs.</a:t>
            </a: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346400" lvl="2"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828260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5827</TotalTime>
  <Words>4016</Words>
  <Application>Microsoft Office PowerPoint</Application>
  <PresentationFormat>Affichage à l'écran (4:3)</PresentationFormat>
  <Paragraphs>614</Paragraphs>
  <Slides>47</Slides>
  <Notes>0</Notes>
  <HiddenSlides>0</HiddenSlides>
  <MMClips>0</MMClips>
  <ScaleCrop>false</ScaleCrop>
  <HeadingPairs>
    <vt:vector size="8" baseType="variant">
      <vt:variant>
        <vt:lpstr>Polices utilisées</vt:lpstr>
      </vt:variant>
      <vt:variant>
        <vt:i4>5</vt:i4>
      </vt:variant>
      <vt:variant>
        <vt:lpstr>Thème</vt:lpstr>
      </vt:variant>
      <vt:variant>
        <vt:i4>3</vt:i4>
      </vt:variant>
      <vt:variant>
        <vt:lpstr>Serveurs OLE incorporés</vt:lpstr>
      </vt:variant>
      <vt:variant>
        <vt:i4>1</vt:i4>
      </vt:variant>
      <vt:variant>
        <vt:lpstr>Titres des diapositives</vt:lpstr>
      </vt:variant>
      <vt:variant>
        <vt:i4>47</vt:i4>
      </vt:variant>
    </vt:vector>
  </HeadingPairs>
  <TitlesOfParts>
    <vt:vector size="56" baseType="lpstr">
      <vt:lpstr>Arial</vt:lpstr>
      <vt:lpstr>Calibri</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261</cp:revision>
  <dcterms:created xsi:type="dcterms:W3CDTF">2012-01-17T22:15:29Z</dcterms:created>
  <dcterms:modified xsi:type="dcterms:W3CDTF">2025-08-29T13:07:59Z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