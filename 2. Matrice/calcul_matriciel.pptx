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28"/>
  </p:notesMasterIdLst>
  <p:sldIdLst>
    <p:sldId id="256" r:id="rId4"/>
    <p:sldId id="257" r:id="rId5"/>
    <p:sldId id="259" r:id="rId6"/>
    <p:sldId id="343" r:id="rId7"/>
    <p:sldId id="344" r:id="rId8"/>
    <p:sldId id="345" r:id="rId9"/>
    <p:sldId id="346" r:id="rId10"/>
    <p:sldId id="348" r:id="rId11"/>
    <p:sldId id="360" r:id="rId12"/>
    <p:sldId id="349" r:id="rId13"/>
    <p:sldId id="350" r:id="rId14"/>
    <p:sldId id="351" r:id="rId15"/>
    <p:sldId id="361" r:id="rId16"/>
    <p:sldId id="352" r:id="rId17"/>
    <p:sldId id="347" r:id="rId18"/>
    <p:sldId id="353" r:id="rId19"/>
    <p:sldId id="362" r:id="rId20"/>
    <p:sldId id="354" r:id="rId21"/>
    <p:sldId id="355" r:id="rId22"/>
    <p:sldId id="356" r:id="rId23"/>
    <p:sldId id="357" r:id="rId24"/>
    <p:sldId id="358" r:id="rId25"/>
    <p:sldId id="359" r:id="rId26"/>
    <p:sldId id="281" r:id="rId27"/>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56" d="100"/>
          <a:sy n="156" d="100"/>
        </p:scale>
        <p:origin x="1944" y="192"/>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29/08/2025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5.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Calcul matriciel</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spc="-1">
                <a:solidFill>
                  <a:srgbClr val="999999"/>
                </a:solidFill>
                <a:latin typeface="Arial"/>
              </a:rPr>
              <a:t>BTS </a:t>
            </a:r>
            <a:r>
              <a:rPr lang="fr-FR" sz="2400" spc="-1" dirty="0">
                <a:solidFill>
                  <a:srgbClr val="999999"/>
                </a:solidFill>
                <a:latin typeface="Arial"/>
              </a:rPr>
              <a:t>SIO</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Initiation au calcul matriciel</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Généralités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Calcul matriciel : addition, soustraction, multiplication</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Inversion de matrice</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Résolution de systèmes</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matrice A possède un nombre de lignes n et de colonnes p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err="1">
                <a:solidFill>
                  <a:srgbClr val="376092"/>
                </a:solidFill>
                <a:latin typeface="Arial"/>
              </a:rPr>
              <a:t>a</a:t>
            </a:r>
            <a:r>
              <a:rPr lang="fr-FR" sz="2400" spc="-1" baseline="-25000" dirty="0" err="1">
                <a:solidFill>
                  <a:srgbClr val="376092"/>
                </a:solidFill>
                <a:latin typeface="Arial"/>
              </a:rPr>
              <a:t>i,j</a:t>
            </a:r>
            <a:r>
              <a:rPr lang="fr-FR" sz="2400" spc="-1" baseline="-25000" dirty="0">
                <a:solidFill>
                  <a:srgbClr val="376092"/>
                </a:solidFill>
                <a:latin typeface="Arial"/>
              </a:rPr>
              <a:t> </a:t>
            </a:r>
            <a:r>
              <a:rPr lang="fr-FR" sz="2400" spc="-1" dirty="0">
                <a:solidFill>
                  <a:srgbClr val="376092"/>
                </a:solidFill>
                <a:latin typeface="Arial"/>
              </a:rPr>
              <a:t>est l’élément de la matrice à la ligne i et à la colonne j</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peut noter A = (</a:t>
            </a:r>
            <a:r>
              <a:rPr lang="fr-FR" sz="2400" spc="-1" dirty="0" err="1">
                <a:solidFill>
                  <a:srgbClr val="376092"/>
                </a:solidFill>
                <a:latin typeface="Arial"/>
              </a:rPr>
              <a:t>a</a:t>
            </a:r>
            <a:r>
              <a:rPr lang="fr-FR" sz="2400" spc="-1" baseline="-25000" dirty="0" err="1">
                <a:solidFill>
                  <a:srgbClr val="376092"/>
                </a:solidFill>
                <a:latin typeface="Arial"/>
              </a:rPr>
              <a:t>i,j</a:t>
            </a: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les développeurs on retrouve pratiquement la même écriture pour accéder à un tableau a deux dimensions : a[i][j]</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4" name="Image 3">
            <a:extLst>
              <a:ext uri="{FF2B5EF4-FFF2-40B4-BE49-F238E27FC236}">
                <a16:creationId xmlns:a16="http://schemas.microsoft.com/office/drawing/2014/main" id="{1C5B4498-825D-4C33-9869-928FE7FFE113}"/>
              </a:ext>
            </a:extLst>
          </p:cNvPr>
          <p:cNvPicPr>
            <a:picLocks noChangeAspect="1"/>
          </p:cNvPicPr>
          <p:nvPr/>
        </p:nvPicPr>
        <p:blipFill>
          <a:blip r:embed="rId2"/>
          <a:stretch>
            <a:fillRect/>
          </a:stretch>
        </p:blipFill>
        <p:spPr>
          <a:xfrm>
            <a:off x="1187249" y="1819368"/>
            <a:ext cx="5686425" cy="21717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 un peu de vocabulaire :</a:t>
            </a:r>
            <a:endParaRPr lang="en-US" sz="3200" b="0" strike="noStrike" spc="-1" dirty="0">
              <a:solidFill>
                <a:srgbClr val="376092"/>
              </a:solidFill>
              <a:latin typeface="Arial"/>
            </a:endParaRPr>
          </a:p>
        </p:txBody>
      </p:sp>
      <p:sp>
        <p:nvSpPr>
          <p:cNvPr id="140" name="TextShape 2"/>
          <p:cNvSpPr txBox="1"/>
          <p:nvPr/>
        </p:nvSpPr>
        <p:spPr>
          <a:xfrm>
            <a:off x="457200" y="1065320"/>
            <a:ext cx="4067175"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matrice qui a autant de ligne que de colonne, est une matrice carrée d’ordre n :</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matrice qui n’a qu’une seule ligne est une matrice ligne :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a:t>
            </a:r>
            <a:r>
              <a:rPr lang="fr-FR" sz="2400" spc="-1" dirty="0">
                <a:solidFill>
                  <a:srgbClr val="376092"/>
                </a:solidFill>
                <a:latin typeface="Arial"/>
              </a:rPr>
              <a:t>matrice</a:t>
            </a:r>
            <a:r>
              <a:rPr lang="fr-FR" sz="2400" b="0" strike="noStrike" spc="-1" dirty="0">
                <a:solidFill>
                  <a:srgbClr val="376092"/>
                </a:solidFill>
                <a:latin typeface="Arial"/>
              </a:rPr>
              <a:t> qui n’a qu’une seule colonne est une matrice colonne ou un vecteur colonne</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2CB169B5-9FF8-4CAC-AC4D-2F547FECAB1E}"/>
              </a:ext>
            </a:extLst>
          </p:cNvPr>
          <p:cNvPicPr>
            <a:picLocks noChangeAspect="1"/>
          </p:cNvPicPr>
          <p:nvPr/>
        </p:nvPicPr>
        <p:blipFill>
          <a:blip r:embed="rId2"/>
          <a:stretch>
            <a:fillRect/>
          </a:stretch>
        </p:blipFill>
        <p:spPr>
          <a:xfrm>
            <a:off x="5076825" y="974834"/>
            <a:ext cx="4067175" cy="1431016"/>
          </a:xfrm>
          <a:prstGeom prst="rect">
            <a:avLst/>
          </a:prstGeom>
        </p:spPr>
      </p:pic>
      <p:pic>
        <p:nvPicPr>
          <p:cNvPr id="5" name="Image 4">
            <a:extLst>
              <a:ext uri="{FF2B5EF4-FFF2-40B4-BE49-F238E27FC236}">
                <a16:creationId xmlns:a16="http://schemas.microsoft.com/office/drawing/2014/main" id="{5878FC73-AB16-4D5D-B923-2841960FEBE0}"/>
              </a:ext>
            </a:extLst>
          </p:cNvPr>
          <p:cNvPicPr>
            <a:picLocks noChangeAspect="1"/>
          </p:cNvPicPr>
          <p:nvPr/>
        </p:nvPicPr>
        <p:blipFill>
          <a:blip r:embed="rId3"/>
          <a:stretch>
            <a:fillRect/>
          </a:stretch>
        </p:blipFill>
        <p:spPr>
          <a:xfrm>
            <a:off x="4951383" y="2809875"/>
            <a:ext cx="4192617" cy="1238250"/>
          </a:xfrm>
          <a:prstGeom prst="rect">
            <a:avLst/>
          </a:prstGeom>
        </p:spPr>
      </p:pic>
      <p:pic>
        <p:nvPicPr>
          <p:cNvPr id="7" name="Image 6">
            <a:extLst>
              <a:ext uri="{FF2B5EF4-FFF2-40B4-BE49-F238E27FC236}">
                <a16:creationId xmlns:a16="http://schemas.microsoft.com/office/drawing/2014/main" id="{595EFABF-1A7F-4624-8122-DB8E7089EC6D}"/>
              </a:ext>
            </a:extLst>
          </p:cNvPr>
          <p:cNvPicPr>
            <a:picLocks noChangeAspect="1"/>
          </p:cNvPicPr>
          <p:nvPr/>
        </p:nvPicPr>
        <p:blipFill>
          <a:blip r:embed="rId4"/>
          <a:stretch>
            <a:fillRect/>
          </a:stretch>
        </p:blipFill>
        <p:spPr>
          <a:xfrm>
            <a:off x="5423678" y="4644916"/>
            <a:ext cx="3248025" cy="1238250"/>
          </a:xfrm>
          <a:prstGeom prst="rect">
            <a:avLst/>
          </a:prstGeom>
        </p:spPr>
      </p:pic>
    </p:spTree>
    <p:extLst>
      <p:ext uri="{BB962C8B-B14F-4D97-AF65-F5344CB8AC3E}">
        <p14:creationId xmlns:p14="http://schemas.microsoft.com/office/powerpoint/2010/main" val="1131673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 matrices particulières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Deux matrices sont égales si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Elles ont le même nombre de lignes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Elles ont le même nombre de colonnes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Pour des coordonnées </a:t>
            </a:r>
            <a:r>
              <a:rPr lang="fr-FR" sz="2200" spc="-1" dirty="0" err="1">
                <a:solidFill>
                  <a:srgbClr val="376092"/>
                </a:solidFill>
                <a:latin typeface="Arial"/>
              </a:rPr>
              <a:t>i,j</a:t>
            </a:r>
            <a:r>
              <a:rPr lang="fr-FR" sz="2200" spc="-1" dirty="0">
                <a:solidFill>
                  <a:srgbClr val="376092"/>
                </a:solidFill>
                <a:latin typeface="Arial"/>
              </a:rPr>
              <a:t> données, l’élément est le même dans les deux matrices.</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Une matrice nulle est une matrice dont tous les éléments sont nuls.</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Une matrice d’identité d’ordre n est une matrice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Comportant n lignes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Comportant n colonnes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 Chaque élément </a:t>
            </a:r>
            <a:r>
              <a:rPr lang="fr-FR" sz="2200" spc="-1" dirty="0" err="1">
                <a:solidFill>
                  <a:srgbClr val="376092"/>
                </a:solidFill>
                <a:latin typeface="Arial"/>
              </a:rPr>
              <a:t>a</a:t>
            </a:r>
            <a:r>
              <a:rPr lang="fr-FR" sz="2200" spc="-1" baseline="-25000" dirty="0" err="1">
                <a:solidFill>
                  <a:srgbClr val="376092"/>
                </a:solidFill>
                <a:latin typeface="Arial"/>
              </a:rPr>
              <a:t>i,j</a:t>
            </a:r>
            <a:r>
              <a:rPr lang="fr-FR" sz="2200" spc="-1" baseline="-25000" dirty="0">
                <a:solidFill>
                  <a:srgbClr val="376092"/>
                </a:solidFill>
                <a:latin typeface="Arial"/>
              </a:rPr>
              <a:t> </a:t>
            </a:r>
            <a:r>
              <a:rPr lang="fr-FR" sz="2200" spc="-1" dirty="0">
                <a:solidFill>
                  <a:srgbClr val="376092"/>
                </a:solidFill>
                <a:latin typeface="Arial"/>
              </a:rPr>
              <a:t>vaut :</a:t>
            </a:r>
          </a:p>
          <a:p>
            <a:pPr marL="1346400" lvl="2" indent="-324000">
              <a:spcAft>
                <a:spcPts val="1060"/>
              </a:spcAft>
              <a:buClr>
                <a:srgbClr val="000000"/>
              </a:buClr>
              <a:buSzPct val="45000"/>
              <a:buFont typeface="Wingdings" charset="2"/>
              <a:buChar char=""/>
            </a:pPr>
            <a:r>
              <a:rPr lang="fr-FR" sz="2200" b="0" strike="noStrike" spc="-1" dirty="0">
                <a:solidFill>
                  <a:srgbClr val="376092"/>
                </a:solidFill>
                <a:latin typeface="Arial"/>
              </a:rPr>
              <a:t>1 si i = j</a:t>
            </a:r>
          </a:p>
          <a:p>
            <a:pPr marL="1346400" lvl="2" indent="-324000">
              <a:spcAft>
                <a:spcPts val="1060"/>
              </a:spcAft>
              <a:buClr>
                <a:srgbClr val="000000"/>
              </a:buClr>
              <a:buSzPct val="45000"/>
              <a:buFont typeface="Wingdings" charset="2"/>
              <a:buChar char=""/>
            </a:pPr>
            <a:r>
              <a:rPr lang="fr-FR" sz="2200" spc="-1" dirty="0">
                <a:solidFill>
                  <a:srgbClr val="376092"/>
                </a:solidFill>
                <a:latin typeface="Arial"/>
              </a:rPr>
              <a:t>0 sinon</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3553331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Généralités – retrouvons les propriétés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Ecrire un algorithme qui a partir d’une matrice donnée indique à l’utilisateur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Si la matrice est carré</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Si la matrice est une matrice ligne</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Si la matrice est une matrice colonne</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Si la matrice est quelconque</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Modifier cet algorithme pour qu’il indique si la matrice est nulle.</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Modifier cet algorithme pour qu’il indique également si nous avons affaire à une matrice identité. Où doit se placer ce test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Ecrire un algorithme qui vérifie que deux matrices sont égales</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Et si on écrivait tout ça avec des fonctions ?</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122396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Addition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Pour pouvoir additionner deux matrices il faut :</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Qu’elles aient le même nombre de lignes</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Qu’elles aient le même nombre de colonnes</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spc="-1" dirty="0">
                <a:solidFill>
                  <a:srgbClr val="376092"/>
                </a:solidFill>
                <a:latin typeface="Arial"/>
              </a:rPr>
              <a:t>La matrice somme est une matrice de mêmes dimensions que les matrices opérandes dont chaque élément est la somme des éléments des matrices opérandes à la même position (</a:t>
            </a:r>
            <a:r>
              <a:rPr lang="fr-FR" sz="2200" spc="-1" dirty="0" err="1">
                <a:solidFill>
                  <a:srgbClr val="376092"/>
                </a:solidFill>
                <a:latin typeface="Arial"/>
              </a:rPr>
              <a:t>c</a:t>
            </a:r>
            <a:r>
              <a:rPr lang="fr-FR" sz="2200" spc="-1" baseline="-25000" dirty="0" err="1">
                <a:solidFill>
                  <a:srgbClr val="376092"/>
                </a:solidFill>
                <a:latin typeface="Arial"/>
              </a:rPr>
              <a:t>i,j</a:t>
            </a:r>
            <a:r>
              <a:rPr lang="fr-FR" sz="2200" spc="-1" baseline="-25000" dirty="0">
                <a:solidFill>
                  <a:srgbClr val="376092"/>
                </a:solidFill>
                <a:latin typeface="Arial"/>
              </a:rPr>
              <a:t> </a:t>
            </a:r>
            <a:r>
              <a:rPr lang="fr-FR" sz="2200" spc="-1" dirty="0">
                <a:solidFill>
                  <a:srgbClr val="376092"/>
                </a:solidFill>
                <a:latin typeface="Arial"/>
              </a:rPr>
              <a:t>= </a:t>
            </a:r>
            <a:r>
              <a:rPr lang="fr-FR" sz="2200" spc="-1" dirty="0" err="1">
                <a:solidFill>
                  <a:srgbClr val="376092"/>
                </a:solidFill>
                <a:latin typeface="Arial"/>
              </a:rPr>
              <a:t>a</a:t>
            </a:r>
            <a:r>
              <a:rPr lang="fr-FR" sz="2200" spc="-1" baseline="-25000" dirty="0" err="1">
                <a:solidFill>
                  <a:srgbClr val="376092"/>
                </a:solidFill>
                <a:latin typeface="Arial"/>
              </a:rPr>
              <a:t>i,j</a:t>
            </a:r>
            <a:r>
              <a:rPr lang="fr-FR" sz="2200" spc="-1" baseline="-25000" dirty="0">
                <a:solidFill>
                  <a:srgbClr val="376092"/>
                </a:solidFill>
                <a:latin typeface="Arial"/>
              </a:rPr>
              <a:t> </a:t>
            </a:r>
            <a:r>
              <a:rPr lang="fr-FR" sz="2200" spc="-1" dirty="0">
                <a:solidFill>
                  <a:srgbClr val="376092"/>
                </a:solidFill>
                <a:latin typeface="Arial"/>
              </a:rPr>
              <a:t>+ </a:t>
            </a:r>
            <a:r>
              <a:rPr lang="fr-FR" sz="2200" spc="-1" dirty="0" err="1">
                <a:solidFill>
                  <a:srgbClr val="376092"/>
                </a:solidFill>
                <a:latin typeface="Arial"/>
              </a:rPr>
              <a:t>b</a:t>
            </a:r>
            <a:r>
              <a:rPr lang="fr-FR" sz="2200" spc="-1" baseline="-25000" dirty="0" err="1">
                <a:solidFill>
                  <a:srgbClr val="376092"/>
                </a:solidFill>
                <a:latin typeface="Arial"/>
              </a:rPr>
              <a:t>i,j</a:t>
            </a:r>
            <a:r>
              <a:rPr lang="fr-FR" sz="2200" spc="-1" dirty="0">
                <a:solidFill>
                  <a:srgbClr val="376092"/>
                </a:solidFill>
                <a:latin typeface="Arial"/>
              </a:rPr>
              <a:t>)</a:t>
            </a: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La matrice nulle est un élément neutre pour l’addition matricielle.</a:t>
            </a: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L’addition matricielle est commutative : A+(B +C) = (A + B)+C</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4C00CE17-889C-4855-80E3-635A5B493EB6}"/>
              </a:ext>
            </a:extLst>
          </p:cNvPr>
          <p:cNvPicPr>
            <a:picLocks noChangeAspect="1"/>
          </p:cNvPicPr>
          <p:nvPr/>
        </p:nvPicPr>
        <p:blipFill>
          <a:blip r:embed="rId2"/>
          <a:stretch>
            <a:fillRect/>
          </a:stretch>
        </p:blipFill>
        <p:spPr>
          <a:xfrm>
            <a:off x="99832" y="3892952"/>
            <a:ext cx="8943975" cy="1238250"/>
          </a:xfrm>
          <a:prstGeom prst="rect">
            <a:avLst/>
          </a:prstGeom>
        </p:spPr>
      </p:pic>
    </p:spTree>
    <p:extLst>
      <p:ext uri="{BB962C8B-B14F-4D97-AF65-F5344CB8AC3E}">
        <p14:creationId xmlns:p14="http://schemas.microsoft.com/office/powerpoint/2010/main" val="1103283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produit par un réel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Il est toujours possible de multiplier une matrice par un nombre réel.</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La matrice produit est de même dimension que la matrice opérande dont chaque élément est le produit de l’élément de la matrice opérande à la même position multiplié par le nombre réel.</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Si on multiplie une matrice A par -1, on obtient l’opposé de A que l’on peut noter –A</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649D2903-E6FD-4007-AF49-A375C38C959F}"/>
              </a:ext>
            </a:extLst>
          </p:cNvPr>
          <p:cNvPicPr>
            <a:picLocks noChangeAspect="1"/>
          </p:cNvPicPr>
          <p:nvPr/>
        </p:nvPicPr>
        <p:blipFill>
          <a:blip r:embed="rId2"/>
          <a:stretch>
            <a:fillRect/>
          </a:stretch>
        </p:blipFill>
        <p:spPr>
          <a:xfrm>
            <a:off x="509407" y="3152415"/>
            <a:ext cx="8124825" cy="1238250"/>
          </a:xfrm>
          <a:prstGeom prst="rect">
            <a:avLst/>
          </a:prstGeom>
        </p:spPr>
      </p:pic>
    </p:spTree>
    <p:extLst>
      <p:ext uri="{BB962C8B-B14F-4D97-AF65-F5344CB8AC3E}">
        <p14:creationId xmlns:p14="http://schemas.microsoft.com/office/powerpoint/2010/main" val="560958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Exercice sur les opérations:</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Réalisons quelques calculs sur les matrice :</a:t>
            </a: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2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2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Calculons A + B et A - B</a:t>
            </a: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Calculons (A+B)+(A-B)</a:t>
            </a:r>
          </a:p>
          <a:p>
            <a:pPr marL="889200" lvl="1" indent="-324000">
              <a:spcAft>
                <a:spcPts val="1060"/>
              </a:spcAft>
              <a:buClr>
                <a:srgbClr val="000000"/>
              </a:buClr>
              <a:buSzPct val="45000"/>
              <a:buFont typeface="Wingdings" charset="2"/>
              <a:buChar char=""/>
            </a:pPr>
            <a:r>
              <a:rPr lang="fr-FR" sz="2200" b="0" strike="noStrike" spc="-1" dirty="0">
                <a:solidFill>
                  <a:srgbClr val="376092"/>
                </a:solidFill>
                <a:latin typeface="Arial"/>
              </a:rPr>
              <a:t>Calculons 3.</a:t>
            </a:r>
            <a:r>
              <a:rPr lang="fr-FR" sz="2200" b="0" strike="noStrike" spc="-1">
                <a:solidFill>
                  <a:srgbClr val="376092"/>
                </a:solidFill>
                <a:latin typeface="Arial"/>
              </a:rPr>
              <a:t>A et A + A + A </a:t>
            </a:r>
            <a:endParaRPr lang="fr-FR" sz="2200" b="0" strike="noStrike"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200" spc="-1" dirty="0">
                <a:solidFill>
                  <a:srgbClr val="376092"/>
                </a:solidFill>
                <a:latin typeface="Arial"/>
              </a:rPr>
              <a:t>Calculons </a:t>
            </a:r>
            <a:r>
              <a:rPr lang="fr-FR" sz="2200" b="0" strike="noStrike" spc="-1" dirty="0">
                <a:solidFill>
                  <a:srgbClr val="376092"/>
                </a:solidFill>
                <a:latin typeface="Arial"/>
              </a:rPr>
              <a:t>-10.B</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Peut-on trouver un nombre réel r tel que </a:t>
            </a:r>
            <a:r>
              <a:rPr lang="fr-FR" sz="2200" b="0" strike="noStrike" spc="-1" dirty="0" err="1">
                <a:solidFill>
                  <a:srgbClr val="376092"/>
                </a:solidFill>
                <a:latin typeface="Arial"/>
              </a:rPr>
              <a:t>r.A</a:t>
            </a:r>
            <a:r>
              <a:rPr lang="fr-FR" sz="2200" b="0" strike="noStrike" spc="-1" dirty="0">
                <a:solidFill>
                  <a:srgbClr val="376092"/>
                </a:solidFill>
                <a:latin typeface="Arial"/>
              </a:rPr>
              <a:t> = Id ? Expliquer votre réponse.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C63C15BB-B4A6-44AE-90B0-447E7FD6B65A}"/>
              </a:ext>
            </a:extLst>
          </p:cNvPr>
          <p:cNvPicPr>
            <a:picLocks noChangeAspect="1"/>
          </p:cNvPicPr>
          <p:nvPr/>
        </p:nvPicPr>
        <p:blipFill>
          <a:blip r:embed="rId2"/>
          <a:stretch>
            <a:fillRect/>
          </a:stretch>
        </p:blipFill>
        <p:spPr>
          <a:xfrm>
            <a:off x="993374" y="1417320"/>
            <a:ext cx="6819900" cy="1238250"/>
          </a:xfrm>
          <a:prstGeom prst="rect">
            <a:avLst/>
          </a:prstGeom>
        </p:spPr>
      </p:pic>
    </p:spTree>
    <p:extLst>
      <p:ext uri="{BB962C8B-B14F-4D97-AF65-F5344CB8AC3E}">
        <p14:creationId xmlns:p14="http://schemas.microsoft.com/office/powerpoint/2010/main" val="531973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produit de matrices :</a:t>
            </a:r>
            <a:endParaRPr lang="en-US" sz="3200" b="0" strike="noStrike" spc="-1" dirty="0">
              <a:solidFill>
                <a:srgbClr val="376092"/>
              </a:solidFill>
              <a:latin typeface="Arial"/>
            </a:endParaRPr>
          </a:p>
        </p:txBody>
      </p:sp>
      <p:sp>
        <p:nvSpPr>
          <p:cNvPr id="140" name="TextShape 2"/>
          <p:cNvSpPr txBox="1"/>
          <p:nvPr/>
        </p:nvSpPr>
        <p:spPr>
          <a:xfrm>
            <a:off x="457200" y="1065320"/>
            <a:ext cx="8229240" cy="551800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Pour pouvoir multiplier 2 matrices A x B il faut que le nombres de colonnes de A soit égal au nombre de lignes de B</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La matrice produit a le même nombre de lignes que la matrice A et le même nombre de colonnes que la matrice B. </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Le calcule du produit de 2 matrices se fait de la manière suivantes :</a:t>
            </a: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Si C = A x B alors </a:t>
            </a:r>
            <a:r>
              <a:rPr lang="fr-FR" sz="2200" b="0" strike="noStrike" spc="-1" dirty="0" err="1">
                <a:solidFill>
                  <a:srgbClr val="376092"/>
                </a:solidFill>
                <a:latin typeface="Arial"/>
              </a:rPr>
              <a:t>c</a:t>
            </a:r>
            <a:r>
              <a:rPr lang="fr-FR" sz="2200" b="0" strike="noStrike" spc="-1" baseline="-25000" dirty="0" err="1">
                <a:solidFill>
                  <a:srgbClr val="376092"/>
                </a:solidFill>
                <a:latin typeface="Arial"/>
              </a:rPr>
              <a:t>i,j</a:t>
            </a:r>
            <a:r>
              <a:rPr lang="fr-FR" sz="2200" b="0" strike="noStrike" spc="-1" baseline="-25000" dirty="0">
                <a:solidFill>
                  <a:srgbClr val="376092"/>
                </a:solidFill>
                <a:latin typeface="Arial"/>
              </a:rPr>
              <a:t> </a:t>
            </a:r>
            <a:r>
              <a:rPr lang="fr-FR" sz="2200" b="0" strike="noStrike" spc="-1" dirty="0">
                <a:solidFill>
                  <a:srgbClr val="376092"/>
                </a:solidFill>
                <a:latin typeface="Arial"/>
              </a:rPr>
              <a:t>= a</a:t>
            </a:r>
            <a:r>
              <a:rPr lang="fr-FR" sz="2200" b="0" strike="noStrike" spc="-1" baseline="-25000" dirty="0">
                <a:solidFill>
                  <a:srgbClr val="376092"/>
                </a:solidFill>
                <a:latin typeface="Arial"/>
              </a:rPr>
              <a:t>i,1 </a:t>
            </a:r>
            <a:r>
              <a:rPr lang="fr-FR" sz="2200" b="0" strike="noStrike" spc="-1" dirty="0">
                <a:solidFill>
                  <a:srgbClr val="376092"/>
                </a:solidFill>
                <a:latin typeface="Arial"/>
              </a:rPr>
              <a:t>x b</a:t>
            </a:r>
            <a:r>
              <a:rPr lang="fr-FR" sz="2200" b="0" strike="noStrike" spc="-1" baseline="-25000" dirty="0">
                <a:solidFill>
                  <a:srgbClr val="376092"/>
                </a:solidFill>
                <a:latin typeface="Arial"/>
              </a:rPr>
              <a:t>1,j </a:t>
            </a:r>
            <a:r>
              <a:rPr lang="fr-FR" sz="2200" b="0" strike="noStrike" spc="-1" dirty="0">
                <a:solidFill>
                  <a:srgbClr val="376092"/>
                </a:solidFill>
                <a:latin typeface="Arial"/>
              </a:rPr>
              <a:t>+ a</a:t>
            </a:r>
            <a:r>
              <a:rPr lang="fr-FR" sz="2200" b="0" strike="noStrike" spc="-1" baseline="-25000" dirty="0">
                <a:solidFill>
                  <a:srgbClr val="376092"/>
                </a:solidFill>
                <a:latin typeface="Arial"/>
              </a:rPr>
              <a:t>i,2 </a:t>
            </a:r>
            <a:r>
              <a:rPr lang="fr-FR" sz="2200" b="0" strike="noStrike" spc="-1" dirty="0">
                <a:solidFill>
                  <a:srgbClr val="376092"/>
                </a:solidFill>
                <a:latin typeface="Arial"/>
              </a:rPr>
              <a:t>x b</a:t>
            </a:r>
            <a:r>
              <a:rPr lang="fr-FR" sz="2200" b="0" strike="noStrike" spc="-1" baseline="-25000" dirty="0">
                <a:solidFill>
                  <a:srgbClr val="376092"/>
                </a:solidFill>
                <a:latin typeface="Arial"/>
              </a:rPr>
              <a:t>2,j </a:t>
            </a:r>
            <a:r>
              <a:rPr lang="fr-FR" sz="2200" b="0" strike="noStrike" spc="-1" dirty="0">
                <a:solidFill>
                  <a:srgbClr val="376092"/>
                </a:solidFill>
                <a:latin typeface="Arial"/>
              </a:rPr>
              <a:t>+ … + </a:t>
            </a:r>
            <a:r>
              <a:rPr lang="fr-FR" sz="2200" b="0" strike="noStrike" spc="-1" dirty="0" err="1">
                <a:solidFill>
                  <a:srgbClr val="376092"/>
                </a:solidFill>
                <a:latin typeface="Arial"/>
              </a:rPr>
              <a:t>a</a:t>
            </a:r>
            <a:r>
              <a:rPr lang="fr-FR" sz="2200" b="0" strike="noStrike" spc="-1" baseline="-25000" dirty="0" err="1">
                <a:solidFill>
                  <a:srgbClr val="376092"/>
                </a:solidFill>
                <a:latin typeface="Arial"/>
              </a:rPr>
              <a:t>i,p</a:t>
            </a:r>
            <a:r>
              <a:rPr lang="fr-FR" sz="2200" b="0" strike="noStrike" spc="-1" baseline="-25000" dirty="0">
                <a:solidFill>
                  <a:srgbClr val="376092"/>
                </a:solidFill>
                <a:latin typeface="Arial"/>
              </a:rPr>
              <a:t> </a:t>
            </a:r>
            <a:r>
              <a:rPr lang="fr-FR" sz="2200" b="0" strike="noStrike" spc="-1" dirty="0">
                <a:solidFill>
                  <a:srgbClr val="376092"/>
                </a:solidFill>
                <a:latin typeface="Arial"/>
              </a:rPr>
              <a:t>x </a:t>
            </a:r>
            <a:r>
              <a:rPr lang="fr-FR" sz="2200" b="0" strike="noStrike" spc="-1" dirty="0" err="1">
                <a:solidFill>
                  <a:srgbClr val="376092"/>
                </a:solidFill>
                <a:latin typeface="Arial"/>
              </a:rPr>
              <a:t>b</a:t>
            </a:r>
            <a:r>
              <a:rPr lang="fr-FR" sz="2200" b="0" strike="noStrike" spc="-1" baseline="-25000" dirty="0" err="1">
                <a:solidFill>
                  <a:srgbClr val="376092"/>
                </a:solidFill>
                <a:latin typeface="Arial"/>
              </a:rPr>
              <a:t>p,j</a:t>
            </a:r>
            <a:endParaRPr lang="fr-FR" sz="2200" b="0" strike="noStrike" spc="-1" baseline="-25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FF42D5A6-78A3-410D-B049-F2080C01FF98}"/>
              </a:ext>
            </a:extLst>
          </p:cNvPr>
          <p:cNvPicPr>
            <a:picLocks noChangeAspect="1"/>
          </p:cNvPicPr>
          <p:nvPr/>
        </p:nvPicPr>
        <p:blipFill>
          <a:blip r:embed="rId2"/>
          <a:stretch>
            <a:fillRect/>
          </a:stretch>
        </p:blipFill>
        <p:spPr>
          <a:xfrm>
            <a:off x="2501145" y="3071758"/>
            <a:ext cx="5686425" cy="2486025"/>
          </a:xfrm>
          <a:prstGeom prst="rect">
            <a:avLst/>
          </a:prstGeom>
        </p:spPr>
      </p:pic>
    </p:spTree>
    <p:extLst>
      <p:ext uri="{BB962C8B-B14F-4D97-AF65-F5344CB8AC3E}">
        <p14:creationId xmlns:p14="http://schemas.microsoft.com/office/powerpoint/2010/main" val="4081714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produit de matrices - Exemple :</a:t>
            </a:r>
            <a:endParaRPr lang="en-US" sz="3200" b="0" strike="noStrike" spc="-1" dirty="0">
              <a:solidFill>
                <a:srgbClr val="376092"/>
              </a:solidFill>
              <a:latin typeface="Arial"/>
            </a:endParaRPr>
          </a:p>
        </p:txBody>
      </p:sp>
      <p:sp>
        <p:nvSpPr>
          <p:cNvPr id="140" name="TextShape 2"/>
          <p:cNvSpPr txBox="1"/>
          <p:nvPr/>
        </p:nvSpPr>
        <p:spPr>
          <a:xfrm>
            <a:off x="457200" y="1300216"/>
            <a:ext cx="8229240" cy="5283103"/>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spc="-1" dirty="0">
                <a:solidFill>
                  <a:srgbClr val="376092"/>
                </a:solidFill>
                <a:latin typeface="Arial"/>
              </a:rPr>
              <a:t>Essayons, à l’aide du calcul matriciel de retrouver quelle classe est la plus adaptée à chaque personnage :</a:t>
            </a:r>
          </a:p>
          <a:p>
            <a:pPr marL="108000">
              <a:spcAft>
                <a:spcPts val="1060"/>
              </a:spcAft>
              <a:buClr>
                <a:srgbClr val="000000"/>
              </a:buClr>
              <a:buSzPct val="45000"/>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connaissons également le poids de ces statistiques pour chacune des classes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477124E0-EDC6-42C8-889B-DAD7CBA7AE66}"/>
              </a:ext>
            </a:extLst>
          </p:cNvPr>
          <p:cNvPicPr>
            <a:picLocks noChangeAspect="1"/>
          </p:cNvPicPr>
          <p:nvPr/>
        </p:nvPicPr>
        <p:blipFill>
          <a:blip r:embed="rId2"/>
          <a:stretch>
            <a:fillRect/>
          </a:stretch>
        </p:blipFill>
        <p:spPr>
          <a:xfrm>
            <a:off x="457200" y="2120052"/>
            <a:ext cx="5086350" cy="1552575"/>
          </a:xfrm>
          <a:prstGeom prst="rect">
            <a:avLst/>
          </a:prstGeom>
        </p:spPr>
      </p:pic>
      <p:pic>
        <p:nvPicPr>
          <p:cNvPr id="4" name="Image 3">
            <a:extLst>
              <a:ext uri="{FF2B5EF4-FFF2-40B4-BE49-F238E27FC236}">
                <a16:creationId xmlns:a16="http://schemas.microsoft.com/office/drawing/2014/main" id="{A4D8581B-C2FC-4A00-A256-560613A8D97C}"/>
              </a:ext>
            </a:extLst>
          </p:cNvPr>
          <p:cNvPicPr>
            <a:picLocks noChangeAspect="1"/>
          </p:cNvPicPr>
          <p:nvPr/>
        </p:nvPicPr>
        <p:blipFill>
          <a:blip r:embed="rId3"/>
          <a:stretch>
            <a:fillRect/>
          </a:stretch>
        </p:blipFill>
        <p:spPr>
          <a:xfrm>
            <a:off x="504825" y="4898762"/>
            <a:ext cx="5038725" cy="1552575"/>
          </a:xfrm>
          <a:prstGeom prst="rect">
            <a:avLst/>
          </a:prstGeom>
        </p:spPr>
      </p:pic>
    </p:spTree>
    <p:extLst>
      <p:ext uri="{BB962C8B-B14F-4D97-AF65-F5344CB8AC3E}">
        <p14:creationId xmlns:p14="http://schemas.microsoft.com/office/powerpoint/2010/main" val="674277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produit de matrices - Solution :</a:t>
            </a:r>
            <a:endParaRPr lang="en-US" sz="3200" b="0" strike="noStrike" spc="-1" dirty="0">
              <a:solidFill>
                <a:srgbClr val="376092"/>
              </a:solidFill>
              <a:latin typeface="Arial"/>
            </a:endParaRPr>
          </a:p>
        </p:txBody>
      </p:sp>
      <p:sp>
        <p:nvSpPr>
          <p:cNvPr id="140" name="TextShape 2"/>
          <p:cNvSpPr txBox="1"/>
          <p:nvPr/>
        </p:nvSpPr>
        <p:spPr>
          <a:xfrm>
            <a:off x="457200" y="1300216"/>
            <a:ext cx="8229240" cy="5171605"/>
          </a:xfrm>
          <a:prstGeom prst="rect">
            <a:avLst/>
          </a:prstGeom>
          <a:noFill/>
          <a:ln w="0">
            <a:noFill/>
          </a:ln>
        </p:spPr>
        <p:txBody>
          <a:bodyPr lIns="0" tIns="0" rIns="0" bIns="0">
            <a:noAutofit/>
          </a:bodyPr>
          <a:lstStyle/>
          <a:p>
            <a:pPr marL="108000">
              <a:spcAft>
                <a:spcPts val="1060"/>
              </a:spcAft>
              <a:buClr>
                <a:srgbClr val="000000"/>
              </a:buClr>
              <a:buSzPct val="45000"/>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000" spc="-1" dirty="0">
                <a:solidFill>
                  <a:srgbClr val="376092"/>
                </a:solidFill>
                <a:latin typeface="Arial"/>
              </a:rPr>
              <a:t>Le produit matriciel nous a donné les meilleures solutions :</a:t>
            </a:r>
          </a:p>
          <a:p>
            <a:pPr marL="889200" lvl="1" indent="-324000">
              <a:spcAft>
                <a:spcPts val="1060"/>
              </a:spcAft>
              <a:buClr>
                <a:srgbClr val="000000"/>
              </a:buClr>
              <a:buSzPct val="45000"/>
              <a:buFont typeface="Wingdings" charset="2"/>
              <a:buChar char=""/>
            </a:pPr>
            <a:r>
              <a:rPr lang="fr-FR" sz="2000" b="0" strike="noStrike" spc="-1" dirty="0" err="1">
                <a:solidFill>
                  <a:srgbClr val="376092"/>
                </a:solidFill>
                <a:latin typeface="Arial"/>
              </a:rPr>
              <a:t>Keldorn</a:t>
            </a:r>
            <a:r>
              <a:rPr lang="fr-FR" sz="2000" b="0" strike="noStrike" spc="-1" dirty="0">
                <a:solidFill>
                  <a:srgbClr val="376092"/>
                </a:solidFill>
                <a:latin typeface="Arial"/>
              </a:rPr>
              <a:t> -&gt; Paladin</a:t>
            </a:r>
          </a:p>
          <a:p>
            <a:pPr marL="889200" lvl="1" indent="-324000">
              <a:spcAft>
                <a:spcPts val="1060"/>
              </a:spcAft>
              <a:buClr>
                <a:srgbClr val="000000"/>
              </a:buClr>
              <a:buSzPct val="45000"/>
              <a:buFont typeface="Wingdings" charset="2"/>
              <a:buChar char=""/>
            </a:pPr>
            <a:r>
              <a:rPr lang="fr-FR" sz="2000" spc="-1" dirty="0" err="1">
                <a:solidFill>
                  <a:srgbClr val="376092"/>
                </a:solidFill>
                <a:latin typeface="Arial"/>
              </a:rPr>
              <a:t>Vicconia</a:t>
            </a:r>
            <a:r>
              <a:rPr lang="fr-FR" sz="2000" spc="-1" dirty="0">
                <a:solidFill>
                  <a:srgbClr val="376092"/>
                </a:solidFill>
                <a:latin typeface="Arial"/>
              </a:rPr>
              <a:t> -&gt; Clerc</a:t>
            </a:r>
          </a:p>
          <a:p>
            <a:pPr marL="889200" lvl="1" indent="-324000">
              <a:spcAft>
                <a:spcPts val="1060"/>
              </a:spcAft>
              <a:buClr>
                <a:srgbClr val="000000"/>
              </a:buClr>
              <a:buSzPct val="45000"/>
              <a:buFont typeface="Wingdings" charset="2"/>
              <a:buChar char=""/>
            </a:pPr>
            <a:r>
              <a:rPr lang="fr-FR" sz="2000" b="0" strike="noStrike" spc="-1" dirty="0" err="1">
                <a:solidFill>
                  <a:srgbClr val="376092"/>
                </a:solidFill>
                <a:latin typeface="Arial"/>
              </a:rPr>
              <a:t>Korgan</a:t>
            </a:r>
            <a:r>
              <a:rPr lang="fr-FR" sz="2000" b="0" strike="noStrike" spc="-1" dirty="0">
                <a:solidFill>
                  <a:srgbClr val="376092"/>
                </a:solidFill>
                <a:latin typeface="Arial"/>
              </a:rPr>
              <a:t> -&gt; Guerrier</a:t>
            </a:r>
          </a:p>
          <a:p>
            <a:pPr marL="889200" lvl="1" indent="-324000">
              <a:spcAft>
                <a:spcPts val="1060"/>
              </a:spcAft>
              <a:buClr>
                <a:srgbClr val="000000"/>
              </a:buClr>
              <a:buSzPct val="45000"/>
              <a:buFont typeface="Wingdings" charset="2"/>
              <a:buChar char=""/>
            </a:pPr>
            <a:r>
              <a:rPr lang="fr-FR" sz="2000" spc="-1" dirty="0" err="1">
                <a:solidFill>
                  <a:srgbClr val="376092"/>
                </a:solidFill>
                <a:latin typeface="Arial"/>
              </a:rPr>
              <a:t>Aerie</a:t>
            </a:r>
            <a:r>
              <a:rPr lang="fr-FR" sz="2000" spc="-1" dirty="0">
                <a:solidFill>
                  <a:srgbClr val="376092"/>
                </a:solidFill>
                <a:latin typeface="Arial"/>
              </a:rPr>
              <a:t> -&gt; Mage</a:t>
            </a:r>
            <a:endParaRPr lang="fr-FR" sz="20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6A9D3512-8101-4662-8C8D-3F607E39A835}"/>
              </a:ext>
            </a:extLst>
          </p:cNvPr>
          <p:cNvPicPr>
            <a:picLocks noChangeAspect="1"/>
          </p:cNvPicPr>
          <p:nvPr/>
        </p:nvPicPr>
        <p:blipFill>
          <a:blip r:embed="rId2"/>
          <a:stretch>
            <a:fillRect/>
          </a:stretch>
        </p:blipFill>
        <p:spPr>
          <a:xfrm>
            <a:off x="395056" y="1175659"/>
            <a:ext cx="8487052" cy="3650712"/>
          </a:xfrm>
          <a:prstGeom prst="rect">
            <a:avLst/>
          </a:prstGeom>
        </p:spPr>
      </p:pic>
    </p:spTree>
    <p:extLst>
      <p:ext uri="{BB962C8B-B14F-4D97-AF65-F5344CB8AC3E}">
        <p14:creationId xmlns:p14="http://schemas.microsoft.com/office/powerpoint/2010/main" val="3900927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Exercice :</a:t>
            </a:r>
            <a:endParaRPr lang="en-US" sz="3200" b="0" strike="noStrike" spc="-1" dirty="0">
              <a:solidFill>
                <a:srgbClr val="376092"/>
              </a:solidFill>
              <a:latin typeface="Arial"/>
            </a:endParaRPr>
          </a:p>
        </p:txBody>
      </p:sp>
      <p:sp>
        <p:nvSpPr>
          <p:cNvPr id="140" name="TextShape 2"/>
          <p:cNvSpPr txBox="1"/>
          <p:nvPr/>
        </p:nvSpPr>
        <p:spPr>
          <a:xfrm>
            <a:off x="457200" y="1300216"/>
            <a:ext cx="8229240" cy="5171605"/>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Quelles sont les multiplications possibles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Effectuer les multiplications possibles.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A² et A</a:t>
            </a:r>
            <a:r>
              <a:rPr lang="fr-FR" sz="2400" spc="-1" baseline="30000" dirty="0">
                <a:solidFill>
                  <a:srgbClr val="376092"/>
                </a:solidFill>
                <a:latin typeface="Arial"/>
              </a:rPr>
              <a:t>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Prenez du temps pour comprendre comment utiliser votre calculatrice.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également comment faire du calcul matriciel en Python avec </a:t>
            </a:r>
            <a:r>
              <a:rPr lang="fr-FR" sz="2400" spc="-1" dirty="0" err="1">
                <a:solidFill>
                  <a:srgbClr val="376092"/>
                </a:solidFill>
                <a:latin typeface="Arial"/>
              </a:rPr>
              <a:t>numpy</a:t>
            </a: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32C9EEA8-E0DD-4494-9416-8D3AA34BBECC}"/>
              </a:ext>
            </a:extLst>
          </p:cNvPr>
          <p:cNvPicPr>
            <a:picLocks noChangeAspect="1"/>
          </p:cNvPicPr>
          <p:nvPr/>
        </p:nvPicPr>
        <p:blipFill>
          <a:blip r:embed="rId2"/>
          <a:stretch>
            <a:fillRect/>
          </a:stretch>
        </p:blipFill>
        <p:spPr>
          <a:xfrm>
            <a:off x="0" y="972053"/>
            <a:ext cx="9144000" cy="1682420"/>
          </a:xfrm>
          <a:prstGeom prst="rect">
            <a:avLst/>
          </a:prstGeom>
        </p:spPr>
      </p:pic>
    </p:spTree>
    <p:extLst>
      <p:ext uri="{BB962C8B-B14F-4D97-AF65-F5344CB8AC3E}">
        <p14:creationId xmlns:p14="http://schemas.microsoft.com/office/powerpoint/2010/main" val="2548302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produit de matrices - Propriétés :</a:t>
            </a:r>
            <a:endParaRPr lang="en-US" sz="3200" b="0" strike="noStrike" spc="-1" dirty="0">
              <a:solidFill>
                <a:srgbClr val="376092"/>
              </a:solidFill>
              <a:latin typeface="Arial"/>
            </a:endParaRPr>
          </a:p>
        </p:txBody>
      </p:sp>
      <p:sp>
        <p:nvSpPr>
          <p:cNvPr id="140" name="TextShape 2"/>
          <p:cNvSpPr txBox="1"/>
          <p:nvPr/>
        </p:nvSpPr>
        <p:spPr>
          <a:xfrm>
            <a:off x="457200" y="1300216"/>
            <a:ext cx="8229240" cy="5171605"/>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matrice identité est l’élément neutre de la multiplication matricielle par une matrice carrée A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x I = I x A =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définition de la multiplication matricielle nous indique que si A x B est définie, B x A ne l’est pas forcément. La multiplication n’est pas commutative.</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La multiplication est associative : (A x B) x C = A x (B x C)</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multiplication est distributive : Ax(B + C) = </a:t>
            </a:r>
            <a:r>
              <a:rPr lang="fr-FR" sz="2400" spc="-1" dirty="0" err="1">
                <a:solidFill>
                  <a:srgbClr val="376092"/>
                </a:solidFill>
                <a:latin typeface="Arial"/>
              </a:rPr>
              <a:t>AxB</a:t>
            </a:r>
            <a:r>
              <a:rPr lang="fr-FR" sz="2400" spc="-1" dirty="0">
                <a:solidFill>
                  <a:srgbClr val="376092"/>
                </a:solidFill>
                <a:latin typeface="Arial"/>
              </a:rPr>
              <a:t> + </a:t>
            </a:r>
            <a:r>
              <a:rPr lang="fr-FR" sz="2400" spc="-1" dirty="0" err="1">
                <a:solidFill>
                  <a:srgbClr val="376092"/>
                </a:solidFill>
                <a:latin typeface="Arial"/>
              </a:rPr>
              <a:t>AxC</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Il est possible d’utiliser les puissances avec les matrices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A² = A x A</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a:t>
            </a:r>
            <a:r>
              <a:rPr lang="fr-FR" sz="2400" b="0" strike="noStrike" spc="-1" baseline="30000" dirty="0">
                <a:solidFill>
                  <a:srgbClr val="376092"/>
                </a:solidFill>
                <a:latin typeface="Arial"/>
              </a:rPr>
              <a:t>3</a:t>
            </a:r>
            <a:r>
              <a:rPr lang="fr-FR" sz="2400" b="0" strike="noStrike" spc="-1" dirty="0">
                <a:solidFill>
                  <a:srgbClr val="376092"/>
                </a:solidFill>
                <a:latin typeface="Arial"/>
              </a:rPr>
              <a:t> = A x A x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219316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matriciel – retrouvons les propriétés :</a:t>
            </a:r>
            <a:endParaRPr lang="en-US" sz="3200" b="0" strike="noStrike" spc="-1" dirty="0">
              <a:solidFill>
                <a:srgbClr val="376092"/>
              </a:solidFill>
              <a:latin typeface="Arial"/>
            </a:endParaRPr>
          </a:p>
        </p:txBody>
      </p:sp>
      <p:sp>
        <p:nvSpPr>
          <p:cNvPr id="140" name="TextShape 2"/>
          <p:cNvSpPr txBox="1"/>
          <p:nvPr/>
        </p:nvSpPr>
        <p:spPr>
          <a:xfrm>
            <a:off x="457200" y="1065320"/>
            <a:ext cx="8229240" cy="5060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Ecrire un algorithme qui fait la somme de deux matrices après avoir vérifié que cette somme est possible.</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A partir de l’algorithme de somme de matrice, comment pouvons-nous tester la commutativité de l’addition matricielle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Ecrire un algorithme qui permet de multiplier une matrice par un nombre réel.</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A partir de l’algorithme de multiplication et de l’algorithme de somme, calculer la somme de matrice : A + (-A) </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A partir de la somme et du produit par un réel, comment peut-on écrire une soustraction de matrice ?</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Ecrire un algorithme qui permet de multiplier deux ma</a:t>
            </a:r>
            <a:r>
              <a:rPr lang="fr-FR" sz="2200" spc="-1" dirty="0">
                <a:solidFill>
                  <a:srgbClr val="376092"/>
                </a:solidFill>
                <a:latin typeface="Arial"/>
              </a:rPr>
              <a:t>trices.</a:t>
            </a: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A pa</a:t>
            </a:r>
            <a:r>
              <a:rPr lang="fr-FR" sz="2200" spc="-1" dirty="0">
                <a:solidFill>
                  <a:srgbClr val="376092"/>
                </a:solidFill>
                <a:latin typeface="Arial"/>
              </a:rPr>
              <a:t>rtir de l’algorithme de multiplication matricielle, comment tester la propriété d’associativité de la multiplication ?</a:t>
            </a: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139686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Inverse d’une matrice carrée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Soit une matrice carrée A et une matrice carrée B telles que A x B = matrice identité. Dans ce cas, B est l’inverse de A et peut être noté A</a:t>
            </a:r>
            <a:r>
              <a:rPr lang="fr-FR" sz="2200" b="0" strike="noStrike" spc="-1" baseline="30000" dirty="0">
                <a:solidFill>
                  <a:srgbClr val="376092"/>
                </a:solidFill>
                <a:latin typeface="Arial"/>
              </a:rPr>
              <a:t>-1</a:t>
            </a:r>
          </a:p>
          <a:p>
            <a:pPr marL="432000" indent="-324000">
              <a:spcAft>
                <a:spcPts val="1060"/>
              </a:spcAft>
              <a:buClr>
                <a:srgbClr val="000000"/>
              </a:buClr>
              <a:buSzPct val="45000"/>
              <a:buFont typeface="Wingdings" charset="2"/>
              <a:buChar char=""/>
            </a:pPr>
            <a:endParaRPr lang="fr-FR" sz="22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baseline="30000" dirty="0">
              <a:solidFill>
                <a:srgbClr val="376092"/>
              </a:solidFill>
              <a:latin typeface="Arial"/>
            </a:endParaRPr>
          </a:p>
          <a:p>
            <a:pPr marL="108000">
              <a:spcAft>
                <a:spcPts val="1060"/>
              </a:spcAft>
              <a:buClr>
                <a:srgbClr val="000000"/>
              </a:buClr>
              <a:buSzPct val="45000"/>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spc="-1" dirty="0">
                <a:solidFill>
                  <a:srgbClr val="376092"/>
                </a:solidFill>
                <a:latin typeface="Arial"/>
              </a:rPr>
              <a:t>On dit dans ce cas que A est inversible. A x B = B x A = I</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La matrice inverse d’une matrice A est unique.</a:t>
            </a:r>
          </a:p>
          <a:p>
            <a:pPr marL="432000" indent="-324000">
              <a:spcAft>
                <a:spcPts val="1060"/>
              </a:spcAft>
              <a:buClr>
                <a:srgbClr val="000000"/>
              </a:buClr>
              <a:buSzPct val="45000"/>
              <a:buFont typeface="Wingdings" charset="2"/>
              <a:buChar char=""/>
            </a:pPr>
            <a:r>
              <a:rPr lang="fr-FR" sz="2200" spc="-1" dirty="0">
                <a:solidFill>
                  <a:srgbClr val="376092"/>
                </a:solidFill>
                <a:latin typeface="Arial"/>
              </a:rPr>
              <a:t>Attention à ne pas confondre la matrice inverse A</a:t>
            </a:r>
            <a:r>
              <a:rPr lang="fr-FR" sz="2200" spc="-1" baseline="30000" dirty="0">
                <a:solidFill>
                  <a:srgbClr val="376092"/>
                </a:solidFill>
                <a:latin typeface="Arial"/>
              </a:rPr>
              <a:t>-1</a:t>
            </a:r>
            <a:r>
              <a:rPr lang="fr-FR" sz="2200" spc="-1" dirty="0">
                <a:solidFill>
                  <a:srgbClr val="376092"/>
                </a:solidFill>
                <a:latin typeface="Arial"/>
              </a:rPr>
              <a:t> et la matrice opposée –A. </a:t>
            </a: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6BEC2432-7B6A-428E-A26E-C9C6DE13101D}"/>
              </a:ext>
            </a:extLst>
          </p:cNvPr>
          <p:cNvPicPr>
            <a:picLocks noChangeAspect="1"/>
          </p:cNvPicPr>
          <p:nvPr/>
        </p:nvPicPr>
        <p:blipFill>
          <a:blip r:embed="rId2"/>
          <a:stretch>
            <a:fillRect/>
          </a:stretch>
        </p:blipFill>
        <p:spPr>
          <a:xfrm>
            <a:off x="2629130" y="2051667"/>
            <a:ext cx="5838825" cy="1866900"/>
          </a:xfrm>
          <a:prstGeom prst="rect">
            <a:avLst/>
          </a:prstGeom>
        </p:spPr>
      </p:pic>
    </p:spTree>
    <p:extLst>
      <p:ext uri="{BB962C8B-B14F-4D97-AF65-F5344CB8AC3E}">
        <p14:creationId xmlns:p14="http://schemas.microsoft.com/office/powerpoint/2010/main" val="1383444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Inverse d’une matrice carrée – exercice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Calculer A x B et B x A. Que peut-on dire des matrice A et B ?</a:t>
            </a:r>
            <a:endParaRPr lang="fr-FR" sz="2200" b="0" strike="noStrike"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baseline="30000" dirty="0">
              <a:solidFill>
                <a:srgbClr val="376092"/>
              </a:solidFill>
              <a:latin typeface="Arial"/>
            </a:endParaRPr>
          </a:p>
          <a:p>
            <a:pPr marL="432000" indent="-324000">
              <a:spcAft>
                <a:spcPts val="1060"/>
              </a:spcAft>
              <a:buClr>
                <a:srgbClr val="000000"/>
              </a:buClr>
              <a:buSzPct val="45000"/>
              <a:buFont typeface="Wingdings" charset="2"/>
              <a:buChar char=""/>
            </a:pPr>
            <a:endParaRPr lang="fr-FR" sz="2200" b="0" strike="noStrike" spc="-1" baseline="30000" dirty="0">
              <a:solidFill>
                <a:srgbClr val="376092"/>
              </a:solidFill>
              <a:latin typeface="Arial"/>
            </a:endParaRPr>
          </a:p>
          <a:p>
            <a:pPr marL="108000">
              <a:spcAft>
                <a:spcPts val="1060"/>
              </a:spcAft>
              <a:buClr>
                <a:srgbClr val="000000"/>
              </a:buClr>
              <a:buSzPct val="45000"/>
            </a:pPr>
            <a:endParaRPr lang="fr-FR" sz="22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200" b="0" strike="noStrike" spc="-1" dirty="0">
                <a:solidFill>
                  <a:srgbClr val="376092"/>
                </a:solidFill>
                <a:latin typeface="Arial"/>
              </a:rPr>
              <a:t>Calculer A x B et B x A. Que peut-on dire des matrice A et B ?</a:t>
            </a:r>
            <a:endParaRPr lang="fr-FR" sz="2200" b="0" strike="noStrike" spc="-1" baseline="30000" dirty="0">
              <a:solidFill>
                <a:srgbClr val="376092"/>
              </a:solidFill>
              <a:latin typeface="Arial"/>
            </a:endParaRPr>
          </a:p>
          <a:p>
            <a:pPr marL="432000" indent="-324000">
              <a:spcAft>
                <a:spcPts val="1060"/>
              </a:spcAft>
              <a:buClr>
                <a:srgbClr val="000000"/>
              </a:buClr>
              <a:buSzPct val="45000"/>
              <a:buFont typeface="Wingdings" charset="2"/>
              <a:buChar char=""/>
            </a:pPr>
            <a:r>
              <a:rPr lang="fr-FR" sz="2200" spc="-1" dirty="0">
                <a:solidFill>
                  <a:srgbClr val="376092"/>
                </a:solidFill>
                <a:latin typeface="Arial"/>
              </a:rPr>
              <a:t>En déduire la matrice A</a:t>
            </a:r>
            <a:r>
              <a:rPr lang="fr-FR" sz="2200" spc="-1" baseline="30000" dirty="0">
                <a:solidFill>
                  <a:srgbClr val="376092"/>
                </a:solidFill>
                <a:latin typeface="Arial"/>
              </a:rPr>
              <a:t>-1</a:t>
            </a: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5" name="Image 4">
            <a:extLst>
              <a:ext uri="{FF2B5EF4-FFF2-40B4-BE49-F238E27FC236}">
                <a16:creationId xmlns:a16="http://schemas.microsoft.com/office/drawing/2014/main" id="{F8D1E612-3C5F-42B4-9BA3-876674B5BFDF}"/>
              </a:ext>
            </a:extLst>
          </p:cNvPr>
          <p:cNvPicPr>
            <a:picLocks noChangeAspect="1"/>
          </p:cNvPicPr>
          <p:nvPr/>
        </p:nvPicPr>
        <p:blipFill>
          <a:blip r:embed="rId2"/>
          <a:stretch>
            <a:fillRect/>
          </a:stretch>
        </p:blipFill>
        <p:spPr>
          <a:xfrm>
            <a:off x="1133295" y="1532507"/>
            <a:ext cx="6877050" cy="685800"/>
          </a:xfrm>
          <a:prstGeom prst="rect">
            <a:avLst/>
          </a:prstGeom>
        </p:spPr>
      </p:pic>
      <p:pic>
        <p:nvPicPr>
          <p:cNvPr id="6" name="Image 5">
            <a:extLst>
              <a:ext uri="{FF2B5EF4-FFF2-40B4-BE49-F238E27FC236}">
                <a16:creationId xmlns:a16="http://schemas.microsoft.com/office/drawing/2014/main" id="{01E71A12-1964-4FEE-863B-7758AA50EC77}"/>
              </a:ext>
            </a:extLst>
          </p:cNvPr>
          <p:cNvPicPr>
            <a:picLocks noChangeAspect="1"/>
          </p:cNvPicPr>
          <p:nvPr/>
        </p:nvPicPr>
        <p:blipFill>
          <a:blip r:embed="rId3"/>
          <a:stretch>
            <a:fillRect/>
          </a:stretch>
        </p:blipFill>
        <p:spPr>
          <a:xfrm>
            <a:off x="1018066" y="3018047"/>
            <a:ext cx="6877050" cy="685800"/>
          </a:xfrm>
          <a:prstGeom prst="rect">
            <a:avLst/>
          </a:prstGeom>
        </p:spPr>
      </p:pic>
    </p:spTree>
    <p:extLst>
      <p:ext uri="{BB962C8B-B14F-4D97-AF65-F5344CB8AC3E}">
        <p14:creationId xmlns:p14="http://schemas.microsoft.com/office/powerpoint/2010/main" val="3697538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Résolution de système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L’idée est ici de se servir de la matrice pour résoudre un système d’équation.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l’exemple suivant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Je passe à la boulangerie et je m’achète 2 parts de tarte et 3 baguettes, le boulanger me demande 7 euros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Mon ami Bob passe à la boulangerie et achète 3 parts de tarte et 4 baguettes, le boulanger lui demande 10 euros.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Commençons par mettre ce problème en équation.</a:t>
            </a: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2037702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Résolution de système : Mise en équation</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 système d’équation à résoudre est le suivant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2 x t + 3 x b = 7 (2 tartes + 3 baguettes = 7 euros)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3 x t + 4 x b = 10 (3 tartes + 4 baguettes = 10 euros)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maintenant les matrices pour séparer les valeurs des inconnus et posons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Ceci nous permet d’écrire : AX =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un système de n équations à n inconnues peut s’écrire sous la forme matricielle AX = B et si A est inversible, alors le système admet une solution X telle que X = A</a:t>
            </a:r>
            <a:r>
              <a:rPr lang="fr-FR" sz="2400" spc="-1" baseline="30000" dirty="0">
                <a:solidFill>
                  <a:srgbClr val="376092"/>
                </a:solidFill>
                <a:latin typeface="Arial"/>
              </a:rPr>
              <a:t>-1</a:t>
            </a:r>
            <a:r>
              <a:rPr lang="fr-FR" sz="2400" spc="-1" dirty="0">
                <a:solidFill>
                  <a:srgbClr val="376092"/>
                </a:solidFill>
                <a:latin typeface="Arial"/>
              </a:rPr>
              <a:t>xB</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2" name="Image 1">
            <a:extLst>
              <a:ext uri="{FF2B5EF4-FFF2-40B4-BE49-F238E27FC236}">
                <a16:creationId xmlns:a16="http://schemas.microsoft.com/office/drawing/2014/main" id="{A4F96C4E-60EB-43D1-8F60-5AEDB42B3FD7}"/>
              </a:ext>
            </a:extLst>
          </p:cNvPr>
          <p:cNvPicPr>
            <a:picLocks noChangeAspect="1"/>
          </p:cNvPicPr>
          <p:nvPr/>
        </p:nvPicPr>
        <p:blipFill>
          <a:blip r:embed="rId2"/>
          <a:stretch>
            <a:fillRect/>
          </a:stretch>
        </p:blipFill>
        <p:spPr>
          <a:xfrm>
            <a:off x="-180" y="3674193"/>
            <a:ext cx="9144000" cy="1160859"/>
          </a:xfrm>
          <a:prstGeom prst="rect">
            <a:avLst/>
          </a:prstGeom>
        </p:spPr>
      </p:pic>
    </p:spTree>
    <p:extLst>
      <p:ext uri="{BB962C8B-B14F-4D97-AF65-F5344CB8AC3E}">
        <p14:creationId xmlns:p14="http://schemas.microsoft.com/office/powerpoint/2010/main" val="4100370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Résolution de système : Explication du théorème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Nous avons écrit notre problème sous la forme matricielle AX = B, je cherche à isoler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a:t>
            </a:r>
            <a:r>
              <a:rPr lang="fr-FR" sz="2400" spc="-1" baseline="30000" dirty="0">
                <a:solidFill>
                  <a:srgbClr val="376092"/>
                </a:solidFill>
                <a:latin typeface="Arial"/>
              </a:rPr>
              <a:t>-1</a:t>
            </a:r>
            <a:r>
              <a:rPr lang="fr-FR" sz="2400" spc="-1" dirty="0">
                <a:solidFill>
                  <a:srgbClr val="376092"/>
                </a:solidFill>
                <a:latin typeface="Arial"/>
              </a:rPr>
              <a:t> x AX = A</a:t>
            </a:r>
            <a:r>
              <a:rPr lang="fr-FR" sz="2400" spc="-1" baseline="30000" dirty="0">
                <a:solidFill>
                  <a:srgbClr val="376092"/>
                </a:solidFill>
                <a:latin typeface="Arial"/>
              </a:rPr>
              <a:t>-1</a:t>
            </a:r>
            <a:r>
              <a:rPr lang="fr-FR" sz="2400" spc="-1" dirty="0">
                <a:solidFill>
                  <a:srgbClr val="376092"/>
                </a:solidFill>
                <a:latin typeface="Arial"/>
              </a:rPr>
              <a:t> x B (multiplication des deux membres par A</a:t>
            </a:r>
            <a:r>
              <a:rPr lang="fr-FR" sz="2400" spc="-1" baseline="30000" dirty="0">
                <a:solidFill>
                  <a:srgbClr val="376092"/>
                </a:solidFill>
                <a:latin typeface="Arial"/>
              </a:rPr>
              <a:t>-1</a:t>
            </a:r>
            <a:r>
              <a:rPr lang="fr-FR" sz="2400" spc="-1" dirty="0">
                <a:solidFill>
                  <a:srgbClr val="376092"/>
                </a:solidFill>
                <a:latin typeface="Arial"/>
              </a:rPr>
              <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 x </a:t>
            </a:r>
            <a:r>
              <a:rPr lang="fr-FR" sz="2400" spc="-1" dirty="0" err="1">
                <a:solidFill>
                  <a:srgbClr val="376092"/>
                </a:solidFill>
                <a:latin typeface="Arial"/>
              </a:rPr>
              <a:t>X</a:t>
            </a:r>
            <a:r>
              <a:rPr lang="fr-FR" sz="2400" spc="-1" dirty="0">
                <a:solidFill>
                  <a:srgbClr val="376092"/>
                </a:solidFill>
                <a:latin typeface="Arial"/>
              </a:rPr>
              <a:t> = A</a:t>
            </a:r>
            <a:r>
              <a:rPr lang="fr-FR" sz="2400" spc="-1" baseline="30000" dirty="0">
                <a:solidFill>
                  <a:srgbClr val="376092"/>
                </a:solidFill>
                <a:latin typeface="Arial"/>
              </a:rPr>
              <a:t>-1</a:t>
            </a:r>
            <a:r>
              <a:rPr lang="fr-FR" sz="2400" spc="-1" dirty="0">
                <a:solidFill>
                  <a:srgbClr val="376092"/>
                </a:solidFill>
                <a:latin typeface="Arial"/>
              </a:rPr>
              <a:t> x B (car A</a:t>
            </a:r>
            <a:r>
              <a:rPr lang="fr-FR" sz="2400" spc="-1" baseline="30000" dirty="0">
                <a:solidFill>
                  <a:srgbClr val="376092"/>
                </a:solidFill>
                <a:latin typeface="Arial"/>
              </a:rPr>
              <a:t>-1</a:t>
            </a:r>
            <a:r>
              <a:rPr lang="fr-FR" sz="2400" spc="-1" dirty="0">
                <a:solidFill>
                  <a:srgbClr val="376092"/>
                </a:solidFill>
                <a:latin typeface="Arial"/>
              </a:rPr>
              <a:t> x A = I)</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X = A</a:t>
            </a:r>
            <a:r>
              <a:rPr lang="fr-FR" sz="2400" spc="-1" baseline="30000" dirty="0">
                <a:solidFill>
                  <a:srgbClr val="376092"/>
                </a:solidFill>
                <a:latin typeface="Arial"/>
              </a:rPr>
              <a:t>-1</a:t>
            </a:r>
            <a:r>
              <a:rPr lang="fr-FR" sz="2400" spc="-1" dirty="0">
                <a:solidFill>
                  <a:srgbClr val="376092"/>
                </a:solidFill>
                <a:latin typeface="Arial"/>
              </a:rPr>
              <a:t> x B (car A x I = I x A = A)</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donc la calculatrice pour nous donner la matrice inverse de A :</a:t>
            </a: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4" name="Image 3">
            <a:extLst>
              <a:ext uri="{FF2B5EF4-FFF2-40B4-BE49-F238E27FC236}">
                <a16:creationId xmlns:a16="http://schemas.microsoft.com/office/drawing/2014/main" id="{05BD6539-F4A9-45DE-A35F-52F015C505F9}"/>
              </a:ext>
            </a:extLst>
          </p:cNvPr>
          <p:cNvPicPr>
            <a:picLocks noChangeAspect="1"/>
          </p:cNvPicPr>
          <p:nvPr/>
        </p:nvPicPr>
        <p:blipFill>
          <a:blip r:embed="rId2"/>
          <a:stretch>
            <a:fillRect/>
          </a:stretch>
        </p:blipFill>
        <p:spPr>
          <a:xfrm>
            <a:off x="2397571" y="4887510"/>
            <a:ext cx="3248025" cy="1238250"/>
          </a:xfrm>
          <a:prstGeom prst="rect">
            <a:avLst/>
          </a:prstGeom>
        </p:spPr>
      </p:pic>
    </p:spTree>
    <p:extLst>
      <p:ext uri="{BB962C8B-B14F-4D97-AF65-F5344CB8AC3E}">
        <p14:creationId xmlns:p14="http://schemas.microsoft.com/office/powerpoint/2010/main" val="567095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Résolution de système : Calcul des inconnus</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Utilisons la matrice inverse de A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ne reste plus qu’à calculer A</a:t>
            </a:r>
            <a:r>
              <a:rPr lang="fr-FR" sz="2400" spc="-1" baseline="30000" dirty="0">
                <a:solidFill>
                  <a:srgbClr val="376092"/>
                </a:solidFill>
                <a:latin typeface="Arial"/>
              </a:rPr>
              <a:t>-1</a:t>
            </a:r>
            <a:r>
              <a:rPr lang="fr-FR" sz="2400" spc="-1" dirty="0">
                <a:solidFill>
                  <a:srgbClr val="376092"/>
                </a:solidFill>
                <a:latin typeface="Arial"/>
              </a:rPr>
              <a:t> x B</a:t>
            </a:r>
            <a:endParaRPr lang="fr-FR" sz="2400" b="0" strike="noStrike" spc="-1" dirty="0">
              <a:solidFill>
                <a:srgbClr val="376092"/>
              </a:solidFill>
              <a:latin typeface="Arial"/>
            </a:endParaRP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3" name="Image 2">
            <a:extLst>
              <a:ext uri="{FF2B5EF4-FFF2-40B4-BE49-F238E27FC236}">
                <a16:creationId xmlns:a16="http://schemas.microsoft.com/office/drawing/2014/main" id="{ED7B7D2E-DC4B-4712-BED4-78959F0A1824}"/>
              </a:ext>
            </a:extLst>
          </p:cNvPr>
          <p:cNvPicPr>
            <a:picLocks noChangeAspect="1"/>
          </p:cNvPicPr>
          <p:nvPr/>
        </p:nvPicPr>
        <p:blipFill>
          <a:blip r:embed="rId2"/>
          <a:stretch>
            <a:fillRect/>
          </a:stretch>
        </p:blipFill>
        <p:spPr>
          <a:xfrm>
            <a:off x="2530736" y="1744554"/>
            <a:ext cx="3248025" cy="1238250"/>
          </a:xfrm>
          <a:prstGeom prst="rect">
            <a:avLst/>
          </a:prstGeom>
        </p:spPr>
      </p:pic>
      <p:pic>
        <p:nvPicPr>
          <p:cNvPr id="6" name="Image 5">
            <a:extLst>
              <a:ext uri="{FF2B5EF4-FFF2-40B4-BE49-F238E27FC236}">
                <a16:creationId xmlns:a16="http://schemas.microsoft.com/office/drawing/2014/main" id="{52F773C5-D444-4957-88A9-C2C81882D5BD}"/>
              </a:ext>
            </a:extLst>
          </p:cNvPr>
          <p:cNvPicPr>
            <a:picLocks noChangeAspect="1"/>
          </p:cNvPicPr>
          <p:nvPr/>
        </p:nvPicPr>
        <p:blipFill>
          <a:blip r:embed="rId3"/>
          <a:stretch>
            <a:fillRect/>
          </a:stretch>
        </p:blipFill>
        <p:spPr>
          <a:xfrm>
            <a:off x="914220" y="3782637"/>
            <a:ext cx="7315200" cy="1238250"/>
          </a:xfrm>
          <a:prstGeom prst="rect">
            <a:avLst/>
          </a:prstGeom>
        </p:spPr>
      </p:pic>
    </p:spTree>
    <p:extLst>
      <p:ext uri="{BB962C8B-B14F-4D97-AF65-F5344CB8AC3E}">
        <p14:creationId xmlns:p14="http://schemas.microsoft.com/office/powerpoint/2010/main" val="1372146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Résolution de système : Conclusion</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Suite à notre calcul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Notre système d’équation est résolu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Prix t d’une part de tarte : 2 euros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Prix b d’une baguette : 1 euro</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Vérifier ces résultats dans les </a:t>
            </a:r>
            <a:r>
              <a:rPr lang="fr-FR" sz="2400" spc="-1" dirty="0">
                <a:solidFill>
                  <a:srgbClr val="376092"/>
                </a:solidFill>
                <a:latin typeface="Arial"/>
              </a:rPr>
              <a:t>équations initiales</a:t>
            </a:r>
            <a:endParaRPr lang="fr-FR" sz="2400" b="0" strike="noStrike" spc="-1" dirty="0">
              <a:solidFill>
                <a:srgbClr val="376092"/>
              </a:solidFill>
              <a:latin typeface="Arial"/>
            </a:endParaRP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pic>
        <p:nvPicPr>
          <p:cNvPr id="4" name="Image 3">
            <a:extLst>
              <a:ext uri="{FF2B5EF4-FFF2-40B4-BE49-F238E27FC236}">
                <a16:creationId xmlns:a16="http://schemas.microsoft.com/office/drawing/2014/main" id="{7DBB21A0-6DC9-4DB7-B42A-41652AFC33B8}"/>
              </a:ext>
            </a:extLst>
          </p:cNvPr>
          <p:cNvPicPr>
            <a:picLocks noChangeAspect="1"/>
          </p:cNvPicPr>
          <p:nvPr/>
        </p:nvPicPr>
        <p:blipFill>
          <a:blip r:embed="rId2"/>
          <a:stretch>
            <a:fillRect/>
          </a:stretch>
        </p:blipFill>
        <p:spPr>
          <a:xfrm>
            <a:off x="349609" y="2015360"/>
            <a:ext cx="8124825" cy="1238250"/>
          </a:xfrm>
          <a:prstGeom prst="rect">
            <a:avLst/>
          </a:prstGeom>
        </p:spPr>
      </p:pic>
    </p:spTree>
    <p:extLst>
      <p:ext uri="{BB962C8B-B14F-4D97-AF65-F5344CB8AC3E}">
        <p14:creationId xmlns:p14="http://schemas.microsoft.com/office/powerpoint/2010/main" val="2272128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Résolution de système : Retrouvons les propriétés</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 algorithme qui permet de générer une matrice identité d’un ordre donné.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l’aide des algorithmes que nous avons déjà écrits, comment, écrire un algorithme qui teste si deux matrices sont inverses l’une de l’autre.</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2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458293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3280</TotalTime>
  <Words>1573</Words>
  <Application>Microsoft Office PowerPoint</Application>
  <PresentationFormat>Affichage à l'écran (4:3)</PresentationFormat>
  <Paragraphs>248</Paragraphs>
  <Slides>24</Slides>
  <Notes>0</Notes>
  <HiddenSlides>0</HiddenSlides>
  <MMClips>0</MMClips>
  <ScaleCrop>false</ScaleCrop>
  <HeadingPairs>
    <vt:vector size="6" baseType="variant">
      <vt:variant>
        <vt:lpstr>Polices utilisées</vt:lpstr>
      </vt:variant>
      <vt:variant>
        <vt:i4>5</vt:i4>
      </vt:variant>
      <vt:variant>
        <vt:lpstr>Thème</vt:lpstr>
      </vt:variant>
      <vt:variant>
        <vt:i4>3</vt:i4>
      </vt:variant>
      <vt:variant>
        <vt:lpstr>Titres des diapositives</vt:lpstr>
      </vt:variant>
      <vt:variant>
        <vt:i4>24</vt:i4>
      </vt:variant>
    </vt:vector>
  </HeadingPairs>
  <TitlesOfParts>
    <vt:vector size="32" baseType="lpstr">
      <vt:lpstr>Arial</vt:lpstr>
      <vt:lpstr>Calibri</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192</cp:revision>
  <dcterms:created xsi:type="dcterms:W3CDTF">2012-01-17T22:15:29Z</dcterms:created>
  <dcterms:modified xsi:type="dcterms:W3CDTF">2025-08-29T13:08:11Z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