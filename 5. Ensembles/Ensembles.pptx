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56"/>
  </p:notesMasterIdLst>
  <p:sldIdLst>
    <p:sldId id="256" r:id="rId4"/>
    <p:sldId id="257" r:id="rId5"/>
    <p:sldId id="343" r:id="rId6"/>
    <p:sldId id="420" r:id="rId7"/>
    <p:sldId id="456" r:id="rId8"/>
    <p:sldId id="421" r:id="rId9"/>
    <p:sldId id="422" r:id="rId10"/>
    <p:sldId id="423" r:id="rId11"/>
    <p:sldId id="424" r:id="rId12"/>
    <p:sldId id="457" r:id="rId13"/>
    <p:sldId id="425" r:id="rId14"/>
    <p:sldId id="426" r:id="rId15"/>
    <p:sldId id="458" r:id="rId16"/>
    <p:sldId id="427" r:id="rId17"/>
    <p:sldId id="428" r:id="rId18"/>
    <p:sldId id="460" r:id="rId19"/>
    <p:sldId id="429" r:id="rId20"/>
    <p:sldId id="461" r:id="rId21"/>
    <p:sldId id="430" r:id="rId22"/>
    <p:sldId id="431" r:id="rId23"/>
    <p:sldId id="432" r:id="rId24"/>
    <p:sldId id="462" r:id="rId25"/>
    <p:sldId id="459" r:id="rId26"/>
    <p:sldId id="433" r:id="rId27"/>
    <p:sldId id="463" r:id="rId28"/>
    <p:sldId id="434" r:id="rId29"/>
    <p:sldId id="435" r:id="rId30"/>
    <p:sldId id="436" r:id="rId31"/>
    <p:sldId id="437" r:id="rId32"/>
    <p:sldId id="438" r:id="rId33"/>
    <p:sldId id="439" r:id="rId34"/>
    <p:sldId id="440" r:id="rId35"/>
    <p:sldId id="441" r:id="rId36"/>
    <p:sldId id="464" r:id="rId37"/>
    <p:sldId id="442" r:id="rId38"/>
    <p:sldId id="443" r:id="rId39"/>
    <p:sldId id="444" r:id="rId40"/>
    <p:sldId id="445" r:id="rId41"/>
    <p:sldId id="446" r:id="rId42"/>
    <p:sldId id="465" r:id="rId43"/>
    <p:sldId id="447" r:id="rId44"/>
    <p:sldId id="448" r:id="rId45"/>
    <p:sldId id="449" r:id="rId46"/>
    <p:sldId id="450" r:id="rId47"/>
    <p:sldId id="466" r:id="rId48"/>
    <p:sldId id="451" r:id="rId49"/>
    <p:sldId id="452" r:id="rId50"/>
    <p:sldId id="453" r:id="rId51"/>
    <p:sldId id="454" r:id="rId52"/>
    <p:sldId id="455" r:id="rId53"/>
    <p:sldId id="467" r:id="rId54"/>
    <p:sldId id="281" r:id="rId55"/>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1304" autoAdjust="0"/>
  </p:normalViewPr>
  <p:slideViewPr>
    <p:cSldViewPr snapToGrid="0">
      <p:cViewPr varScale="1">
        <p:scale>
          <a:sx n="151" d="100"/>
          <a:sy n="151" d="100"/>
        </p:scale>
        <p:origin x="2094" y="168"/>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viewProps" Target="viewProp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presProps" Target="pres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29/08/2025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Ensembles</a:t>
            </a:r>
            <a:br>
              <a:rPr dirty="0"/>
            </a:br>
            <a:r>
              <a:rPr lang="fr-FR" sz="4400" b="0" strike="noStrike" spc="-1" dirty="0">
                <a:solidFill>
                  <a:srgbClr val="376092"/>
                </a:solidFill>
                <a:latin typeface="Arial"/>
              </a:rPr>
              <a:t> </a:t>
            </a:r>
            <a:endParaRPr lang="en-US" sz="4400" b="0" strike="noStrike"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spc="-1">
                <a:solidFill>
                  <a:srgbClr val="999999"/>
                </a:solidFill>
                <a:latin typeface="Arial"/>
              </a:rPr>
              <a:t>BTS </a:t>
            </a:r>
            <a:r>
              <a:rPr lang="fr-FR" sz="2400" spc="-1" dirty="0">
                <a:solidFill>
                  <a:srgbClr val="999999"/>
                </a:solidFill>
                <a:latin typeface="Arial"/>
              </a:rPr>
              <a:t>SIO</a:t>
            </a:r>
            <a:endParaRPr lang="en-US" sz="2400" b="0" strike="noStrike" spc="-1" dirty="0">
              <a:solidFill>
                <a:srgbClr val="999999"/>
              </a:solidFill>
              <a:latin typeface="Arial"/>
            </a:endParaRPr>
          </a:p>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Ensembles</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Langage ensembliste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Relations binaires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Applications d’un ensemble dans un ensemble</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Cas concrets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Questions et ressentis.</a:t>
            </a:r>
            <a:endParaRPr lang="en-US" sz="2400" b="0" strike="noStrike" spc="-1" dirty="0">
              <a:solidFill>
                <a:srgbClr val="376092"/>
              </a:solidFill>
              <a:latin typeface="Calibri"/>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Il y a deux façons de définir un ensemble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Par extension en donnant la liste de tous ses éléments</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Exemples :</a:t>
            </a:r>
          </a:p>
          <a:p>
            <a:pPr marL="1803600" lvl="3" indent="-324000">
              <a:spcAft>
                <a:spcPts val="1060"/>
              </a:spcAft>
              <a:buClr>
                <a:srgbClr val="000000"/>
              </a:buClr>
              <a:buSzPct val="45000"/>
              <a:buFont typeface="Wingdings" charset="2"/>
              <a:buChar char=""/>
            </a:pPr>
            <a:r>
              <a:rPr lang="fr-FR" sz="2400" spc="-1" dirty="0">
                <a:solidFill>
                  <a:srgbClr val="376092"/>
                </a:solidFill>
                <a:latin typeface="Arial"/>
              </a:rPr>
              <a:t>{1; 2; 3; 4}</a:t>
            </a:r>
          </a:p>
          <a:p>
            <a:pPr marL="1803600" lvl="3" indent="-324000">
              <a:spcAft>
                <a:spcPts val="1060"/>
              </a:spcAft>
              <a:buClr>
                <a:srgbClr val="000000"/>
              </a:buClr>
              <a:buSzPct val="45000"/>
              <a:buFont typeface="Wingdings" charset="2"/>
              <a:buChar char=""/>
            </a:pPr>
            <a:r>
              <a:rPr lang="fr-FR" sz="2400" spc="-1" dirty="0">
                <a:solidFill>
                  <a:srgbClr val="376092"/>
                </a:solidFill>
                <a:latin typeface="Arial"/>
              </a:rPr>
              <a:t>{Banane; pomme; poire}</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Par compré</a:t>
            </a:r>
            <a:r>
              <a:rPr lang="fr-FR" sz="2400" spc="-1" dirty="0">
                <a:solidFill>
                  <a:srgbClr val="376092"/>
                </a:solidFill>
                <a:latin typeface="Arial"/>
              </a:rPr>
              <a:t>hension en donnant une règle pour définir si l’élément est dans l’ensemble ou non</a:t>
            </a:r>
          </a:p>
          <a:p>
            <a:pPr marL="1346400" lvl="2" indent="-324000">
              <a:spcAft>
                <a:spcPts val="1060"/>
              </a:spcAft>
              <a:buClr>
                <a:srgbClr val="000000"/>
              </a:buClr>
              <a:buSzPct val="45000"/>
              <a:buFont typeface="Wingdings" charset="2"/>
              <a:buChar char=""/>
            </a:pPr>
            <a:r>
              <a:rPr lang="fr-FR" sz="2400" b="0" strike="noStrike" spc="-1" dirty="0">
                <a:solidFill>
                  <a:srgbClr val="376092"/>
                </a:solidFill>
                <a:latin typeface="Arial"/>
              </a:rPr>
              <a:t>Exemples :</a:t>
            </a:r>
          </a:p>
          <a:p>
            <a:pPr marL="1803600" lvl="3" indent="-324000">
              <a:spcAft>
                <a:spcPts val="1060"/>
              </a:spcAft>
              <a:buClr>
                <a:srgbClr val="000000"/>
              </a:buClr>
              <a:buSzPct val="45000"/>
              <a:buFont typeface="Wingdings" charset="2"/>
              <a:buChar char=""/>
            </a:pPr>
            <a:r>
              <a:rPr lang="fr-FR" sz="2400" b="0" strike="noStrike" spc="-1" dirty="0">
                <a:solidFill>
                  <a:srgbClr val="376092"/>
                </a:solidFill>
                <a:latin typeface="Arial"/>
              </a:rPr>
              <a:t>Tous les nombres</a:t>
            </a:r>
            <a:r>
              <a:rPr lang="fr-FR" sz="2400" spc="-1" dirty="0">
                <a:solidFill>
                  <a:srgbClr val="376092"/>
                </a:solidFill>
                <a:latin typeface="Arial"/>
              </a:rPr>
              <a:t> entiers pairs &gt; 0</a:t>
            </a:r>
          </a:p>
          <a:p>
            <a:pPr marL="1803600" lvl="3" indent="-324000">
              <a:spcAft>
                <a:spcPts val="1060"/>
              </a:spcAft>
              <a:buClr>
                <a:srgbClr val="000000"/>
              </a:buClr>
              <a:buSzPct val="45000"/>
              <a:buFont typeface="Wingdings" charset="2"/>
              <a:buChar char=""/>
            </a:pPr>
            <a:r>
              <a:rPr lang="fr-FR" sz="2400" spc="-1" dirty="0">
                <a:solidFill>
                  <a:srgbClr val="376092"/>
                </a:solidFill>
                <a:latin typeface="Arial"/>
              </a:rPr>
              <a:t>Toutes les personnes qui ont le permis moto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éléments de base:</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Il existe en mathématiques des ensembles réservés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N : Ensemble des entiers naturels</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R : Ensemble des nombres réels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t>
            </a:r>
            <a:r>
              <a:rPr lang="fr-FR" sz="2400" spc="-1">
                <a:solidFill>
                  <a:srgbClr val="376092"/>
                </a:solidFill>
                <a:latin typeface="Arial"/>
              </a:rPr>
              <a:t> </a:t>
            </a:r>
            <a:r>
              <a:rPr lang="fr-FR" sz="2400" spc="-1" dirty="0">
                <a:solidFill>
                  <a:srgbClr val="376092"/>
                </a:solidFill>
                <a:latin typeface="Arial"/>
              </a:rPr>
              <a:t>: Ensemble des nombres complexes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 Ensemble vide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 élément « a » peut donc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Appartenir à un ensemble E : a ∈ 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Ne pas appartenir à un ensemble E : a  ∉ 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Exemples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12 ∈ {2; 4; 6; 8; 10; 12; 14; 16; 18; 20}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13 ∉ {2.k, k ∈ N, 0 &lt;= 2.k &lt;= 20}</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60855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et programmation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Intéressons nous à la programmation et voyons comment représenter des ensembles </a:t>
            </a:r>
            <a:r>
              <a:rPr lang="fr-FR" sz="2400" b="0" strike="noStrike" spc="-1" dirty="0">
                <a:solidFill>
                  <a:srgbClr val="376092"/>
                </a:solidFill>
                <a:latin typeface="Arial"/>
              </a:rPr>
              <a: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Par extension en donnant la liste de tous ses éléments en utilisant une liste :</a:t>
            </a:r>
          </a:p>
          <a:p>
            <a:pPr marL="1803600" lvl="3" indent="-324000">
              <a:spcAft>
                <a:spcPts val="1060"/>
              </a:spcAft>
              <a:buClr>
                <a:srgbClr val="000000"/>
              </a:buClr>
              <a:buSzPct val="45000"/>
              <a:buFont typeface="Wingdings" charset="2"/>
              <a:buChar char=""/>
            </a:pPr>
            <a:r>
              <a:rPr lang="fr-FR" sz="2400" spc="-1" dirty="0">
                <a:solidFill>
                  <a:srgbClr val="376092"/>
                </a:solidFill>
                <a:latin typeface="Arial"/>
              </a:rPr>
              <a:t>l = [1; 2; 3; 4]</a:t>
            </a:r>
          </a:p>
          <a:p>
            <a:pPr marL="1803600" lvl="3" indent="-324000">
              <a:spcAft>
                <a:spcPts val="1060"/>
              </a:spcAft>
              <a:buClr>
                <a:srgbClr val="000000"/>
              </a:buClr>
              <a:buSzPct val="45000"/>
              <a:buFont typeface="Wingdings" charset="2"/>
              <a:buChar char=""/>
            </a:pPr>
            <a:r>
              <a:rPr lang="fr-FR" sz="2400" spc="-1" dirty="0">
                <a:solidFill>
                  <a:srgbClr val="376092"/>
                </a:solidFill>
                <a:latin typeface="Arial"/>
              </a:rPr>
              <a:t>Comment pouvons nous savoir qu'un élément appartient à l'ensemble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Par compré</a:t>
            </a:r>
            <a:r>
              <a:rPr lang="fr-FR" sz="2400" spc="-1" dirty="0">
                <a:solidFill>
                  <a:srgbClr val="376092"/>
                </a:solidFill>
                <a:latin typeface="Arial"/>
              </a:rPr>
              <a:t>hension en utilisant une fonction qui prend un élément en argument et qui renvoie un booléen.</a:t>
            </a:r>
          </a:p>
          <a:p>
            <a:pPr marL="1346400" lvl="2" indent="-324000">
              <a:spcAft>
                <a:spcPts val="1060"/>
              </a:spcAft>
              <a:buClr>
                <a:srgbClr val="000000"/>
              </a:buClr>
              <a:buSzPct val="45000"/>
              <a:buFont typeface="Wingdings" charset="2"/>
              <a:buChar char=""/>
            </a:pPr>
            <a:r>
              <a:rPr lang="fr-FR" sz="2400" b="0" strike="noStrike" spc="-1" dirty="0">
                <a:solidFill>
                  <a:srgbClr val="376092"/>
                </a:solidFill>
                <a:latin typeface="Arial"/>
              </a:rPr>
              <a:t>Ecrivons la fonction qui vérifie l'appartenance aux  nombres</a:t>
            </a:r>
            <a:r>
              <a:rPr lang="fr-FR" sz="2400" spc="-1" dirty="0">
                <a:solidFill>
                  <a:srgbClr val="376092"/>
                </a:solidFill>
                <a:latin typeface="Arial"/>
              </a:rPr>
              <a:t> entiers pairs &gt; 0</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Ecrivons la fonction qui vérifie l'appartenance aux nombres multiples de 7 compris entre 100 et 1000.</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97248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Nombre d’éléments dans un ensemble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Si un ensemble E possède un nombre fini d’éléments, alors la cardinalité de E est le nombre d’éléments dans E : </a:t>
            </a:r>
            <a:r>
              <a:rPr lang="fr-FR" sz="2400" b="0" strike="noStrike" spc="-1" dirty="0" err="1">
                <a:solidFill>
                  <a:srgbClr val="376092"/>
                </a:solidFill>
                <a:latin typeface="Arial"/>
              </a:rPr>
              <a:t>Card</a:t>
            </a:r>
            <a:r>
              <a:rPr lang="fr-FR" sz="2400" b="0" strike="noStrike" spc="-1" dirty="0">
                <a:solidFill>
                  <a:srgbClr val="376092"/>
                </a:solidFill>
                <a:latin typeface="Arial"/>
              </a:rPr>
              <a:t>(E)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Exemples : </a:t>
            </a:r>
            <a:r>
              <a:rPr lang="fr-FR" sz="2400" spc="-1" dirty="0" err="1">
                <a:solidFill>
                  <a:srgbClr val="376092"/>
                </a:solidFill>
                <a:latin typeface="Arial"/>
              </a:rPr>
              <a:t>card</a:t>
            </a:r>
            <a:r>
              <a:rPr lang="fr-FR" sz="2400" spc="-1" dirty="0">
                <a:solidFill>
                  <a:srgbClr val="376092"/>
                </a:solidFill>
                <a:latin typeface="Arial"/>
              </a:rPr>
              <a:t>({1; 2; 3; 4}) = 4</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un langage de programmation, si vous représentez un ensemble avec une structure tableau, liste, vecteur ou autre, il existe souvent une fonction qui donne la cardinalité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Len : Python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Size : C, C++</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Length</a:t>
            </a:r>
            <a:r>
              <a:rPr lang="fr-FR" sz="2400" spc="-1" dirty="0">
                <a:solidFill>
                  <a:srgbClr val="376092"/>
                </a:solidFill>
                <a:latin typeface="Arial"/>
              </a:rPr>
              <a:t> : Javascript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Retrouvons la cardinalité des fonctions vues plus haut.</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01330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sous-ensemble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Soient 2 ensembles A et B. On dit que A est inclus dans B quand tout élément de A est aussi élément de B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note A ⊂ B, pour tout élément e ∈ A =&gt; e ∈ B</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Exemple : </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A : Ensemble des pommes</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B : Ensemble des fruits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AA8EF41D-C239-44E8-A154-E62C41444C2C}"/>
              </a:ext>
            </a:extLst>
          </p:cNvPr>
          <p:cNvPicPr>
            <a:picLocks noChangeAspect="1"/>
          </p:cNvPicPr>
          <p:nvPr/>
        </p:nvPicPr>
        <p:blipFill>
          <a:blip r:embed="rId2"/>
          <a:stretch>
            <a:fillRect/>
          </a:stretch>
        </p:blipFill>
        <p:spPr>
          <a:xfrm>
            <a:off x="2571570" y="2345170"/>
            <a:ext cx="4000500" cy="2343150"/>
          </a:xfrm>
          <a:prstGeom prst="rect">
            <a:avLst/>
          </a:prstGeom>
        </p:spPr>
      </p:pic>
    </p:spTree>
    <p:extLst>
      <p:ext uri="{BB962C8B-B14F-4D97-AF65-F5344CB8AC3E}">
        <p14:creationId xmlns:p14="http://schemas.microsoft.com/office/powerpoint/2010/main" val="835622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sous-ensemble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Si A ⊂ B, on dit que A est un sous-ensemble ou une partie de B.</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Ecrivons une fonction qui prend deux ensembles en paramètre et qui retourne un booléen : Vrai : le premier ensemble est un sous-ensemble du second et Faux sinon</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On note P(E) l’ensemble des parties d’un ensemble 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P({1, 2}) ={{},{1},{2},{1;2}}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P(E) avec E = {4, 7, 9}.</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On remarque donc que quelque soit l’ensemble 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 E</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E</a:t>
            </a:r>
            <a:r>
              <a:rPr lang="fr-FR" sz="2400" spc="-1" dirty="0">
                <a:solidFill>
                  <a:srgbClr val="376092"/>
                </a:solidFill>
                <a:latin typeface="Arial"/>
              </a:rPr>
              <a:t> ⊂ 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4016689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complémentaire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Si A ⊂ B, on appelle complémentaire de A, l’ensemble des éléments de B qui n’appartiennent pas à A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Ensemble des pommes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Ensemble des fruits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t>
            </a:r>
            <a:r>
              <a:rPr lang="fr-FR" sz="2400" spc="-1" baseline="-25000" dirty="0">
                <a:solidFill>
                  <a:srgbClr val="376092"/>
                </a:solidFill>
                <a:latin typeface="Arial"/>
              </a:rPr>
              <a:t>B</a:t>
            </a:r>
            <a:r>
              <a:rPr lang="fr-FR" sz="2400" spc="-1" dirty="0">
                <a:solidFill>
                  <a:srgbClr val="376092"/>
                </a:solidFill>
                <a:latin typeface="Arial"/>
              </a:rPr>
              <a:t>A: Ensemble des fruits qui ne sont pas des pommes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00D5AD39-EEFF-45E9-9F8E-890FFAE2FBAF}"/>
              </a:ext>
            </a:extLst>
          </p:cNvPr>
          <p:cNvPicPr>
            <a:picLocks noChangeAspect="1"/>
          </p:cNvPicPr>
          <p:nvPr/>
        </p:nvPicPr>
        <p:blipFill>
          <a:blip r:embed="rId2"/>
          <a:stretch>
            <a:fillRect/>
          </a:stretch>
        </p:blipFill>
        <p:spPr>
          <a:xfrm>
            <a:off x="2398135" y="2283402"/>
            <a:ext cx="4181475" cy="2457450"/>
          </a:xfrm>
          <a:prstGeom prst="rect">
            <a:avLst/>
          </a:prstGeom>
        </p:spPr>
      </p:pic>
    </p:spTree>
    <p:extLst>
      <p:ext uri="{BB962C8B-B14F-4D97-AF65-F5344CB8AC3E}">
        <p14:creationId xmlns:p14="http://schemas.microsoft.com/office/powerpoint/2010/main" val="3206845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complémentaire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travailler sur cette notion de complémentaire.</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Ecrivons une fonction qui prend en paramètre deux ensembles et qui retourne le complément du premier ensemble par rapport au second.</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Nous allons vérifier que le premier ensemble est bien contenu dans le second, si ce n'est pas le cas, nous allons retourner une liste vide.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cette étape, nous allons utiliser la fonction que nous avons déjà vue plus haut.</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4283083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intersection</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Soient deux ensembles A et B, l’intersection A ∩ B est un ensemble qui contient tous les éléments qui appartiennent à A et à B.</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 Ensemble des individus entre 18 et 30 ans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B : Ensemble des individus qui ont le permis moto</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 B : Ensemble des individus entre 18 et 30 ans qui ont le permis moto.</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Image 4">
            <a:extLst>
              <a:ext uri="{FF2B5EF4-FFF2-40B4-BE49-F238E27FC236}">
                <a16:creationId xmlns:a16="http://schemas.microsoft.com/office/drawing/2014/main" id="{D8CB32EA-10C7-4CCA-803C-A8EC83979E11}"/>
              </a:ext>
            </a:extLst>
          </p:cNvPr>
          <p:cNvPicPr>
            <a:picLocks noChangeAspect="1"/>
          </p:cNvPicPr>
          <p:nvPr/>
        </p:nvPicPr>
        <p:blipFill>
          <a:blip r:embed="rId2"/>
          <a:stretch>
            <a:fillRect/>
          </a:stretch>
        </p:blipFill>
        <p:spPr>
          <a:xfrm>
            <a:off x="2557462" y="2600325"/>
            <a:ext cx="3724275" cy="1657350"/>
          </a:xfrm>
          <a:prstGeom prst="rect">
            <a:avLst/>
          </a:prstGeom>
        </p:spPr>
      </p:pic>
    </p:spTree>
    <p:extLst>
      <p:ext uri="{BB962C8B-B14F-4D97-AF65-F5344CB8AC3E}">
        <p14:creationId xmlns:p14="http://schemas.microsoft.com/office/powerpoint/2010/main" val="420185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Réunion</a:t>
            </a:r>
            <a:endParaRPr lang="en-US" sz="3200" b="0" strike="noStrike" spc="-1" dirty="0">
              <a:solidFill>
                <a:srgbClr val="376092"/>
              </a:solidFill>
              <a:latin typeface="Arial"/>
            </a:endParaRPr>
          </a:p>
        </p:txBody>
      </p:sp>
      <p:sp>
        <p:nvSpPr>
          <p:cNvPr id="140" name="TextShape 2"/>
          <p:cNvSpPr txBox="1"/>
          <p:nvPr/>
        </p:nvSpPr>
        <p:spPr>
          <a:xfrm>
            <a:off x="249383" y="1417320"/>
            <a:ext cx="8728362"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Soient deux ensembles A et B, la réunion A ∪ B est un ensemble qui contient tous les éléments qui appartiennent à A ou à B.</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 Ensemble des individus qui aiment le salé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B : Ensemble des individus qui aiment le sucré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 B : Ensemble des individus qui aiment le sucré </a:t>
            </a:r>
            <a:r>
              <a:rPr lang="fr-FR" sz="2400" b="1" spc="-1" dirty="0">
                <a:solidFill>
                  <a:srgbClr val="376092"/>
                </a:solidFill>
                <a:latin typeface="Arial"/>
              </a:rPr>
              <a:t>et</a:t>
            </a:r>
            <a:r>
              <a:rPr lang="fr-FR" sz="2400" spc="-1" dirty="0">
                <a:solidFill>
                  <a:srgbClr val="376092"/>
                </a:solidFill>
                <a:latin typeface="Arial"/>
              </a:rPr>
              <a:t> le salé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 B : Ensemble des individus qui aiment le sucré </a:t>
            </a:r>
            <a:r>
              <a:rPr lang="fr-FR" sz="2400" b="1" spc="-1" dirty="0">
                <a:solidFill>
                  <a:srgbClr val="376092"/>
                </a:solidFill>
                <a:latin typeface="Arial"/>
              </a:rPr>
              <a:t>ou</a:t>
            </a:r>
            <a:r>
              <a:rPr lang="fr-FR" sz="2400" spc="-1" dirty="0">
                <a:solidFill>
                  <a:srgbClr val="376092"/>
                </a:solidFill>
                <a:latin typeface="Arial"/>
              </a:rPr>
              <a:t> le salé</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5D23981F-0029-4E5B-92C5-A07B4D3F72E7}"/>
              </a:ext>
            </a:extLst>
          </p:cNvPr>
          <p:cNvPicPr>
            <a:picLocks noChangeAspect="1"/>
          </p:cNvPicPr>
          <p:nvPr/>
        </p:nvPicPr>
        <p:blipFill>
          <a:blip r:embed="rId2"/>
          <a:stretch>
            <a:fillRect/>
          </a:stretch>
        </p:blipFill>
        <p:spPr>
          <a:xfrm>
            <a:off x="4571820" y="2114190"/>
            <a:ext cx="3495675" cy="1657350"/>
          </a:xfrm>
          <a:prstGeom prst="rect">
            <a:avLst/>
          </a:prstGeom>
        </p:spPr>
      </p:pic>
    </p:spTree>
    <p:extLst>
      <p:ext uri="{BB962C8B-B14F-4D97-AF65-F5344CB8AC3E}">
        <p14:creationId xmlns:p14="http://schemas.microsoft.com/office/powerpoint/2010/main" val="1260860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Algorithmie</a:t>
            </a:r>
            <a:endParaRPr lang="en-US" sz="3200" b="0" strike="noStrike" spc="-1" dirty="0">
              <a:solidFill>
                <a:srgbClr val="376092"/>
              </a:solidFill>
              <a:latin typeface="Arial"/>
            </a:endParaRPr>
          </a:p>
        </p:txBody>
      </p:sp>
      <p:sp>
        <p:nvSpPr>
          <p:cNvPr id="140" name="TextShape 2"/>
          <p:cNvSpPr txBox="1"/>
          <p:nvPr/>
        </p:nvSpPr>
        <p:spPr>
          <a:xfrm>
            <a:off x="249383" y="1417320"/>
            <a:ext cx="8728362"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Ecrivons une fonction qui prend en paramètre deux ensembles et qui renvoie un ensemble contenant la réunion des deux.</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Ecrivons une fonction qui prend en paramètre deux ensembles et qui renvoie un ensemble contenant l'intersection des deux.</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Une fois les deux fonctions écrites, comment les combiner pour obtenir le résultat de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(B ∪ C)</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B) ∪ (A ∩ C)</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776600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Intersection et Réunion</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opérations d’intersection et de réunion peuvent s’écrire en utilisant les opérateurs logiques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x ∈ A ∩ B alors x ∈ A ∧ x ∈ B</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x ∈ A ∪ B alors x ∈ A ∨ x ∈ B</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ne pas se tromper, noter la similitude entre les symboles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Et (∧) – intersection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Ou (∨) – réunion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partir du moment où les opérateurs d’intersection et de réunion peuvent s’écrire à l’aide des opérateurs logiques, il est normal de pouvoir réutiliser les propriétés.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832382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Intersection et Réunion</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Soient trois ensembles A, B, 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L’intersection et la réunion sont commutatives :</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A ∩ B = B ∩ A et A ∪ B = B ∪ A</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L’intersection et la réunion sont distributives entre elles:</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A ∩ (B ∪ C) = (A ∩ B) ∪ (A ∩ C)</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A ∪ (B ∩ C) = (A ∪ B) ∩ (A ∪ C)</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les mêmes raisons que pour les opérateurs logiques, les parenthèses deviennent essentielles à partir du moment où une expression mélange des intersections et des réunions.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Vérifions ces égalités grâce aux fonctions que nous avons écrites.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416075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Intersection et Réunion - Exercice</a:t>
            </a:r>
            <a:endParaRPr lang="en-US" sz="3200" b="0" strike="noStrike" spc="-1" dirty="0">
              <a:solidFill>
                <a:srgbClr val="376092"/>
              </a:solidFill>
              <a:latin typeface="Arial"/>
            </a:endParaRPr>
          </a:p>
        </p:txBody>
      </p:sp>
      <p:sp>
        <p:nvSpPr>
          <p:cNvPr id="140" name="TextShape 2"/>
          <p:cNvSpPr txBox="1"/>
          <p:nvPr/>
        </p:nvSpPr>
        <p:spPr>
          <a:xfrm>
            <a:off x="457200"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Soient trois ensembles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{1;4;5;6;8;9}</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{2;3;4;5;9}</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 = {1;2;4;7;10}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Déterminer (B ∪ C) puis A ∩ (B ∪ C)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Déterminer (A ∩ B) , (A ∩ C) puis (A ∩ B) ∪ (A ∩ C)</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Déterminer (B ∩ C) puis A ∪ (B ∩ C)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Déterminer (A ∪ B), (A ∪ C) puis (A ∪ B) ∩ (A ∪ C)</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964895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ensemble vide, ensemble complémentaire</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 ensemble vide {} est par définition un ensemble qui ne contient aucun élément. Par conséquent pour tout ensemble A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 =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 = A</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 ensemble complémentaire C</a:t>
            </a:r>
            <a:r>
              <a:rPr lang="fr-FR" sz="2400" spc="-1" baseline="-25000" dirty="0">
                <a:solidFill>
                  <a:srgbClr val="376092"/>
                </a:solidFill>
                <a:latin typeface="Arial"/>
              </a:rPr>
              <a:t>E</a:t>
            </a:r>
            <a:r>
              <a:rPr lang="fr-FR" sz="2400" spc="-1" dirty="0">
                <a:solidFill>
                  <a:srgbClr val="376092"/>
                </a:solidFill>
                <a:latin typeface="Arial"/>
              </a:rPr>
              <a:t>A d’un ensemble A contient l’ensemble des éléments de E qui ne sont pas dans A, A et C</a:t>
            </a:r>
            <a:r>
              <a:rPr lang="fr-FR" sz="2400" spc="-1" baseline="-25000" dirty="0">
                <a:solidFill>
                  <a:srgbClr val="376092"/>
                </a:solidFill>
                <a:latin typeface="Arial"/>
              </a:rPr>
              <a:t>E</a:t>
            </a:r>
            <a:r>
              <a:rPr lang="fr-FR" sz="2400" spc="-1" dirty="0">
                <a:solidFill>
                  <a:srgbClr val="376092"/>
                </a:solidFill>
                <a:latin typeface="Arial"/>
              </a:rPr>
              <a:t>A n’ont aucun élément commun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C</a:t>
            </a:r>
            <a:r>
              <a:rPr lang="fr-FR" sz="2400" spc="-1" baseline="-25000" dirty="0">
                <a:solidFill>
                  <a:srgbClr val="376092"/>
                </a:solidFill>
                <a:latin typeface="Arial"/>
              </a:rPr>
              <a:t>E</a:t>
            </a:r>
            <a:r>
              <a:rPr lang="fr-FR" sz="2400" spc="-1" dirty="0">
                <a:solidFill>
                  <a:srgbClr val="376092"/>
                </a:solidFill>
                <a:latin typeface="Arial"/>
              </a:rPr>
              <a:t>A =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C</a:t>
            </a:r>
            <a:r>
              <a:rPr lang="fr-FR" sz="2400" spc="-1" baseline="-25000" dirty="0">
                <a:solidFill>
                  <a:srgbClr val="376092"/>
                </a:solidFill>
                <a:latin typeface="Arial"/>
              </a:rPr>
              <a:t>E</a:t>
            </a:r>
            <a:r>
              <a:rPr lang="fr-FR" sz="2400" spc="-1" dirty="0">
                <a:solidFill>
                  <a:srgbClr val="376092"/>
                </a:solidFill>
                <a:latin typeface="Arial"/>
              </a:rPr>
              <a:t>A = 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pouvons là aussi utiliser les fonctions que nous avons écrites pour vérifier ces informations.</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600536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Définition d'un ensemble</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Soient A et B deux parties d'un ensemble E, on définit A delta B par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delta B = {x ∈ E et x ∈ A ∪ B et x </a:t>
                </a:r>
                <a14:m>
                  <m:oMath xmlns:m="http://schemas.openxmlformats.org/officeDocument/2006/math">
                    <m:r>
                      <a:rPr lang="fr-FR" sz="2400" spc="-1" dirty="0" smtClean="0">
                        <a:solidFill>
                          <a:srgbClr val="376092"/>
                        </a:solidFill>
                        <a:latin typeface="Cambria Math" panose="02040503050406030204" pitchFamily="18" charset="0"/>
                      </a:rPr>
                      <m:t>∉</m:t>
                    </m:r>
                    <m:r>
                      <a:rPr lang="fr-FR" sz="2400" b="0" i="0" spc="-1" dirty="0" smtClean="0">
                        <a:solidFill>
                          <a:srgbClr val="376092"/>
                        </a:solidFill>
                        <a:latin typeface="Cambria Math" panose="02040503050406030204" pitchFamily="18" charset="0"/>
                      </a:rPr>
                      <m:t> </m:t>
                    </m:r>
                  </m:oMath>
                </a14:m>
                <a:r>
                  <a:rPr lang="fr-FR" sz="2400" spc="-1" dirty="0">
                    <a:solidFill>
                      <a:srgbClr val="376092"/>
                    </a:solidFill>
                  </a:rPr>
                  <a:t>A ∩ B}</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Représenter A delta B et donner sa table de vérité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Soit A = {1;2;3;4;5;6}, B = {1;3;5;7} et C = {3; 4; 5; 8}</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Comparer A delta (B delta C) et (A delta B) delta C</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Représenter la relation précédente avec une table de vérité.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 peut-on en conclure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199" y="1417320"/>
                <a:ext cx="8520545" cy="4708440"/>
              </a:xfrm>
              <a:prstGeom prst="rect">
                <a:avLst/>
              </a:prstGeom>
              <a:blipFill>
                <a:blip r:embed="rId2"/>
                <a:stretch>
                  <a:fillRect t="-1943"/>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655544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produit cartésien</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Problématique : je m’occupe d’une association de passionnés du 7</a:t>
            </a:r>
            <a:r>
              <a:rPr lang="fr-FR" sz="2400" spc="-1" baseline="30000" dirty="0">
                <a:solidFill>
                  <a:srgbClr val="376092"/>
                </a:solidFill>
                <a:latin typeface="Arial"/>
              </a:rPr>
              <a:t>ième</a:t>
            </a:r>
            <a:r>
              <a:rPr lang="fr-FR" sz="2400" spc="-1" dirty="0">
                <a:solidFill>
                  <a:srgbClr val="376092"/>
                </a:solidFill>
                <a:latin typeface="Arial"/>
              </a:rPr>
              <a:t> art. J’ai à ma disposition la liste des membres de l’association et une sélection de films que je voudrais </a:t>
            </a:r>
            <a:r>
              <a:rPr lang="fr-FR" sz="2400" spc="-1">
                <a:solidFill>
                  <a:srgbClr val="376092"/>
                </a:solidFill>
                <a:latin typeface="Arial"/>
              </a:rPr>
              <a:t>soumettre aux membres </a:t>
            </a:r>
            <a:r>
              <a:rPr lang="fr-FR" sz="2400" spc="-1" dirty="0">
                <a:solidFill>
                  <a:srgbClr val="376092"/>
                </a:solidFill>
                <a:latin typeface="Arial"/>
              </a:rPr>
              <a:t>pour connaitre </a:t>
            </a:r>
            <a:r>
              <a:rPr lang="fr-FR" sz="2400" spc="-1">
                <a:solidFill>
                  <a:srgbClr val="376092"/>
                </a:solidFill>
                <a:latin typeface="Arial"/>
              </a:rPr>
              <a:t>leurs avis:</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Chacune des cases de mon tableau va contenir l’avis d’un membre sur un film.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 tableau compte donc « nb membres X nb films » cases.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produit cartésien peut être utilisé en SQL pour obtenir tous les couples possibles entre 2 tables.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 name="Image 1">
            <a:extLst>
              <a:ext uri="{FF2B5EF4-FFF2-40B4-BE49-F238E27FC236}">
                <a16:creationId xmlns:a16="http://schemas.microsoft.com/office/drawing/2014/main" id="{5303939F-4477-4959-9A50-ADDF7E42502E}"/>
              </a:ext>
            </a:extLst>
          </p:cNvPr>
          <p:cNvPicPr>
            <a:picLocks noChangeAspect="1"/>
          </p:cNvPicPr>
          <p:nvPr/>
        </p:nvPicPr>
        <p:blipFill>
          <a:blip r:embed="rId2"/>
          <a:stretch>
            <a:fillRect/>
          </a:stretch>
        </p:blipFill>
        <p:spPr>
          <a:xfrm>
            <a:off x="2085795" y="2992871"/>
            <a:ext cx="4972050" cy="1352550"/>
          </a:xfrm>
          <a:prstGeom prst="rect">
            <a:avLst/>
          </a:prstGeom>
        </p:spPr>
      </p:pic>
    </p:spTree>
    <p:extLst>
      <p:ext uri="{BB962C8B-B14F-4D97-AF65-F5344CB8AC3E}">
        <p14:creationId xmlns:p14="http://schemas.microsoft.com/office/powerpoint/2010/main" val="1004748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produit cartésien</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On considère que M la liste des membres est un ensemble contenant tous les membres de l’association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considère également que F la liste des films à évaluer est un ensemble dont les éléments sont les films.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tableau contient toutes les combinaisons possibles (membre; film) avec membre ∈ M et film ∈ F.</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L’ensemble des couples (membres; film) constitue le produit cartésien de M et F : M x F</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Attention au sens : le produit cartésien M x F suggère que le premier élément appartient à M, le second à F, ils ne sont pas interchangeables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t>
            </a:r>
            <a:r>
              <a:rPr lang="fr-FR" sz="2400" spc="-1" dirty="0" err="1">
                <a:solidFill>
                  <a:srgbClr val="376092"/>
                </a:solidFill>
                <a:latin typeface="Arial"/>
              </a:rPr>
              <a:t>bob;Kaamelott</a:t>
            </a:r>
            <a:r>
              <a:rPr lang="fr-FR" sz="2400" spc="-1" dirty="0">
                <a:solidFill>
                  <a:srgbClr val="376092"/>
                </a:solidFill>
                <a:latin typeface="Arial"/>
              </a:rPr>
              <a:t> ) ∈ M x F mais (</a:t>
            </a:r>
            <a:r>
              <a:rPr lang="fr-FR" sz="2400" spc="-1" dirty="0" err="1">
                <a:solidFill>
                  <a:srgbClr val="376092"/>
                </a:solidFill>
                <a:latin typeface="Arial"/>
              </a:rPr>
              <a:t>bob;Kaamelott</a:t>
            </a:r>
            <a:r>
              <a:rPr lang="fr-FR" sz="2400" spc="-1" dirty="0">
                <a:solidFill>
                  <a:srgbClr val="376092"/>
                </a:solidFill>
                <a:latin typeface="Arial"/>
              </a:rPr>
              <a:t> ) ∉ F x M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026237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propriétés du produit cartésien</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définir le produit cartésien comme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 x F = {(x; y), x ∈ E, y ∈ F} (attention à l’ordre)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E et F sont des ensembles contenant un nombre fini d’éléments alors :</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Card</a:t>
            </a:r>
            <a:r>
              <a:rPr lang="fr-FR" sz="2400" spc="-1" dirty="0">
                <a:solidFill>
                  <a:srgbClr val="376092"/>
                </a:solidFill>
                <a:latin typeface="Arial"/>
              </a:rPr>
              <a:t> (E x F) = </a:t>
            </a:r>
            <a:r>
              <a:rPr lang="fr-FR" sz="2400" spc="-1" dirty="0" err="1">
                <a:solidFill>
                  <a:srgbClr val="376092"/>
                </a:solidFill>
                <a:latin typeface="Arial"/>
              </a:rPr>
              <a:t>card</a:t>
            </a:r>
            <a:r>
              <a:rPr lang="fr-FR" sz="2400" spc="-1" dirty="0">
                <a:solidFill>
                  <a:srgbClr val="376092"/>
                </a:solidFill>
                <a:latin typeface="Arial"/>
              </a:rPr>
              <a:t>(E) x </a:t>
            </a:r>
            <a:r>
              <a:rPr lang="fr-FR" sz="2400" spc="-1" dirty="0" err="1">
                <a:solidFill>
                  <a:srgbClr val="376092"/>
                </a:solidFill>
                <a:latin typeface="Arial"/>
              </a:rPr>
              <a:t>card</a:t>
            </a:r>
            <a:r>
              <a:rPr lang="fr-FR" sz="2400" spc="-1" dirty="0">
                <a:solidFill>
                  <a:srgbClr val="376092"/>
                </a:solidFill>
                <a:latin typeface="Arial"/>
              </a:rPr>
              <a:t>(F)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cardinalité se comprend aisément en représentant le tableau que nous avons vu précédemment.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possible de faire un produit cartésien d’un ensemble avec lui-même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 x E = E² = {(x; y), x ∈ E, y ∈ E} = {(x; y) ∈ E²}</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821083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propriétés du produit cartésien et algorithmie</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Quelle est la valeur de "s" à la fin de l'algorithme ?</a:t>
            </a:r>
          </a:p>
          <a:p>
            <a:pPr marL="565200" lvl="1">
              <a:spcAft>
                <a:spcPts val="1060"/>
              </a:spcAft>
              <a:buClr>
                <a:srgbClr val="000000"/>
              </a:buClr>
              <a:buSzPct val="45000"/>
            </a:pPr>
            <a:r>
              <a:rPr lang="fr-FR" sz="1600" spc="-1" dirty="0">
                <a:latin typeface="Arial"/>
              </a:rPr>
              <a:t>Variable :</a:t>
            </a:r>
          </a:p>
          <a:p>
            <a:pPr marL="565200" lvl="1">
              <a:spcAft>
                <a:spcPts val="1060"/>
              </a:spcAft>
              <a:buClr>
                <a:srgbClr val="000000"/>
              </a:buClr>
              <a:buSzPct val="45000"/>
            </a:pPr>
            <a:r>
              <a:rPr lang="fr-FR" sz="1600" spc="-1" dirty="0">
                <a:latin typeface="Arial"/>
              </a:rPr>
              <a:t>	s : entier</a:t>
            </a:r>
          </a:p>
          <a:p>
            <a:pPr marL="565200" lvl="1">
              <a:spcAft>
                <a:spcPts val="1060"/>
              </a:spcAft>
              <a:buClr>
                <a:srgbClr val="000000"/>
              </a:buClr>
              <a:buSzPct val="45000"/>
            </a:pPr>
            <a:r>
              <a:rPr lang="fr-FR" sz="1600" spc="-1" dirty="0">
                <a:latin typeface="Arial"/>
              </a:rPr>
              <a:t>Début</a:t>
            </a:r>
          </a:p>
          <a:p>
            <a:pPr marL="565200" lvl="1">
              <a:spcAft>
                <a:spcPts val="1060"/>
              </a:spcAft>
              <a:buClr>
                <a:srgbClr val="000000"/>
              </a:buClr>
              <a:buSzPct val="45000"/>
            </a:pPr>
            <a:r>
              <a:rPr lang="fr-FR" sz="1600" spc="-1" dirty="0">
                <a:latin typeface="Arial"/>
              </a:rPr>
              <a:t>	s </a:t>
            </a:r>
            <a:r>
              <a:rPr lang="fr-FR" sz="1600" spc="-1" dirty="0">
                <a:latin typeface="Arial"/>
                <a:sym typeface="Wingdings" panose="05000000000000000000" pitchFamily="2" charset="2"/>
              </a:rPr>
              <a:t> 0</a:t>
            </a:r>
          </a:p>
          <a:p>
            <a:pPr marL="565200" lvl="1">
              <a:spcAft>
                <a:spcPts val="1060"/>
              </a:spcAft>
              <a:buClr>
                <a:srgbClr val="000000"/>
              </a:buClr>
              <a:buSzPct val="45000"/>
            </a:pPr>
            <a:r>
              <a:rPr lang="fr-FR" sz="1600" spc="-1" dirty="0">
                <a:latin typeface="Arial"/>
                <a:sym typeface="Wingdings" panose="05000000000000000000" pitchFamily="2" charset="2"/>
              </a:rPr>
              <a:t>	pour i de 0 à 5 faire</a:t>
            </a:r>
          </a:p>
          <a:p>
            <a:pPr marL="565200" lvl="1">
              <a:spcAft>
                <a:spcPts val="1060"/>
              </a:spcAft>
              <a:buClr>
                <a:srgbClr val="000000"/>
              </a:buClr>
              <a:buSzPct val="45000"/>
            </a:pPr>
            <a:r>
              <a:rPr lang="fr-FR" sz="1600" spc="-1" dirty="0">
                <a:latin typeface="Arial"/>
                <a:sym typeface="Wingdings" panose="05000000000000000000" pitchFamily="2" charset="2"/>
              </a:rPr>
              <a:t>		pour j de 1 à 50 faire</a:t>
            </a:r>
          </a:p>
          <a:p>
            <a:pPr marL="565200" lvl="1">
              <a:spcAft>
                <a:spcPts val="1060"/>
              </a:spcAft>
              <a:buClr>
                <a:srgbClr val="000000"/>
              </a:buClr>
              <a:buSzPct val="45000"/>
            </a:pPr>
            <a:r>
              <a:rPr lang="fr-FR" sz="1600" spc="-1" dirty="0">
                <a:latin typeface="Arial"/>
                <a:sym typeface="Wingdings" panose="05000000000000000000" pitchFamily="2" charset="2"/>
              </a:rPr>
              <a:t>			pour k de 1 à 10 faire</a:t>
            </a:r>
          </a:p>
          <a:p>
            <a:pPr marL="565200" lvl="1">
              <a:spcAft>
                <a:spcPts val="1060"/>
              </a:spcAft>
              <a:buClr>
                <a:srgbClr val="000000"/>
              </a:buClr>
              <a:buSzPct val="45000"/>
            </a:pPr>
            <a:r>
              <a:rPr lang="fr-FR" sz="1600" spc="-1" dirty="0">
                <a:latin typeface="Arial"/>
                <a:sym typeface="Wingdings" panose="05000000000000000000" pitchFamily="2" charset="2"/>
              </a:rPr>
              <a:t>				s s + 1</a:t>
            </a:r>
          </a:p>
          <a:p>
            <a:pPr marL="565200" lvl="1">
              <a:spcAft>
                <a:spcPts val="1060"/>
              </a:spcAft>
              <a:buClr>
                <a:srgbClr val="000000"/>
              </a:buClr>
              <a:buSzPct val="45000"/>
            </a:pPr>
            <a:r>
              <a:rPr lang="fr-FR" sz="1600" spc="-1" dirty="0">
                <a:latin typeface="Arial"/>
                <a:sym typeface="Wingdings" panose="05000000000000000000" pitchFamily="2" charset="2"/>
              </a:rPr>
              <a:t>			</a:t>
            </a:r>
            <a:r>
              <a:rPr lang="fr-FR" sz="1600" spc="-1" dirty="0" err="1">
                <a:latin typeface="Arial"/>
                <a:sym typeface="Wingdings" panose="05000000000000000000" pitchFamily="2" charset="2"/>
              </a:rPr>
              <a:t>fpour</a:t>
            </a:r>
            <a:endParaRPr lang="fr-FR" sz="1600" spc="-1" dirty="0">
              <a:latin typeface="Arial"/>
              <a:sym typeface="Wingdings" panose="05000000000000000000" pitchFamily="2" charset="2"/>
            </a:endParaRPr>
          </a:p>
          <a:p>
            <a:pPr marL="565200" lvl="1">
              <a:spcAft>
                <a:spcPts val="1060"/>
              </a:spcAft>
              <a:buClr>
                <a:srgbClr val="000000"/>
              </a:buClr>
              <a:buSzPct val="45000"/>
            </a:pPr>
            <a:r>
              <a:rPr lang="fr-FR" sz="1600" spc="-1" dirty="0">
                <a:latin typeface="Arial"/>
                <a:sym typeface="Wingdings" panose="05000000000000000000" pitchFamily="2" charset="2"/>
              </a:rPr>
              <a:t>		</a:t>
            </a:r>
            <a:r>
              <a:rPr lang="fr-FR" sz="1600" spc="-1" dirty="0" err="1">
                <a:latin typeface="Arial"/>
                <a:sym typeface="Wingdings" panose="05000000000000000000" pitchFamily="2" charset="2"/>
              </a:rPr>
              <a:t>fpour</a:t>
            </a:r>
            <a:endParaRPr lang="fr-FR" sz="1600" spc="-1" dirty="0">
              <a:latin typeface="Arial"/>
              <a:sym typeface="Wingdings" panose="05000000000000000000" pitchFamily="2" charset="2"/>
            </a:endParaRPr>
          </a:p>
          <a:p>
            <a:pPr marL="565200" lvl="1">
              <a:spcAft>
                <a:spcPts val="1060"/>
              </a:spcAft>
              <a:buClr>
                <a:srgbClr val="000000"/>
              </a:buClr>
              <a:buSzPct val="45000"/>
            </a:pPr>
            <a:r>
              <a:rPr lang="fr-FR" sz="1600" spc="-1" dirty="0">
                <a:latin typeface="Arial"/>
                <a:sym typeface="Wingdings" panose="05000000000000000000" pitchFamily="2" charset="2"/>
              </a:rPr>
              <a:t>	</a:t>
            </a:r>
            <a:r>
              <a:rPr lang="fr-FR" sz="1600" spc="-1" dirty="0" err="1">
                <a:latin typeface="Arial"/>
                <a:sym typeface="Wingdings" panose="05000000000000000000" pitchFamily="2" charset="2"/>
              </a:rPr>
              <a:t>fpour</a:t>
            </a:r>
            <a:endParaRPr lang="fr-FR" sz="1600" spc="-1" dirty="0">
              <a:latin typeface="Arial"/>
              <a:sym typeface="Wingdings" panose="05000000000000000000" pitchFamily="2" charset="2"/>
            </a:endParaRPr>
          </a:p>
          <a:p>
            <a:pPr marL="565200" lvl="1">
              <a:spcAft>
                <a:spcPts val="1060"/>
              </a:spcAft>
              <a:buClr>
                <a:srgbClr val="000000"/>
              </a:buClr>
              <a:buSzPct val="45000"/>
            </a:pPr>
            <a:r>
              <a:rPr lang="fr-FR" sz="1600" spc="-1" dirty="0">
                <a:latin typeface="Arial"/>
                <a:sym typeface="Wingdings" panose="05000000000000000000" pitchFamily="2" charset="2"/>
              </a:rPr>
              <a:t>	Afficher s</a:t>
            </a:r>
            <a:endParaRPr lang="fr-FR" sz="1600" spc="-1" dirty="0">
              <a:latin typeface="Arial"/>
            </a:endParaRPr>
          </a:p>
          <a:p>
            <a:pPr marL="565200" lvl="1">
              <a:spcAft>
                <a:spcPts val="1060"/>
              </a:spcAft>
              <a:buClr>
                <a:srgbClr val="000000"/>
              </a:buClr>
              <a:buSzPct val="45000"/>
            </a:pPr>
            <a:r>
              <a:rPr lang="fr-FR" sz="1600" spc="-1" dirty="0">
                <a:latin typeface="Arial"/>
              </a:rPr>
              <a:t>Fin</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17786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propriétés du produit cartésien</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Ecrivons une fonction qui prend en paramètre deux ensembles et qui retourne le produit cartésien sous forme de liste de couple.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un second temps, vérifions qu'un couple d'éléments se trouve bien dans le produit cartésien de deux ensembles.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notre fonction de produit cartésien pour effectuer le produit cartésien d'un ensemble avec lui-même.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Ecrivons une fonction qui prend en paramètre la liste des couples issues du produit cartésien du même ensemble et vérifions que s'il existe un couple (x, y), alors le couple (</a:t>
            </a:r>
            <a:r>
              <a:rPr lang="fr-FR" sz="2400" spc="-1" dirty="0" err="1">
                <a:solidFill>
                  <a:srgbClr val="376092"/>
                </a:solidFill>
                <a:latin typeface="Arial"/>
              </a:rPr>
              <a:t>y,x</a:t>
            </a:r>
            <a:r>
              <a:rPr lang="fr-FR" sz="2400" spc="-1" dirty="0">
                <a:solidFill>
                  <a:srgbClr val="376092"/>
                </a:solidFill>
                <a:latin typeface="Arial"/>
              </a:rPr>
              <a:t>) existe également.</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146123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–produit cartésien et quantificateurs</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propriétés sur le produit cartésien permettent de simplifier les notation de quantificateurs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y ∈ R = ∀ (x; y) ∈ R² (pour tout couple de réels)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y ∈ N = ∃ (x; y) ∈ N² (il existe un couple d’entiers naturels)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produit cartésien ne se limite pas à 2 ensembles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a:t>
            </a:r>
            <a:r>
              <a:rPr lang="fr-FR" sz="2400" spc="-1" baseline="-25000" dirty="0">
                <a:solidFill>
                  <a:srgbClr val="376092"/>
                </a:solidFill>
                <a:latin typeface="Arial"/>
              </a:rPr>
              <a:t>1</a:t>
            </a:r>
            <a:r>
              <a:rPr lang="fr-FR" sz="2400" spc="-1" dirty="0">
                <a:solidFill>
                  <a:srgbClr val="376092"/>
                </a:solidFill>
                <a:latin typeface="Arial"/>
              </a:rPr>
              <a:t> x E</a:t>
            </a:r>
            <a:r>
              <a:rPr lang="fr-FR" sz="2400" spc="-1" baseline="-25000" dirty="0">
                <a:solidFill>
                  <a:srgbClr val="376092"/>
                </a:solidFill>
                <a:latin typeface="Arial"/>
              </a:rPr>
              <a:t>2</a:t>
            </a:r>
            <a:r>
              <a:rPr lang="fr-FR" sz="2400" spc="-1" dirty="0">
                <a:solidFill>
                  <a:srgbClr val="376092"/>
                </a:solidFill>
                <a:latin typeface="Arial"/>
              </a:rPr>
              <a:t> x … E</a:t>
            </a:r>
            <a:r>
              <a:rPr lang="fr-FR" sz="2400" spc="-1" baseline="-25000" dirty="0">
                <a:solidFill>
                  <a:srgbClr val="376092"/>
                </a:solidFill>
                <a:latin typeface="Arial"/>
              </a:rPr>
              <a:t>n </a:t>
            </a:r>
            <a:r>
              <a:rPr lang="fr-FR" sz="2400" spc="-1" dirty="0">
                <a:solidFill>
                  <a:srgbClr val="376092"/>
                </a:solidFill>
                <a:latin typeface="Arial"/>
              </a:rPr>
              <a:t>= {(x</a:t>
            </a:r>
            <a:r>
              <a:rPr lang="fr-FR" sz="2400" spc="-1" baseline="-25000" dirty="0">
                <a:solidFill>
                  <a:srgbClr val="376092"/>
                </a:solidFill>
                <a:latin typeface="Arial"/>
              </a:rPr>
              <a:t>1</a:t>
            </a:r>
            <a:r>
              <a:rPr lang="fr-FR" sz="2400" spc="-1" dirty="0">
                <a:solidFill>
                  <a:srgbClr val="376092"/>
                </a:solidFill>
                <a:latin typeface="Arial"/>
              </a:rPr>
              <a:t>, x</a:t>
            </a:r>
            <a:r>
              <a:rPr lang="fr-FR" sz="2400" spc="-1" baseline="-25000" dirty="0">
                <a:solidFill>
                  <a:srgbClr val="376092"/>
                </a:solidFill>
                <a:latin typeface="Arial"/>
              </a:rPr>
              <a:t>2</a:t>
            </a:r>
            <a:r>
              <a:rPr lang="fr-FR" sz="2400" spc="-1" dirty="0">
                <a:solidFill>
                  <a:srgbClr val="376092"/>
                </a:solidFill>
                <a:latin typeface="Arial"/>
              </a:rPr>
              <a:t>,…,</a:t>
            </a:r>
            <a:r>
              <a:rPr lang="fr-FR" sz="2400" spc="-1" dirty="0" err="1">
                <a:solidFill>
                  <a:srgbClr val="376092"/>
                </a:solidFill>
                <a:latin typeface="Arial"/>
              </a:rPr>
              <a:t>x</a:t>
            </a:r>
            <a:r>
              <a:rPr lang="fr-FR" sz="2400" spc="-1" baseline="-25000" dirty="0" err="1">
                <a:solidFill>
                  <a:srgbClr val="376092"/>
                </a:solidFill>
                <a:latin typeface="Arial"/>
              </a:rPr>
              <a:t>n</a:t>
            </a:r>
            <a:r>
              <a:rPr lang="fr-FR" sz="2400" spc="-1" dirty="0">
                <a:solidFill>
                  <a:srgbClr val="376092"/>
                </a:solidFill>
                <a:latin typeface="Arial"/>
              </a:rPr>
              <a:t>), x</a:t>
            </a:r>
            <a:r>
              <a:rPr lang="fr-FR" sz="2400" spc="-1" baseline="-25000" dirty="0">
                <a:solidFill>
                  <a:srgbClr val="376092"/>
                </a:solidFill>
                <a:latin typeface="Arial"/>
              </a:rPr>
              <a:t>1</a:t>
            </a:r>
            <a:r>
              <a:rPr lang="fr-FR" sz="2400" spc="-1" dirty="0">
                <a:solidFill>
                  <a:srgbClr val="376092"/>
                </a:solidFill>
                <a:latin typeface="Arial"/>
              </a:rPr>
              <a:t> ∈ E</a:t>
            </a:r>
            <a:r>
              <a:rPr lang="fr-FR" sz="2400" spc="-1" baseline="-25000" dirty="0">
                <a:solidFill>
                  <a:srgbClr val="376092"/>
                </a:solidFill>
                <a:latin typeface="Arial"/>
              </a:rPr>
              <a:t>1</a:t>
            </a:r>
            <a:r>
              <a:rPr lang="fr-FR" sz="2400" spc="-1" dirty="0">
                <a:solidFill>
                  <a:srgbClr val="376092"/>
                </a:solidFill>
                <a:latin typeface="Arial"/>
              </a:rPr>
              <a:t>,…, </a:t>
            </a:r>
            <a:r>
              <a:rPr lang="fr-FR" sz="2400" spc="-1" dirty="0" err="1">
                <a:solidFill>
                  <a:srgbClr val="376092"/>
                </a:solidFill>
                <a:latin typeface="Arial"/>
              </a:rPr>
              <a:t>x</a:t>
            </a:r>
            <a:r>
              <a:rPr lang="fr-FR" sz="2400" spc="-1" baseline="-25000" dirty="0" err="1">
                <a:solidFill>
                  <a:srgbClr val="376092"/>
                </a:solidFill>
                <a:latin typeface="Arial"/>
              </a:rPr>
              <a:t>n</a:t>
            </a:r>
            <a:r>
              <a:rPr lang="fr-FR" sz="2400" spc="-1" dirty="0">
                <a:solidFill>
                  <a:srgbClr val="376092"/>
                </a:solidFill>
                <a:latin typeface="Arial"/>
              </a:rPr>
              <a:t> ∈ E</a:t>
            </a:r>
            <a:r>
              <a:rPr lang="fr-FR" sz="2400" spc="-1" baseline="-25000" dirty="0">
                <a:solidFill>
                  <a:srgbClr val="376092"/>
                </a:solidFill>
                <a:latin typeface="Arial"/>
              </a:rPr>
              <a:t>n</a:t>
            </a:r>
            <a:r>
              <a:rPr lang="fr-FR" sz="2400" spc="-1" dirty="0">
                <a:solidFill>
                  <a:srgbClr val="376092"/>
                </a:solidFill>
                <a:latin typeface="Arial"/>
              </a:rPr>
              <a:t>}</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Card</a:t>
            </a:r>
            <a:r>
              <a:rPr lang="fr-FR" sz="2400" spc="-1" dirty="0">
                <a:solidFill>
                  <a:srgbClr val="376092"/>
                </a:solidFill>
                <a:latin typeface="Arial"/>
              </a:rPr>
              <a:t>(E</a:t>
            </a:r>
            <a:r>
              <a:rPr lang="fr-FR" sz="2400" spc="-1" baseline="-25000" dirty="0">
                <a:solidFill>
                  <a:srgbClr val="376092"/>
                </a:solidFill>
                <a:latin typeface="Arial"/>
              </a:rPr>
              <a:t>1</a:t>
            </a:r>
            <a:r>
              <a:rPr lang="fr-FR" sz="2400" spc="-1" dirty="0">
                <a:solidFill>
                  <a:srgbClr val="376092"/>
                </a:solidFill>
                <a:latin typeface="Arial"/>
              </a:rPr>
              <a:t> x E</a:t>
            </a:r>
            <a:r>
              <a:rPr lang="fr-FR" sz="2400" spc="-1" baseline="-25000" dirty="0">
                <a:solidFill>
                  <a:srgbClr val="376092"/>
                </a:solidFill>
                <a:latin typeface="Arial"/>
              </a:rPr>
              <a:t>2</a:t>
            </a:r>
            <a:r>
              <a:rPr lang="fr-FR" sz="2400" spc="-1" dirty="0">
                <a:solidFill>
                  <a:srgbClr val="376092"/>
                </a:solidFill>
                <a:latin typeface="Arial"/>
              </a:rPr>
              <a:t> x…x E</a:t>
            </a:r>
            <a:r>
              <a:rPr lang="fr-FR" sz="2400" spc="-1" baseline="-25000" dirty="0">
                <a:solidFill>
                  <a:srgbClr val="376092"/>
                </a:solidFill>
                <a:latin typeface="Arial"/>
              </a:rPr>
              <a:t>n</a:t>
            </a:r>
            <a:r>
              <a:rPr lang="fr-FR" sz="2400" spc="-1" dirty="0">
                <a:solidFill>
                  <a:srgbClr val="376092"/>
                </a:solidFill>
                <a:latin typeface="Arial"/>
              </a:rPr>
              <a:t>) = </a:t>
            </a:r>
            <a:r>
              <a:rPr lang="fr-FR" sz="2400" spc="-1" dirty="0" err="1">
                <a:solidFill>
                  <a:srgbClr val="376092"/>
                </a:solidFill>
                <a:latin typeface="Arial"/>
              </a:rPr>
              <a:t>card</a:t>
            </a:r>
            <a:r>
              <a:rPr lang="fr-FR" sz="2400" spc="-1" dirty="0">
                <a:solidFill>
                  <a:srgbClr val="376092"/>
                </a:solidFill>
                <a:latin typeface="Arial"/>
              </a:rPr>
              <a:t> (E</a:t>
            </a:r>
            <a:r>
              <a:rPr lang="fr-FR" sz="2400" spc="-1" baseline="-25000" dirty="0">
                <a:solidFill>
                  <a:srgbClr val="376092"/>
                </a:solidFill>
                <a:latin typeface="Arial"/>
              </a:rPr>
              <a:t>1</a:t>
            </a:r>
            <a:r>
              <a:rPr lang="fr-FR" sz="2400" spc="-1" dirty="0">
                <a:solidFill>
                  <a:srgbClr val="376092"/>
                </a:solidFill>
                <a:latin typeface="Arial"/>
              </a:rPr>
              <a:t>) X … x </a:t>
            </a:r>
            <a:r>
              <a:rPr lang="fr-FR" sz="2400" spc="-1" dirty="0" err="1">
                <a:solidFill>
                  <a:srgbClr val="376092"/>
                </a:solidFill>
                <a:latin typeface="Arial"/>
              </a:rPr>
              <a:t>card</a:t>
            </a:r>
            <a:r>
              <a:rPr lang="fr-FR" sz="2400" spc="-1" dirty="0">
                <a:solidFill>
                  <a:srgbClr val="376092"/>
                </a:solidFill>
                <a:latin typeface="Arial"/>
              </a:rPr>
              <a:t>(E</a:t>
            </a:r>
            <a:r>
              <a:rPr lang="fr-FR" sz="2400" spc="-1" baseline="-25000" dirty="0">
                <a:solidFill>
                  <a:srgbClr val="376092"/>
                </a:solidFill>
                <a:latin typeface="Arial"/>
              </a:rPr>
              <a:t>n</a:t>
            </a:r>
            <a:r>
              <a:rPr lang="fr-FR" sz="2400" spc="-1" dirty="0">
                <a:solidFill>
                  <a:srgbClr val="376092"/>
                </a:solidFill>
                <a:latin typeface="Arial"/>
              </a:rPr>
              <a: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partir de notre fonction qui fait le produit cartésien de deux ensembles, que faut-il changer pour faire le produit cartésien de 3 ensembles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10300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Langage ensembliste – produit cartésien et quantificateurs</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Soit A gamma B l'ensemble des éléments appartenant à A mais pas à B.</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la définition de A gamma B en symbole mathématique.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la table de vérité de A gamma B</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la table de vérité de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gamma B) gamma C</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gamma (B gamma C)</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Avec une table de vérité montrer 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gamma (B</a:t>
            </a:r>
            <a:r>
              <a:rPr lang="fr-FR" sz="2400" spc="-1" dirty="0">
                <a:solidFill>
                  <a:srgbClr val="376092"/>
                </a:solidFill>
              </a:rPr>
              <a:t> ∩ C</a:t>
            </a:r>
            <a:r>
              <a:rPr lang="fr-FR" sz="2400" spc="-1" dirty="0">
                <a:solidFill>
                  <a:srgbClr val="376092"/>
                </a:solidFill>
                <a:latin typeface="Arial"/>
              </a:rPr>
              <a:t>) = (A gamma B) ∪ (A gamma C)</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323078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Relation binaire</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Supposons des étudiants s’inscrivent dans une université où tous les cours sont à la carte. Chacun peut s’inscrire aux matières qu’il souhaite.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modéliser l’inscription nous disposons: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D’un ensemble E d’étudiant : {bob, Gill, Mike}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D’un ensemble C de cours : {Algo, Math, Economie, Anglais}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nous utilisons le produit cartésien E x C, cela voudrait dire que tous les élèves suivent tous les cours, ce n’est pas ce que nous voulons représenter.</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7529835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Relation binaire</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lien qui relie un étudiant à un cours peut être symbolisé de plusieurs façons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tableau simple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tableau à deux dimensions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 name="Image 1">
            <a:extLst>
              <a:ext uri="{FF2B5EF4-FFF2-40B4-BE49-F238E27FC236}">
                <a16:creationId xmlns:a16="http://schemas.microsoft.com/office/drawing/2014/main" id="{262C9AC5-F021-4DEA-9962-58ECEEE29FAE}"/>
              </a:ext>
            </a:extLst>
          </p:cNvPr>
          <p:cNvPicPr>
            <a:picLocks noChangeAspect="1"/>
          </p:cNvPicPr>
          <p:nvPr/>
        </p:nvPicPr>
        <p:blipFill>
          <a:blip r:embed="rId2"/>
          <a:stretch>
            <a:fillRect/>
          </a:stretch>
        </p:blipFill>
        <p:spPr>
          <a:xfrm>
            <a:off x="1538287" y="2742840"/>
            <a:ext cx="5762625" cy="685800"/>
          </a:xfrm>
          <a:prstGeom prst="rect">
            <a:avLst/>
          </a:prstGeom>
        </p:spPr>
      </p:pic>
      <p:pic>
        <p:nvPicPr>
          <p:cNvPr id="4" name="Image 3">
            <a:extLst>
              <a:ext uri="{FF2B5EF4-FFF2-40B4-BE49-F238E27FC236}">
                <a16:creationId xmlns:a16="http://schemas.microsoft.com/office/drawing/2014/main" id="{15C4680D-F0B6-4B51-A321-4C53F0447AC6}"/>
              </a:ext>
            </a:extLst>
          </p:cNvPr>
          <p:cNvPicPr>
            <a:picLocks noChangeAspect="1"/>
          </p:cNvPicPr>
          <p:nvPr/>
        </p:nvPicPr>
        <p:blipFill>
          <a:blip r:embed="rId3"/>
          <a:stretch>
            <a:fillRect/>
          </a:stretch>
        </p:blipFill>
        <p:spPr>
          <a:xfrm>
            <a:off x="1538287" y="4322473"/>
            <a:ext cx="5915025" cy="1685925"/>
          </a:xfrm>
          <a:prstGeom prst="rect">
            <a:avLst/>
          </a:prstGeom>
        </p:spPr>
      </p:pic>
    </p:spTree>
    <p:extLst>
      <p:ext uri="{BB962C8B-B14F-4D97-AF65-F5344CB8AC3E}">
        <p14:creationId xmlns:p14="http://schemas.microsoft.com/office/powerpoint/2010/main" val="9863397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Relation binaire</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Une matrice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diagramme sagittal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Image 4">
            <a:extLst>
              <a:ext uri="{FF2B5EF4-FFF2-40B4-BE49-F238E27FC236}">
                <a16:creationId xmlns:a16="http://schemas.microsoft.com/office/drawing/2014/main" id="{9364C39B-62F9-4FFF-B2BD-7EDBD0359A3A}"/>
              </a:ext>
            </a:extLst>
          </p:cNvPr>
          <p:cNvPicPr>
            <a:picLocks noChangeAspect="1"/>
          </p:cNvPicPr>
          <p:nvPr/>
        </p:nvPicPr>
        <p:blipFill>
          <a:blip r:embed="rId2"/>
          <a:stretch>
            <a:fillRect/>
          </a:stretch>
        </p:blipFill>
        <p:spPr>
          <a:xfrm>
            <a:off x="3129250" y="1003574"/>
            <a:ext cx="5915025" cy="1685925"/>
          </a:xfrm>
          <a:prstGeom prst="rect">
            <a:avLst/>
          </a:prstGeom>
        </p:spPr>
      </p:pic>
      <p:pic>
        <p:nvPicPr>
          <p:cNvPr id="7" name="Image 6">
            <a:extLst>
              <a:ext uri="{FF2B5EF4-FFF2-40B4-BE49-F238E27FC236}">
                <a16:creationId xmlns:a16="http://schemas.microsoft.com/office/drawing/2014/main" id="{BA95EDBB-99E5-4411-A22B-CE0BCA14FB03}"/>
              </a:ext>
            </a:extLst>
          </p:cNvPr>
          <p:cNvPicPr>
            <a:picLocks noChangeAspect="1"/>
          </p:cNvPicPr>
          <p:nvPr/>
        </p:nvPicPr>
        <p:blipFill>
          <a:blip r:embed="rId3"/>
          <a:stretch>
            <a:fillRect/>
          </a:stretch>
        </p:blipFill>
        <p:spPr>
          <a:xfrm>
            <a:off x="1642198" y="3516363"/>
            <a:ext cx="6725948" cy="3102951"/>
          </a:xfrm>
          <a:prstGeom prst="rect">
            <a:avLst/>
          </a:prstGeom>
        </p:spPr>
      </p:pic>
    </p:spTree>
    <p:extLst>
      <p:ext uri="{BB962C8B-B14F-4D97-AF65-F5344CB8AC3E}">
        <p14:creationId xmlns:p14="http://schemas.microsoft.com/office/powerpoint/2010/main" val="4044872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Relation binaire</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Une liste de couples : (Bob, Math), (Bob, Anglais), (Gill, Algo), (Gill, Economie), (Mike, Algo), (Mike, Anglais)</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Cette liste constitue une partie du produit cartésien E x C</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Attention, dans cette représentation on ne peut pas indiquer qu’un étudiant n’est inscrit à aucun cours.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Toutes ces représentations définissent la relation « suit le cours de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 est l’ensemble de départ de la relation, C en est l’ensemble d’arriver.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L’ensemble des couples en relation est appelé graphe de la relation.</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5069607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Relation binaire - notation</a:t>
            </a:r>
            <a:endParaRPr lang="en-US" sz="3200" b="0" strike="noStrike" spc="-1" dirty="0">
              <a:solidFill>
                <a:srgbClr val="376092"/>
              </a:solidFill>
              <a:latin typeface="Arial"/>
            </a:endParaRPr>
          </a:p>
        </p:txBody>
      </p:sp>
      <p:sp>
        <p:nvSpPr>
          <p:cNvPr id="140" name="TextShape 2"/>
          <p:cNvSpPr txBox="1"/>
          <p:nvPr/>
        </p:nvSpPr>
        <p:spPr>
          <a:xfrm>
            <a:off x="457199" y="1417320"/>
            <a:ext cx="8520545"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donner un symbole à une relation, R par exemple.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Bob R Anglais : Bob suit les cours d’anglais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Gill R Economie : Gill suit les cours d’économie.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R est donc une relation de E vers C.</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relation est orientée. C’est pour cette raison que l’on considère un ensemble de départ (E) et un ensemble d’arriver (C).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dire que x R y si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t>
            </a:r>
            <a:r>
              <a:rPr lang="fr-FR" sz="2400" spc="-1" dirty="0" err="1">
                <a:solidFill>
                  <a:srgbClr val="376092"/>
                </a:solidFill>
                <a:latin typeface="Arial"/>
              </a:rPr>
              <a:t>x,y</a:t>
            </a:r>
            <a:r>
              <a:rPr lang="fr-FR" sz="2400" spc="-1" dirty="0">
                <a:solidFill>
                  <a:srgbClr val="376092"/>
                </a:solidFill>
                <a:latin typeface="Arial"/>
              </a:rPr>
              <a:t>) appartient au graphe de la relation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x ∈ E et y ∈ C</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648242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Relation binaire sur un ensemble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un ensemble E non vide et une relation binaire R sur E. Cette relation R est définie par son graphe, un sous ensemble du produit cartésien E x 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x R y alors (</a:t>
            </a:r>
            <a:r>
              <a:rPr lang="fr-FR" sz="2400" spc="-1" dirty="0" err="1">
                <a:solidFill>
                  <a:srgbClr val="376092"/>
                </a:solidFill>
                <a:latin typeface="Arial"/>
              </a:rPr>
              <a:t>x;y</a:t>
            </a:r>
            <a:r>
              <a:rPr lang="fr-FR" sz="2400" spc="-1" dirty="0">
                <a:solidFill>
                  <a:srgbClr val="376092"/>
                </a:solidFill>
                <a:latin typeface="Arial"/>
              </a:rPr>
              <a:t>) ∈ E²</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Cette relation pourrait par exemple symboliser un lien d’amitié sur un réseau social.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relation R ainsi définies peut avoir plusieurs propriétés: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Elle est réflexive si et seulement si ∀ x ∈ E, x R x : Imaginons la relation qui pour un individu donne les individus du même âge que lui.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7960708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Relation binaire sur un ensemble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Elle est symétrique si et seulement si ∀ (</a:t>
            </a:r>
            <a:r>
              <a:rPr lang="fr-FR" sz="2400" spc="-1" dirty="0" err="1">
                <a:solidFill>
                  <a:srgbClr val="376092"/>
                </a:solidFill>
                <a:latin typeface="Arial"/>
              </a:rPr>
              <a:t>x;y</a:t>
            </a:r>
            <a:r>
              <a:rPr lang="fr-FR" sz="2400" spc="-1" dirty="0">
                <a:solidFill>
                  <a:srgbClr val="376092"/>
                </a:solidFill>
                <a:latin typeface="Arial"/>
              </a:rPr>
              <a:t>) ∈ E², x R y implique y R x : Imaginons la relation d’amitié dans un réseau social « x est ami avec y » si et seulement si « y est ami avec x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Elle est antisymétrique si et seulement si ∀ (</a:t>
            </a:r>
            <a:r>
              <a:rPr lang="fr-FR" sz="2400" spc="-1" dirty="0" err="1">
                <a:solidFill>
                  <a:srgbClr val="376092"/>
                </a:solidFill>
                <a:latin typeface="Arial"/>
              </a:rPr>
              <a:t>x;y</a:t>
            </a:r>
            <a:r>
              <a:rPr lang="fr-FR" sz="2400" spc="-1" dirty="0">
                <a:solidFill>
                  <a:srgbClr val="376092"/>
                </a:solidFill>
                <a:latin typeface="Arial"/>
              </a:rPr>
              <a:t>) ∈ E², (x R y et y R x) implique y = x : Imaginons la relation x &lt;= y. Si x &lt;= y et y &lt;= x alors y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Elle est transitive si et seulement si : ∀ (</a:t>
            </a:r>
            <a:r>
              <a:rPr lang="fr-FR" sz="2400" spc="-1" dirty="0" err="1">
                <a:solidFill>
                  <a:srgbClr val="376092"/>
                </a:solidFill>
                <a:latin typeface="Arial"/>
              </a:rPr>
              <a:t>x;y;z</a:t>
            </a:r>
            <a:r>
              <a:rPr lang="fr-FR" sz="2400" spc="-1" dirty="0">
                <a:solidFill>
                  <a:srgbClr val="376092"/>
                </a:solidFill>
                <a:latin typeface="Arial"/>
              </a:rPr>
              <a:t>) ∈ E3, (x R y et y R z) implique x R z : Cela traduirait l’expression « les amis de mes amis sont mes amis » ou encore que « les ancêtres de mes ancêtres sont mes ancêtres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1028655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Relation binaire sur un ensemble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propriétés des relations binaires peuvent être combinées pour porter d’autres qualificatifs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Soit r une relation d’ordre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 (</a:t>
            </a:r>
            <a:r>
              <a:rPr lang="fr-FR" sz="2400" spc="-1" dirty="0" err="1">
                <a:solidFill>
                  <a:srgbClr val="376092"/>
                </a:solidFill>
                <a:latin typeface="Arial"/>
              </a:rPr>
              <a:t>x;y</a:t>
            </a:r>
            <a:r>
              <a:rPr lang="fr-FR" sz="2400" spc="-1" dirty="0">
                <a:solidFill>
                  <a:srgbClr val="376092"/>
                </a:solidFill>
                <a:latin typeface="Arial"/>
              </a:rPr>
              <a:t>) ∈ E², (x R y ou y R x) alors il s’agit d’une relation d’ordre total</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Sinon il s’agit d’une relation d’ordre partiel.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Exemple : x &lt;= y est une relation d’ordre total dans R.</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36125377-AA93-4192-9BD6-C0CC3998F225}"/>
              </a:ext>
            </a:extLst>
          </p:cNvPr>
          <p:cNvPicPr>
            <a:picLocks noChangeAspect="1"/>
          </p:cNvPicPr>
          <p:nvPr/>
        </p:nvPicPr>
        <p:blipFill>
          <a:blip r:embed="rId2"/>
          <a:stretch>
            <a:fillRect/>
          </a:stretch>
        </p:blipFill>
        <p:spPr>
          <a:xfrm>
            <a:off x="1033282" y="2143631"/>
            <a:ext cx="7077075" cy="1676400"/>
          </a:xfrm>
          <a:prstGeom prst="rect">
            <a:avLst/>
          </a:prstGeom>
        </p:spPr>
      </p:pic>
    </p:spTree>
    <p:extLst>
      <p:ext uri="{BB962C8B-B14F-4D97-AF65-F5344CB8AC3E}">
        <p14:creationId xmlns:p14="http://schemas.microsoft.com/office/powerpoint/2010/main" val="2606374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Relation binaire sur un ensemble</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Déterminer si les relations suivantes sont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Réflexives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Symétriques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Antisymétriques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Transitives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a:t>
                </a:r>
                <a14:m>
                  <m:oMath xmlns:m="http://schemas.openxmlformats.org/officeDocument/2006/math">
                    <m:r>
                      <a:rPr lang="fr-FR" sz="2400" spc="-1" dirty="0" smtClean="0">
                        <a:solidFill>
                          <a:srgbClr val="376092"/>
                        </a:solidFill>
                        <a:latin typeface="Cambria Math" panose="02040503050406030204" pitchFamily="18" charset="0"/>
                      </a:rPr>
                      <m:t>ℝ</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x</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R</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y</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x</m:t>
                    </m:r>
                    <m:r>
                      <a:rPr lang="fr-FR" sz="2400" b="0" i="0" spc="-1" dirty="0" smtClean="0">
                        <a:solidFill>
                          <a:srgbClr val="376092"/>
                        </a:solidFill>
                        <a:latin typeface="Cambria Math" panose="02040503050406030204" pitchFamily="18" charset="0"/>
                      </a:rPr>
                      <m:t>&lt;</m:t>
                    </m:r>
                    <m:r>
                      <m:rPr>
                        <m:sty m:val="p"/>
                      </m:rPr>
                      <a:rPr lang="fr-FR" sz="2400" b="0" i="0" spc="-1" dirty="0" smtClean="0">
                        <a:solidFill>
                          <a:srgbClr val="376092"/>
                        </a:solidFill>
                        <a:latin typeface="Cambria Math" panose="02040503050406030204" pitchFamily="18" charset="0"/>
                      </a:rPr>
                      <m:t>y</m:t>
                    </m:r>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a:t>
                </a:r>
                <a14:m>
                  <m:oMath xmlns:m="http://schemas.openxmlformats.org/officeDocument/2006/math">
                    <m:r>
                      <a:rPr lang="fr-FR" sz="2400" b="0" i="0" spc="-1" dirty="0" smtClean="0">
                        <a:solidFill>
                          <a:srgbClr val="376092"/>
                        </a:solidFill>
                        <a:latin typeface="Cambria Math" panose="02040503050406030204" pitchFamily="18" charset="0"/>
                      </a:rPr>
                      <m:t>ℕ</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x</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R</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y</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x</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y</m:t>
                    </m:r>
                    <m:r>
                      <a:rPr lang="fr-FR" sz="2400" b="0" i="0" spc="-1" dirty="0" smtClean="0">
                        <a:solidFill>
                          <a:srgbClr val="376092"/>
                        </a:solidFill>
                        <a:latin typeface="Cambria Math" panose="02040503050406030204" pitchFamily="18" charset="0"/>
                      </a:rPr>
                      <m:t>) % 2=0</m:t>
                    </m:r>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a:t>
                </a:r>
                <a14:m>
                  <m:oMath xmlns:m="http://schemas.openxmlformats.org/officeDocument/2006/math">
                    <m:r>
                      <a:rPr lang="fr-FR" sz="2400" spc="-1" dirty="0" smtClean="0">
                        <a:solidFill>
                          <a:srgbClr val="376092"/>
                        </a:solidFill>
                        <a:latin typeface="Cambria Math" panose="02040503050406030204" pitchFamily="18" charset="0"/>
                      </a:rPr>
                      <m:t>ℝ</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x</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R</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y</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x</m:t>
                    </m:r>
                    <m:r>
                      <a:rPr lang="fr-FR" sz="2400" b="0" i="0" spc="-1" dirty="0" smtClean="0">
                        <a:solidFill>
                          <a:srgbClr val="376092"/>
                        </a:solidFill>
                        <a:latin typeface="Cambria Math" panose="02040503050406030204" pitchFamily="18" charset="0"/>
                      </a:rPr>
                      <m:t>.</m:t>
                    </m:r>
                    <m:r>
                      <m:rPr>
                        <m:sty m:val="p"/>
                      </m:rPr>
                      <a:rPr lang="fr-FR" sz="2400" b="0" i="0" spc="-1" dirty="0" smtClean="0">
                        <a:solidFill>
                          <a:srgbClr val="376092"/>
                        </a:solidFill>
                        <a:latin typeface="Cambria Math" panose="02040503050406030204" pitchFamily="18" charset="0"/>
                      </a:rPr>
                      <m:t>y</m:t>
                    </m:r>
                    <m:r>
                      <a:rPr lang="fr-FR" sz="2400" b="0" i="0" spc="-1" dirty="0" smtClean="0">
                        <a:solidFill>
                          <a:srgbClr val="376092"/>
                        </a:solidFill>
                        <a:latin typeface="Cambria Math" panose="02040503050406030204" pitchFamily="18" charset="0"/>
                      </a:rPr>
                      <m:t>≥0</m:t>
                    </m:r>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Soit r une relation d’ordre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 (</a:t>
                </a:r>
                <a:r>
                  <a:rPr lang="fr-FR" sz="2400" spc="-1" dirty="0" err="1">
                    <a:solidFill>
                      <a:srgbClr val="376092"/>
                    </a:solidFill>
                    <a:latin typeface="Arial"/>
                  </a:rPr>
                  <a:t>x;y</a:t>
                </a:r>
                <a:r>
                  <a:rPr lang="fr-FR" sz="2400" spc="-1" dirty="0">
                    <a:solidFill>
                      <a:srgbClr val="376092"/>
                    </a:solidFill>
                    <a:latin typeface="Arial"/>
                  </a:rPr>
                  <a:t>) ∈ E², (x R y ou y R x) alors il s’agit d’une relation d’ordre total</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Sinon il s’agit d’une relation d’ordre partiel.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Exemple : x &lt;= y est une relation d’ordre total dans R.</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417320"/>
                <a:ext cx="8229240" cy="4708440"/>
              </a:xfrm>
              <a:prstGeom prst="rect">
                <a:avLst/>
              </a:prstGeom>
              <a:blipFill>
                <a:blip r:embed="rId2"/>
                <a:stretch>
                  <a:fillRect t="-1943" b="-91321"/>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660979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Application d’un ensemble dans un ensemble</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Une application d’un ensemble E vers un ensemble F est une relation binaire de E vers F qui à tout élément de E, associe un unique élément de F:</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a donc f(x) = y avec y l’image de x et x l’antécédant de y.</a:t>
                </a:r>
              </a:p>
              <a:p>
                <a:pPr marL="432000" indent="-324000">
                  <a:lnSpc>
                    <a:spcPct val="107000"/>
                  </a:lnSpc>
                  <a:spcAft>
                    <a:spcPts val="1060"/>
                  </a:spcAft>
                  <a:buClr>
                    <a:srgbClr val="000000"/>
                  </a:buClr>
                  <a:buSzPct val="45000"/>
                  <a:buFont typeface="Wingdings" charset="2"/>
                  <a:buChar char=""/>
                </a:pPr>
                <a:r>
                  <a:rPr lang="fr-FR" sz="2400" spc="-1" dirty="0">
                    <a:solidFill>
                      <a:srgbClr val="376092"/>
                    </a:solidFill>
                    <a:latin typeface="Arial"/>
                  </a:rPr>
                  <a:t>Exemple : </a:t>
                </a:r>
                <a14:m>
                  <m:oMath xmlns:m="http://schemas.openxmlformats.org/officeDocument/2006/math">
                    <m:r>
                      <a:rPr lang="fr-FR" sz="2400" i="1" smtClean="0">
                        <a:effectLst/>
                        <a:latin typeface="Cambria Math" panose="02040503050406030204" pitchFamily="18" charset="0"/>
                        <a:ea typeface="Calibri" panose="020F0502020204030204" pitchFamily="34" charset="0"/>
                        <a:cs typeface="Times New Roman" panose="02020603050405020304" pitchFamily="18" charset="0"/>
                      </a:rPr>
                      <m:t>𝑓</m:t>
                    </m:r>
                    <m:r>
                      <a:rPr lang="fr-FR" sz="2400" i="1" smtClean="0">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fr-FR" sz="2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sub>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² </m:t>
                        </m:r>
                      </m:sub>
                      <m:sup>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𝑅</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𝑅</m:t>
                        </m:r>
                      </m:sup>
                    </m:sSubSup>
                  </m:oMath>
                </a14:m>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a:p>
                <a:pPr marL="889200" lvl="2" indent="-324000">
                  <a:lnSpc>
                    <a:spcPct val="107000"/>
                  </a:lnSpc>
                  <a:spcAft>
                    <a:spcPts val="1060"/>
                  </a:spcAft>
                  <a:buClr>
                    <a:srgbClr val="000000"/>
                  </a:buClr>
                  <a:buSzPct val="45000"/>
                  <a:buFont typeface="Wingdings" charset="2"/>
                  <a:buChar char=""/>
                </a:pPr>
                <a:r>
                  <a:rPr lang="fr-FR" sz="2400" spc="-1" dirty="0">
                    <a:solidFill>
                      <a:srgbClr val="376092"/>
                    </a:solidFill>
                    <a:latin typeface="Arial"/>
                  </a:rPr>
                  <a:t>F est une application de R vers R. A chaque valeur de x on associe une seule valeur dans R.</a:t>
                </a:r>
              </a:p>
              <a:p>
                <a:pPr marL="889200" lvl="1"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417320"/>
                <a:ext cx="8229240" cy="4708440"/>
              </a:xfrm>
              <a:prstGeom prst="rect">
                <a:avLst/>
              </a:prstGeom>
              <a:blipFill>
                <a:blip r:embed="rId2"/>
                <a:stretch>
                  <a:fillRect t="-1943" r="-2370"/>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6" name="Image 5">
            <a:extLst>
              <a:ext uri="{FF2B5EF4-FFF2-40B4-BE49-F238E27FC236}">
                <a16:creationId xmlns:a16="http://schemas.microsoft.com/office/drawing/2014/main" id="{0925EA71-93F0-4674-8509-D3B7FE5A0DEE}"/>
              </a:ext>
            </a:extLst>
          </p:cNvPr>
          <p:cNvPicPr>
            <a:picLocks noChangeAspect="1"/>
          </p:cNvPicPr>
          <p:nvPr/>
        </p:nvPicPr>
        <p:blipFill>
          <a:blip r:embed="rId3"/>
          <a:stretch>
            <a:fillRect/>
          </a:stretch>
        </p:blipFill>
        <p:spPr>
          <a:xfrm>
            <a:off x="1282699" y="2215687"/>
            <a:ext cx="9137627" cy="479021"/>
          </a:xfrm>
          <a:prstGeom prst="rect">
            <a:avLst/>
          </a:prstGeom>
        </p:spPr>
      </p:pic>
    </p:spTree>
    <p:extLst>
      <p:ext uri="{BB962C8B-B14F-4D97-AF65-F5344CB8AC3E}">
        <p14:creationId xmlns:p14="http://schemas.microsoft.com/office/powerpoint/2010/main" val="5210167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Application – image directe/image réciproque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Prenons f une application de E vers F  et soit A une partie de E. L’image directe de A par f, notée f(A), est l’ensemble des images des éléments de A.</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f(A) = {f(x), x ∈ A}</a:t>
            </a:r>
          </a:p>
          <a:p>
            <a:pPr marL="889200" lvl="1"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7" name="Image 6">
            <a:extLst>
              <a:ext uri="{FF2B5EF4-FFF2-40B4-BE49-F238E27FC236}">
                <a16:creationId xmlns:a16="http://schemas.microsoft.com/office/drawing/2014/main" id="{C6ED9154-24C9-48B2-BDE7-DC21153896A9}"/>
              </a:ext>
            </a:extLst>
          </p:cNvPr>
          <p:cNvPicPr>
            <a:picLocks noChangeAspect="1"/>
          </p:cNvPicPr>
          <p:nvPr/>
        </p:nvPicPr>
        <p:blipFill>
          <a:blip r:embed="rId2"/>
          <a:stretch>
            <a:fillRect/>
          </a:stretch>
        </p:blipFill>
        <p:spPr>
          <a:xfrm>
            <a:off x="1078232" y="3416955"/>
            <a:ext cx="7504771" cy="2653990"/>
          </a:xfrm>
          <a:prstGeom prst="rect">
            <a:avLst/>
          </a:prstGeom>
        </p:spPr>
      </p:pic>
    </p:spTree>
    <p:extLst>
      <p:ext uri="{BB962C8B-B14F-4D97-AF65-F5344CB8AC3E}">
        <p14:creationId xmlns:p14="http://schemas.microsoft.com/office/powerpoint/2010/main" val="37544774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Application – image directe</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342900" indent="-342900">
                  <a:lnSpc>
                    <a:spcPct val="107000"/>
                  </a:lnSpc>
                  <a:spcAft>
                    <a:spcPts val="800"/>
                  </a:spcAft>
                  <a:buFont typeface="Arial" panose="020B0604020202020204" pitchFamily="34" charset="0"/>
                  <a:buChar char="•"/>
                </a:pPr>
                <a:r>
                  <a:rPr lang="fr-FR" sz="2400" spc="-1" dirty="0">
                    <a:solidFill>
                      <a:srgbClr val="376092"/>
                    </a:solidFill>
                    <a:latin typeface="Arial"/>
                  </a:rPr>
                  <a:t>Reprenons le cas du carré. </a:t>
                </a:r>
                <a14:m>
                  <m:oMath xmlns:m="http://schemas.openxmlformats.org/officeDocument/2006/math">
                    <m:r>
                      <a:rPr lang="fr-FR" sz="2400" i="1" smtClean="0">
                        <a:effectLst/>
                        <a:latin typeface="Cambria Math" panose="02040503050406030204" pitchFamily="18" charset="0"/>
                        <a:ea typeface="Calibri" panose="020F0502020204030204" pitchFamily="34" charset="0"/>
                        <a:cs typeface="Times New Roman" panose="02020603050405020304" pitchFamily="18" charset="0"/>
                      </a:rPr>
                      <m:t>𝑓</m:t>
                    </m:r>
                    <m:r>
                      <a:rPr lang="fr-FR" sz="2400" i="1" smtClean="0">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fr-FR" sz="2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sub>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² </m:t>
                        </m:r>
                      </m:sub>
                      <m:sup>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𝑁</m:t>
                        </m:r>
                      </m:sup>
                    </m:sSubSup>
                  </m:oMath>
                </a14:m>
                <a:endParaRPr lang="fr-FR" sz="2400" dirty="0">
                  <a:effectLst/>
                  <a:latin typeface="Arial"/>
                  <a:ea typeface="Times New Roman" panose="02020603050405020304" pitchFamily="18" charset="0"/>
                  <a:cs typeface="Times New Roman" panose="02020603050405020304" pitchFamily="18" charset="0"/>
                </a:endParaRPr>
              </a:p>
              <a:p>
                <a:pPr marL="800100" lvl="1" indent="-342900">
                  <a:lnSpc>
                    <a:spcPct val="107000"/>
                  </a:lnSpc>
                  <a:spcAft>
                    <a:spcPts val="800"/>
                  </a:spcAft>
                  <a:buFont typeface="Arial" panose="020B0604020202020204" pitchFamily="34" charset="0"/>
                  <a:buChar char="•"/>
                </a:pPr>
                <a:r>
                  <a:rPr lang="fr-FR" sz="2400" spc="-1" dirty="0">
                    <a:solidFill>
                      <a:srgbClr val="376092"/>
                    </a:solidFill>
                    <a:latin typeface="Arial"/>
                  </a:rPr>
                  <a:t>Définissons l’ensemble A tel que A = {0, 2, 4}</a:t>
                </a:r>
              </a:p>
              <a:p>
                <a:pPr marL="800100" lvl="1" indent="-342900">
                  <a:lnSpc>
                    <a:spcPct val="107000"/>
                  </a:lnSpc>
                  <a:spcAft>
                    <a:spcPts val="800"/>
                  </a:spcAft>
                  <a:buFont typeface="Arial" panose="020B0604020202020204" pitchFamily="34" charset="0"/>
                  <a:buChar char="•"/>
                </a:pPr>
                <a:r>
                  <a:rPr lang="fr-FR" sz="2400" spc="-1" dirty="0">
                    <a:solidFill>
                      <a:srgbClr val="376092"/>
                    </a:solidFill>
                    <a:latin typeface="Arial"/>
                  </a:rPr>
                  <a:t>L’image directe de A est f(A) = {0, 4, 16}</a:t>
                </a:r>
              </a:p>
              <a:p>
                <a:pPr marL="342900" indent="-342900">
                  <a:lnSpc>
                    <a:spcPct val="107000"/>
                  </a:lnSpc>
                  <a:spcAft>
                    <a:spcPts val="800"/>
                  </a:spcAft>
                  <a:buFont typeface="Arial" panose="020B0604020202020204" pitchFamily="34" charset="0"/>
                  <a:buChar char="•"/>
                </a:pPr>
                <a:r>
                  <a:rPr lang="fr-FR" sz="2400" spc="-1" dirty="0">
                    <a:solidFill>
                      <a:srgbClr val="376092"/>
                    </a:solidFill>
                    <a:latin typeface="Arial"/>
                  </a:rPr>
                  <a:t>Toujours le cas du carré. </a:t>
                </a:r>
                <a14:m>
                  <m:oMath xmlns:m="http://schemas.openxmlformats.org/officeDocument/2006/math">
                    <m:r>
                      <a:rPr lang="fr-FR" sz="2400" i="1" smtClean="0">
                        <a:effectLst/>
                        <a:latin typeface="Cambria Math" panose="02040503050406030204" pitchFamily="18" charset="0"/>
                        <a:ea typeface="Calibri" panose="020F0502020204030204" pitchFamily="34" charset="0"/>
                        <a:cs typeface="Times New Roman" panose="02020603050405020304" pitchFamily="18" charset="0"/>
                      </a:rPr>
                      <m:t>𝑓</m:t>
                    </m:r>
                    <m:r>
                      <a:rPr lang="fr-FR" sz="2400" i="1" smtClean="0">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fr-FR" sz="2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sub>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² </m:t>
                        </m:r>
                      </m:sub>
                      <m:sup>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fr-FR" sz="2400" i="1">
                            <a:effectLst/>
                            <a:latin typeface="Cambria Math" panose="02040503050406030204" pitchFamily="18" charset="0"/>
                            <a:ea typeface="Times New Roman" panose="02020603050405020304" pitchFamily="18" charset="0"/>
                            <a:cs typeface="Times New Roman" panose="02020603050405020304" pitchFamily="18" charset="0"/>
                          </a:rPr>
                          <m:t>𝑁</m:t>
                        </m:r>
                      </m:sup>
                    </m:sSubSup>
                  </m:oMath>
                </a14:m>
                <a:endParaRPr lang="fr-FR" sz="2400" dirty="0">
                  <a:effectLst/>
                  <a:latin typeface="Arial"/>
                  <a:ea typeface="Times New Roman" panose="02020603050405020304" pitchFamily="18" charset="0"/>
                  <a:cs typeface="Times New Roman" panose="02020603050405020304" pitchFamily="18" charset="0"/>
                </a:endParaRPr>
              </a:p>
              <a:p>
                <a:pPr marL="800100" lvl="1" indent="-342900">
                  <a:lnSpc>
                    <a:spcPct val="107000"/>
                  </a:lnSpc>
                  <a:spcAft>
                    <a:spcPts val="800"/>
                  </a:spcAft>
                  <a:buFont typeface="Arial" panose="020B0604020202020204" pitchFamily="34" charset="0"/>
                  <a:buChar char="•"/>
                </a:pPr>
                <a:r>
                  <a:rPr lang="fr-FR" sz="2400" spc="-1" dirty="0">
                    <a:solidFill>
                      <a:srgbClr val="376092"/>
                    </a:solidFill>
                    <a:latin typeface="Arial"/>
                  </a:rPr>
                  <a:t>Cette fois l’ensemble A est un intervalle tel que A = [2, 6 ]</a:t>
                </a:r>
              </a:p>
              <a:p>
                <a:pPr marL="800100" lvl="1" indent="-342900">
                  <a:lnSpc>
                    <a:spcPct val="107000"/>
                  </a:lnSpc>
                  <a:spcAft>
                    <a:spcPts val="800"/>
                  </a:spcAft>
                  <a:buFont typeface="Arial" panose="020B0604020202020204" pitchFamily="34" charset="0"/>
                  <a:buChar char="•"/>
                </a:pPr>
                <a:r>
                  <a:rPr lang="fr-FR" sz="2400" spc="-1" dirty="0">
                    <a:solidFill>
                      <a:srgbClr val="376092"/>
                    </a:solidFill>
                    <a:latin typeface="Arial"/>
                  </a:rPr>
                  <a:t>Donc on a x tel que 2 &lt;= x &lt;= 6 implique  4 &lt;=x²&lt;= 36</a:t>
                </a:r>
              </a:p>
              <a:p>
                <a:pPr marL="800100" lvl="1" indent="-342900">
                  <a:lnSpc>
                    <a:spcPct val="107000"/>
                  </a:lnSpc>
                  <a:spcAft>
                    <a:spcPts val="800"/>
                  </a:spcAft>
                  <a:buFont typeface="Arial" panose="020B0604020202020204" pitchFamily="34" charset="0"/>
                  <a:buChar char="•"/>
                </a:pPr>
                <a:r>
                  <a:rPr lang="fr-FR" sz="2400" spc="-1" dirty="0">
                    <a:solidFill>
                      <a:srgbClr val="376092"/>
                    </a:solidFill>
                    <a:latin typeface="Arial"/>
                  </a:rPr>
                  <a:t>On trouve bien que f(A) = [4, 36]</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417320"/>
                <a:ext cx="8229240" cy="4708440"/>
              </a:xfrm>
              <a:prstGeom prst="rect">
                <a:avLst/>
              </a:prstGeom>
              <a:blipFill>
                <a:blip r:embed="rId2"/>
                <a:stretch>
                  <a:fillRect l="-2074" t="-1036" r="-889"/>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29525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Application – image réciproque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342900" indent="-342900">
              <a:lnSpc>
                <a:spcPct val="107000"/>
              </a:lnSpc>
              <a:spcAft>
                <a:spcPts val="800"/>
              </a:spcAft>
              <a:buFont typeface="Arial" panose="020B0604020202020204" pitchFamily="34" charset="0"/>
              <a:buChar char="•"/>
            </a:pPr>
            <a:r>
              <a:rPr lang="fr-FR" sz="2400" spc="-1" dirty="0">
                <a:solidFill>
                  <a:srgbClr val="376092"/>
                </a:solidFill>
                <a:latin typeface="Arial"/>
              </a:rPr>
              <a:t>Soit une application f de E vers F et soit B une partie de F. L’image réciproque de B par f, notée f</a:t>
            </a:r>
            <a:r>
              <a:rPr lang="fr-FR" sz="2400" spc="-1" baseline="30000" dirty="0">
                <a:solidFill>
                  <a:srgbClr val="376092"/>
                </a:solidFill>
                <a:latin typeface="Arial"/>
              </a:rPr>
              <a:t>-1</a:t>
            </a:r>
            <a:r>
              <a:rPr lang="fr-FR" sz="2400" spc="-1" dirty="0">
                <a:solidFill>
                  <a:srgbClr val="376092"/>
                </a:solidFill>
                <a:latin typeface="Arial"/>
              </a:rPr>
              <a:t>(B) est l’ensemble des éléments de E  qui ont leur image dans B.</a:t>
            </a:r>
          </a:p>
          <a:p>
            <a:pPr marL="800100" lvl="1" indent="-342900">
              <a:lnSpc>
                <a:spcPct val="107000"/>
              </a:lnSpc>
              <a:spcAft>
                <a:spcPts val="800"/>
              </a:spcAft>
              <a:buFont typeface="Arial" panose="020B0604020202020204" pitchFamily="34" charset="0"/>
              <a:buChar char="•"/>
            </a:pPr>
            <a:r>
              <a:rPr lang="fr-FR" sz="2400" spc="-1" dirty="0">
                <a:solidFill>
                  <a:srgbClr val="376092"/>
                </a:solidFill>
                <a:latin typeface="Arial"/>
              </a:rPr>
              <a:t>f-1(B) = {x ∈ E, f(x) ∈ B}</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F28694AB-E00C-4777-A773-ECFC7F3D86FF}"/>
              </a:ext>
            </a:extLst>
          </p:cNvPr>
          <p:cNvPicPr>
            <a:picLocks noChangeAspect="1"/>
          </p:cNvPicPr>
          <p:nvPr/>
        </p:nvPicPr>
        <p:blipFill>
          <a:blip r:embed="rId2"/>
          <a:stretch>
            <a:fillRect/>
          </a:stretch>
        </p:blipFill>
        <p:spPr>
          <a:xfrm>
            <a:off x="1014581" y="3358015"/>
            <a:ext cx="7114478" cy="2732049"/>
          </a:xfrm>
          <a:prstGeom prst="rect">
            <a:avLst/>
          </a:prstGeom>
        </p:spPr>
      </p:pic>
    </p:spTree>
    <p:extLst>
      <p:ext uri="{BB962C8B-B14F-4D97-AF65-F5344CB8AC3E}">
        <p14:creationId xmlns:p14="http://schemas.microsoft.com/office/powerpoint/2010/main" val="34449223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Application injective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Si f est une application de E dans F et si tout élément de F possède au plus un antécédent par f, alors f est une injection (ou application injective).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nous prenons deux éléments distincts de E alors leurs images respectives sont distinctes également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a:t>
            </a:r>
            <a:r>
              <a:rPr lang="fr-FR" sz="2400" spc="-1" baseline="-25000" dirty="0">
                <a:solidFill>
                  <a:srgbClr val="376092"/>
                </a:solidFill>
                <a:latin typeface="Arial"/>
              </a:rPr>
              <a:t>1</a:t>
            </a:r>
            <a:r>
              <a:rPr lang="fr-FR" sz="2400" spc="-1" dirty="0">
                <a:solidFill>
                  <a:srgbClr val="376092"/>
                </a:solidFill>
                <a:latin typeface="Arial"/>
              </a:rPr>
              <a:t> ∈ E, ∀ x</a:t>
            </a:r>
            <a:r>
              <a:rPr lang="fr-FR" sz="2400" spc="-1" baseline="-25000" dirty="0">
                <a:solidFill>
                  <a:srgbClr val="376092"/>
                </a:solidFill>
                <a:latin typeface="Arial"/>
              </a:rPr>
              <a:t>2</a:t>
            </a:r>
            <a:r>
              <a:rPr lang="fr-FR" sz="2400" spc="-1" dirty="0">
                <a:solidFill>
                  <a:srgbClr val="376092"/>
                </a:solidFill>
                <a:latin typeface="Arial"/>
              </a:rPr>
              <a:t> ∈ E, x</a:t>
            </a:r>
            <a:r>
              <a:rPr lang="fr-FR" sz="2400" spc="-1" baseline="-25000" dirty="0">
                <a:solidFill>
                  <a:srgbClr val="376092"/>
                </a:solidFill>
                <a:latin typeface="Arial"/>
              </a:rPr>
              <a:t>1</a:t>
            </a:r>
            <a:r>
              <a:rPr lang="fr-FR" sz="2400" spc="-1" dirty="0">
                <a:solidFill>
                  <a:srgbClr val="376092"/>
                </a:solidFill>
                <a:latin typeface="Arial"/>
              </a:rPr>
              <a:t> &lt;&gt; x</a:t>
            </a:r>
            <a:r>
              <a:rPr lang="fr-FR" sz="2400" spc="-1" baseline="-25000" dirty="0">
                <a:solidFill>
                  <a:srgbClr val="376092"/>
                </a:solidFill>
                <a:latin typeface="Arial"/>
              </a:rPr>
              <a:t>2</a:t>
            </a:r>
            <a:r>
              <a:rPr lang="fr-FR" sz="2400" spc="-1" dirty="0">
                <a:solidFill>
                  <a:srgbClr val="376092"/>
                </a:solidFill>
                <a:latin typeface="Arial"/>
              </a:rPr>
              <a:t> implique f(x</a:t>
            </a:r>
            <a:r>
              <a:rPr lang="fr-FR" sz="2400" spc="-1" baseline="-25000" dirty="0">
                <a:solidFill>
                  <a:srgbClr val="376092"/>
                </a:solidFill>
                <a:latin typeface="Arial"/>
              </a:rPr>
              <a:t>1</a:t>
            </a:r>
            <a:r>
              <a:rPr lang="fr-FR" sz="2400" spc="-1" dirty="0">
                <a:solidFill>
                  <a:srgbClr val="376092"/>
                </a:solidFill>
                <a:latin typeface="Arial"/>
              </a:rPr>
              <a:t>) &lt;&gt; f(x</a:t>
            </a:r>
            <a:r>
              <a:rPr lang="fr-FR" sz="2400" spc="-1" baseline="-25000" dirty="0">
                <a:solidFill>
                  <a:srgbClr val="376092"/>
                </a:solidFill>
                <a:latin typeface="Arial"/>
              </a:rPr>
              <a:t>2</a:t>
            </a:r>
            <a:r>
              <a:rPr lang="fr-FR" sz="2400" spc="-1" dirty="0">
                <a:solidFill>
                  <a:srgbClr val="376092"/>
                </a:solidFill>
                <a:latin typeface="Arial"/>
              </a:rPr>
              <a:t>)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Exemple : Location d’emplacement de camping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Image 4">
            <a:extLst>
              <a:ext uri="{FF2B5EF4-FFF2-40B4-BE49-F238E27FC236}">
                <a16:creationId xmlns:a16="http://schemas.microsoft.com/office/drawing/2014/main" id="{622F1FF5-827D-4B4E-8422-143D5CBDAE93}"/>
              </a:ext>
            </a:extLst>
          </p:cNvPr>
          <p:cNvPicPr>
            <a:picLocks noChangeAspect="1"/>
          </p:cNvPicPr>
          <p:nvPr/>
        </p:nvPicPr>
        <p:blipFill>
          <a:blip r:embed="rId2"/>
          <a:stretch>
            <a:fillRect/>
          </a:stretch>
        </p:blipFill>
        <p:spPr>
          <a:xfrm>
            <a:off x="1312127" y="4506445"/>
            <a:ext cx="5864528" cy="2188635"/>
          </a:xfrm>
          <a:prstGeom prst="rect">
            <a:avLst/>
          </a:prstGeom>
        </p:spPr>
      </p:pic>
    </p:spTree>
    <p:extLst>
      <p:ext uri="{BB962C8B-B14F-4D97-AF65-F5344CB8AC3E}">
        <p14:creationId xmlns:p14="http://schemas.microsoft.com/office/powerpoint/2010/main" val="28589997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Application injective – cryptage affine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avons déjà parlé du cryptage affine qui transforme le rang d'une lettre au travers d'un fonction affine (y = </a:t>
            </a:r>
            <a:r>
              <a:rPr lang="fr-FR" sz="2400" spc="-1" dirty="0" err="1">
                <a:solidFill>
                  <a:srgbClr val="376092"/>
                </a:solidFill>
                <a:latin typeface="Arial"/>
              </a:rPr>
              <a:t>a.x</a:t>
            </a:r>
            <a:r>
              <a:rPr lang="fr-FR" sz="2400" spc="-1" dirty="0">
                <a:solidFill>
                  <a:srgbClr val="376092"/>
                </a:solidFill>
                <a:latin typeface="Arial"/>
              </a:rPr>
              <a:t> + b) avec un modulo 26.</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savons que si le PGCD(26,a) &gt; 1 alors la fonction n'est pas valide.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un algorithme qui permet de vérifier si une fonction de cryptage correspond à une application injective.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crypte toutes les lettres et on vérifie que les résultats sont différents.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5420018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Application surjective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Si f est une application de E dans F et si tout élément de F possède au moins un antécédent par f, alors f est une surjective (ou application surjective).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tout élément de F il existe au moins un antécédent dans 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y ∈ F, ∃ x ∈ E, y = f(x)</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Exemple : Location d’emplacement de camping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85390837-EE9C-4529-9A81-C13BB601B46C}"/>
              </a:ext>
            </a:extLst>
          </p:cNvPr>
          <p:cNvPicPr>
            <a:picLocks noChangeAspect="1"/>
          </p:cNvPicPr>
          <p:nvPr/>
        </p:nvPicPr>
        <p:blipFill>
          <a:blip r:embed="rId2"/>
          <a:stretch>
            <a:fillRect/>
          </a:stretch>
        </p:blipFill>
        <p:spPr>
          <a:xfrm>
            <a:off x="1651649" y="4479492"/>
            <a:ext cx="6145502" cy="2277495"/>
          </a:xfrm>
          <a:prstGeom prst="rect">
            <a:avLst/>
          </a:prstGeom>
        </p:spPr>
      </p:pic>
    </p:spTree>
    <p:extLst>
      <p:ext uri="{BB962C8B-B14F-4D97-AF65-F5344CB8AC3E}">
        <p14:creationId xmlns:p14="http://schemas.microsoft.com/office/powerpoint/2010/main" val="6938378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Application bijective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Si f est une application de E dans F et si f est injective et si f est surjective alors f est une bijection (ou application bijective).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Chaque élément de l’ensemble de départ a une et une seule image. Chaque élément de l’ensemble d’arrivée a un et un seul antécédent.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Exemple : Location d’emplacement de camping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Image 4">
            <a:extLst>
              <a:ext uri="{FF2B5EF4-FFF2-40B4-BE49-F238E27FC236}">
                <a16:creationId xmlns:a16="http://schemas.microsoft.com/office/drawing/2014/main" id="{8FAEDA49-4ABF-4E31-9ED2-37BF21624300}"/>
              </a:ext>
            </a:extLst>
          </p:cNvPr>
          <p:cNvPicPr>
            <a:picLocks noChangeAspect="1"/>
          </p:cNvPicPr>
          <p:nvPr/>
        </p:nvPicPr>
        <p:blipFill>
          <a:blip r:embed="rId2"/>
          <a:stretch>
            <a:fillRect/>
          </a:stretch>
        </p:blipFill>
        <p:spPr>
          <a:xfrm>
            <a:off x="1627729" y="4359263"/>
            <a:ext cx="5345725" cy="2162833"/>
          </a:xfrm>
          <a:prstGeom prst="rect">
            <a:avLst/>
          </a:prstGeom>
        </p:spPr>
      </p:pic>
    </p:spTree>
    <p:extLst>
      <p:ext uri="{BB962C8B-B14F-4D97-AF65-F5344CB8AC3E}">
        <p14:creationId xmlns:p14="http://schemas.microsoft.com/office/powerpoint/2010/main" val="7507784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Application en informatique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applications injectives, surjectives et bijectives se retrouvent dans de nombreuses notions informatiques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Utilisation des noms de variables uniques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Référence de pointeur</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Déterminer une clé unique en base de données.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Les cardinalités dans les bases de données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Cryptage et décryptage en cryptographie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De manière générale la notion de bijection se retrouve à chaque fois que l’on veut identifier un objet de manière unique.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3449336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Composition d’applications</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Si f est une application de E dans F et g une application de F dans G alors l’application composée de f par g est une application de E dans G. A tout élément x de E, on associe g[f(x)]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E, g ° f(x) = g[f(x)]</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4081524F-D1A8-4BD0-9C3A-90A120A95A3C}"/>
              </a:ext>
            </a:extLst>
          </p:cNvPr>
          <p:cNvPicPr>
            <a:picLocks noChangeAspect="1"/>
          </p:cNvPicPr>
          <p:nvPr/>
        </p:nvPicPr>
        <p:blipFill>
          <a:blip r:embed="rId2"/>
          <a:stretch>
            <a:fillRect/>
          </a:stretch>
        </p:blipFill>
        <p:spPr>
          <a:xfrm>
            <a:off x="1043709" y="3771540"/>
            <a:ext cx="7361382" cy="2526920"/>
          </a:xfrm>
          <a:prstGeom prst="rect">
            <a:avLst/>
          </a:prstGeom>
        </p:spPr>
      </p:pic>
    </p:spTree>
    <p:extLst>
      <p:ext uri="{BB962C8B-B14F-4D97-AF65-F5344CB8AC3E}">
        <p14:creationId xmlns:p14="http://schemas.microsoft.com/office/powerpoint/2010/main" val="4948483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Composition d’applications - Exercice</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Soient f et g les applications de </a:t>
                </a:r>
                <a14:m>
                  <m:oMath xmlns:m="http://schemas.openxmlformats.org/officeDocument/2006/math">
                    <m:r>
                      <a:rPr lang="fr-FR" sz="2400" spc="-1" dirty="0" smtClean="0">
                        <a:solidFill>
                          <a:srgbClr val="376092"/>
                        </a:solidFill>
                        <a:latin typeface="Cambria Math" panose="02040503050406030204" pitchFamily="18" charset="0"/>
                      </a:rPr>
                      <m:t>ℝ</m:t>
                    </m:r>
                  </m:oMath>
                </a14:m>
                <a:r>
                  <a:rPr lang="fr-FR" sz="2400" spc="-1" dirty="0">
                    <a:solidFill>
                      <a:srgbClr val="376092"/>
                    </a:solidFill>
                    <a:latin typeface="Arial"/>
                  </a:rPr>
                  <a:t> dans </a:t>
                </a:r>
                <a14:m>
                  <m:oMath xmlns:m="http://schemas.openxmlformats.org/officeDocument/2006/math">
                    <m:r>
                      <a:rPr lang="fr-FR" sz="2400" spc="-1" dirty="0">
                        <a:solidFill>
                          <a:srgbClr val="376092"/>
                        </a:solidFill>
                        <a:latin typeface="Cambria Math" panose="02040503050406030204" pitchFamily="18" charset="0"/>
                      </a:rPr>
                      <m:t>ℝ</m:t>
                    </m:r>
                  </m:oMath>
                </a14:m>
                <a:r>
                  <a:rPr lang="fr-FR" sz="2400" spc="-1" dirty="0">
                    <a:solidFill>
                      <a:srgbClr val="376092"/>
                    </a:solidFill>
                    <a:latin typeface="Arial"/>
                  </a:rPr>
                  <a:t> avec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f(x) = 3.x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g(x) = 2.x + 5</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Définir les applications g ° f et f ° g</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Même question pour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f(x) = 2.x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g(x) = x(x+1)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En terme d'algorithmie les compositions d'applications se comporte comme des compositions de fonctions.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Ecrivons les fonctions et les compositions qui en résultent.</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417320"/>
                <a:ext cx="8229240" cy="4708440"/>
              </a:xfrm>
              <a:prstGeom prst="rect">
                <a:avLst/>
              </a:prstGeom>
              <a:blipFill>
                <a:blip r:embed="rId2"/>
                <a:stretch>
                  <a:fillRect t="-1943" r="-2148" b="-13212"/>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657396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Composition d’applications - propriétés</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composée de deux injections est une injection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composée de deux surjections est une surjection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composée de deux bijections est une bijection.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Imaginons la composition de deux codages César successifs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Imaginons la composition d'un codage César et d'un codage Vigenère.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Utilisons un tableur pour montrer que la composition des codages est toujours une bijection.</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4962969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Bijection réciproque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Pour comprendre la bijection, utilisons la table ASCII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chaque caractère correspond un nombre décimal.</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26" name="Picture 2">
            <a:extLst>
              <a:ext uri="{FF2B5EF4-FFF2-40B4-BE49-F238E27FC236}">
                <a16:creationId xmlns:a16="http://schemas.microsoft.com/office/drawing/2014/main" id="{6E246E6E-E046-413F-84BF-C12669F44A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3200" y="1862559"/>
            <a:ext cx="6054436" cy="402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3201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Bijection réciproque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Si E est l’ensemble des entiers entre 0 et 127 et F l’ensemble des caractères imprimables, nous pouvons définir l’application f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f(65) = A</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f(66) = B</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voyons que f est une bijection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chaque entier ne correspond qu’une seule lettre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Une lettre n’est associée qu’à un seul nombre entier.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pouvons donc définir une bijection réciproque de f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f(65) = A </a:t>
            </a:r>
            <a:r>
              <a:rPr lang="fr-FR" sz="2400" spc="-1" dirty="0">
                <a:solidFill>
                  <a:srgbClr val="376092"/>
                </a:solidFill>
                <a:latin typeface="Arial"/>
                <a:sym typeface="Wingdings" panose="05000000000000000000" pitchFamily="2" charset="2"/>
              </a:rPr>
              <a:t> f</a:t>
            </a:r>
            <a:r>
              <a:rPr lang="fr-FR" sz="2400" spc="-1" baseline="30000" dirty="0">
                <a:solidFill>
                  <a:srgbClr val="376092"/>
                </a:solidFill>
                <a:latin typeface="Arial"/>
                <a:sym typeface="Wingdings" panose="05000000000000000000" pitchFamily="2" charset="2"/>
              </a:rPr>
              <a:t>-1</a:t>
            </a:r>
            <a:r>
              <a:rPr lang="fr-FR" sz="2400" spc="-1" dirty="0">
                <a:solidFill>
                  <a:srgbClr val="376092"/>
                </a:solidFill>
                <a:latin typeface="Arial"/>
                <a:sym typeface="Wingdings" panose="05000000000000000000" pitchFamily="2" charset="2"/>
              </a:rPr>
              <a:t>(A) = 65</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f(66) = B </a:t>
            </a:r>
            <a:r>
              <a:rPr lang="fr-FR" sz="2400" spc="-1" dirty="0">
                <a:solidFill>
                  <a:srgbClr val="376092"/>
                </a:solidFill>
                <a:latin typeface="Arial"/>
                <a:sym typeface="Wingdings" panose="05000000000000000000" pitchFamily="2" charset="2"/>
              </a:rPr>
              <a:t> f</a:t>
            </a:r>
            <a:r>
              <a:rPr lang="fr-FR" sz="2400" spc="-1" baseline="30000" dirty="0">
                <a:solidFill>
                  <a:srgbClr val="376092"/>
                </a:solidFill>
                <a:latin typeface="Arial"/>
                <a:sym typeface="Wingdings" panose="05000000000000000000" pitchFamily="2" charset="2"/>
              </a:rPr>
              <a:t>-1</a:t>
            </a:r>
            <a:r>
              <a:rPr lang="fr-FR" sz="2400" spc="-1" dirty="0">
                <a:solidFill>
                  <a:srgbClr val="376092"/>
                </a:solidFill>
                <a:latin typeface="Arial"/>
                <a:sym typeface="Wingdings" panose="05000000000000000000" pitchFamily="2" charset="2"/>
              </a:rPr>
              <a:t>(B) = 66</a:t>
            </a:r>
            <a:endParaRPr lang="fr-FR" sz="2400" spc="-1" dirty="0">
              <a:solidFill>
                <a:srgbClr val="376092"/>
              </a:solidFill>
              <a:latin typeface="Arial"/>
            </a:endParaRPr>
          </a:p>
          <a:p>
            <a:pPr marL="565200" lvl="1">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chaque caractère correspond un nombre décimal.</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2624253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Bijection réciproque</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bijection réciproque que nous venons de définir est également une bijection.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généraliser, si f est une bijection de E dans F alors il existe une bijection réciproque de F dans E :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y) ∈ E x F, f(x) = y implique f</a:t>
            </a:r>
            <a:r>
              <a:rPr lang="fr-FR" sz="2400" spc="-1" baseline="30000" dirty="0">
                <a:solidFill>
                  <a:srgbClr val="376092"/>
                </a:solidFill>
                <a:latin typeface="Arial"/>
              </a:rPr>
              <a:t>-1</a:t>
            </a:r>
            <a:r>
              <a:rPr lang="fr-FR" sz="2400" spc="-1" dirty="0">
                <a:solidFill>
                  <a:srgbClr val="376092"/>
                </a:solidFill>
                <a:latin typeface="Arial"/>
              </a:rPr>
              <a:t>(y) = x</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distinguer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f</a:t>
            </a:r>
            <a:r>
              <a:rPr lang="fr-FR" sz="2400" spc="-1" baseline="30000" dirty="0">
                <a:solidFill>
                  <a:srgbClr val="376092"/>
                </a:solidFill>
                <a:latin typeface="Arial"/>
              </a:rPr>
              <a:t>-1</a:t>
            </a:r>
            <a:r>
              <a:rPr lang="fr-FR" sz="2400" spc="-1" dirty="0">
                <a:solidFill>
                  <a:srgbClr val="376092"/>
                </a:solidFill>
                <a:latin typeface="Arial"/>
              </a:rPr>
              <a:t>(E) (avec E un ensemble) est l’ensemble des images réciproques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f</a:t>
            </a:r>
            <a:r>
              <a:rPr lang="fr-FR" sz="2400" spc="-1" baseline="30000" dirty="0">
                <a:solidFill>
                  <a:srgbClr val="376092"/>
                </a:solidFill>
                <a:latin typeface="Arial"/>
              </a:rPr>
              <a:t>-1</a:t>
            </a:r>
            <a:r>
              <a:rPr lang="fr-FR" sz="2400" spc="-1" dirty="0">
                <a:solidFill>
                  <a:srgbClr val="376092"/>
                </a:solidFill>
                <a:latin typeface="Arial"/>
              </a:rPr>
              <a:t>(y) (avec y un élément) est l’antécédent de y, donc un élément.</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6503854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Bijection réciproque et composition</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Si f est une bijection de E dans F et g une bijection de F dans G  alors g ° f est une bijection de E dans G qui possède une bijection réciproque (g ° f)</a:t>
            </a:r>
            <a:r>
              <a:rPr lang="fr-FR" sz="2400" spc="-1" baseline="30000" dirty="0">
                <a:solidFill>
                  <a:srgbClr val="376092"/>
                </a:solidFill>
                <a:latin typeface="Arial"/>
              </a:rPr>
              <a:t>-1 </a:t>
            </a:r>
            <a:r>
              <a:rPr lang="fr-FR" sz="2400" spc="-1" dirty="0">
                <a:solidFill>
                  <a:srgbClr val="376092"/>
                </a:solidFill>
                <a:latin typeface="Arial"/>
              </a:rPr>
              <a:t>= f</a:t>
            </a:r>
            <a:r>
              <a:rPr lang="fr-FR" sz="2400" spc="-1" baseline="30000" dirty="0">
                <a:solidFill>
                  <a:srgbClr val="376092"/>
                </a:solidFill>
                <a:latin typeface="Arial"/>
              </a:rPr>
              <a:t>-1</a:t>
            </a:r>
            <a:r>
              <a:rPr lang="fr-FR" sz="2400" spc="-1" dirty="0">
                <a:solidFill>
                  <a:srgbClr val="376092"/>
                </a:solidFill>
                <a:latin typeface="Arial"/>
              </a:rPr>
              <a:t> ° g</a:t>
            </a:r>
            <a:r>
              <a:rPr lang="fr-FR" sz="2400" spc="-1" baseline="30000" dirty="0">
                <a:solidFill>
                  <a:srgbClr val="376092"/>
                </a:solidFill>
                <a:latin typeface="Arial"/>
              </a:rPr>
              <a:t>-1</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D4918444-BFCA-4F09-8D37-42E063468A05}"/>
              </a:ext>
            </a:extLst>
          </p:cNvPr>
          <p:cNvPicPr>
            <a:picLocks noChangeAspect="1"/>
          </p:cNvPicPr>
          <p:nvPr/>
        </p:nvPicPr>
        <p:blipFill>
          <a:blip r:embed="rId2"/>
          <a:stretch>
            <a:fillRect/>
          </a:stretch>
        </p:blipFill>
        <p:spPr>
          <a:xfrm>
            <a:off x="-180" y="2696631"/>
            <a:ext cx="9144000" cy="3886689"/>
          </a:xfrm>
          <a:prstGeom prst="rect">
            <a:avLst/>
          </a:prstGeom>
        </p:spPr>
      </p:pic>
    </p:spTree>
    <p:extLst>
      <p:ext uri="{BB962C8B-B14F-4D97-AF65-F5344CB8AC3E}">
        <p14:creationId xmlns:p14="http://schemas.microsoft.com/office/powerpoint/2010/main" val="36000062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Bijection réciproque et composition</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Reprenons les exemples des compositions de cryptage et imaginons comment décrypter.</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on code en César puis en Vigenère, il faut d'abord décoder le Vigenère puis le César</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Attention, lorsque l'on code avec deux codages César, l'ordre du décodage n'est pas obligatoire mais c'est un cas particulier.</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Essayons de comprendre une fois de plus avec notre tableur comment tout cela se met </a:t>
            </a:r>
            <a:r>
              <a:rPr lang="fr-FR" sz="2400" spc="-1">
                <a:solidFill>
                  <a:srgbClr val="376092"/>
                </a:solidFill>
                <a:latin typeface="Arial"/>
              </a:rPr>
              <a:t>en place.</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nSpc>
                <a:spcPct val="107000"/>
              </a:lnSpc>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7963017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a:solidFill>
                  <a:srgbClr val="376092"/>
                </a:solidFill>
                <a:latin typeface="Arial"/>
              </a:rPr>
              <a:t>Bilan de la journée</a:t>
            </a:r>
            <a:endParaRPr lang="en-US" sz="3200" b="0" strike="noStrike" spc="-1">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8076</TotalTime>
  <Words>4276</Words>
  <Application>Microsoft Office PowerPoint</Application>
  <PresentationFormat>Affichage à l'écran (4:3)</PresentationFormat>
  <Paragraphs>759</Paragraphs>
  <Slides>52</Slides>
  <Notes>0</Notes>
  <HiddenSlides>0</HiddenSlides>
  <MMClips>0</MMClips>
  <ScaleCrop>false</ScaleCrop>
  <HeadingPairs>
    <vt:vector size="6" baseType="variant">
      <vt:variant>
        <vt:lpstr>Polices utilisées</vt:lpstr>
      </vt:variant>
      <vt:variant>
        <vt:i4>6</vt:i4>
      </vt:variant>
      <vt:variant>
        <vt:lpstr>Thème</vt:lpstr>
      </vt:variant>
      <vt:variant>
        <vt:i4>3</vt:i4>
      </vt:variant>
      <vt:variant>
        <vt:lpstr>Titres des diapositives</vt:lpstr>
      </vt:variant>
      <vt:variant>
        <vt:i4>52</vt:i4>
      </vt:variant>
    </vt:vector>
  </HeadingPairs>
  <TitlesOfParts>
    <vt:vector size="61" baseType="lpstr">
      <vt:lpstr>Arial</vt:lpstr>
      <vt:lpstr>Calibri</vt:lpstr>
      <vt:lpstr>Cambria Math</vt:lpstr>
      <vt:lpstr>Symbol</vt:lpstr>
      <vt:lpstr>Times New Roman</vt:lpstr>
      <vt:lpstr>Wingdings</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319</cp:revision>
  <dcterms:created xsi:type="dcterms:W3CDTF">2012-01-17T22:15:29Z</dcterms:created>
  <dcterms:modified xsi:type="dcterms:W3CDTF">2025-08-29T13:08:34Z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