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2"/>
    <p:sldMasterId id="2147483674" r:id="rId3"/>
  </p:sldMasterIdLst>
  <p:notesMasterIdLst>
    <p:notesMasterId r:id="rId57"/>
  </p:notesMasterIdLst>
  <p:sldIdLst>
    <p:sldId id="256" r:id="rId4"/>
    <p:sldId id="257" r:id="rId5"/>
    <p:sldId id="343" r:id="rId6"/>
    <p:sldId id="387" r:id="rId7"/>
    <p:sldId id="388" r:id="rId8"/>
    <p:sldId id="389" r:id="rId9"/>
    <p:sldId id="390" r:id="rId10"/>
    <p:sldId id="391" r:id="rId11"/>
    <p:sldId id="392" r:id="rId12"/>
    <p:sldId id="393" r:id="rId13"/>
    <p:sldId id="394" r:id="rId14"/>
    <p:sldId id="408" r:id="rId15"/>
    <p:sldId id="421" r:id="rId16"/>
    <p:sldId id="422" r:id="rId17"/>
    <p:sldId id="423" r:id="rId18"/>
    <p:sldId id="416" r:id="rId19"/>
    <p:sldId id="417" r:id="rId20"/>
    <p:sldId id="395" r:id="rId21"/>
    <p:sldId id="424" r:id="rId22"/>
    <p:sldId id="418" r:id="rId23"/>
    <p:sldId id="419" r:id="rId24"/>
    <p:sldId id="425" r:id="rId25"/>
    <p:sldId id="396" r:id="rId26"/>
    <p:sldId id="397" r:id="rId27"/>
    <p:sldId id="426" r:id="rId28"/>
    <p:sldId id="398" r:id="rId29"/>
    <p:sldId id="427" r:id="rId30"/>
    <p:sldId id="428" r:id="rId31"/>
    <p:sldId id="429" r:id="rId32"/>
    <p:sldId id="436" r:id="rId33"/>
    <p:sldId id="399" r:id="rId34"/>
    <p:sldId id="400" r:id="rId35"/>
    <p:sldId id="401" r:id="rId36"/>
    <p:sldId id="402" r:id="rId37"/>
    <p:sldId id="403" r:id="rId38"/>
    <p:sldId id="430" r:id="rId39"/>
    <p:sldId id="431" r:id="rId40"/>
    <p:sldId id="404" r:id="rId41"/>
    <p:sldId id="405" r:id="rId42"/>
    <p:sldId id="432" r:id="rId43"/>
    <p:sldId id="406" r:id="rId44"/>
    <p:sldId id="407" r:id="rId45"/>
    <p:sldId id="409" r:id="rId46"/>
    <p:sldId id="410" r:id="rId47"/>
    <p:sldId id="411" r:id="rId48"/>
    <p:sldId id="434" r:id="rId49"/>
    <p:sldId id="412" r:id="rId50"/>
    <p:sldId id="413" r:id="rId51"/>
    <p:sldId id="433" r:id="rId52"/>
    <p:sldId id="414" r:id="rId53"/>
    <p:sldId id="415" r:id="rId54"/>
    <p:sldId id="435" r:id="rId55"/>
    <p:sldId id="281" r:id="rId56"/>
  </p:sldIdLst>
  <p:sldSz cx="9144000" cy="6858000" type="screen4x3"/>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Style moyen 4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1304" autoAdjust="0"/>
  </p:normalViewPr>
  <p:slideViewPr>
    <p:cSldViewPr snapToGrid="0">
      <p:cViewPr varScale="1">
        <p:scale>
          <a:sx n="151" d="100"/>
          <a:sy n="151" d="100"/>
        </p:scale>
        <p:origin x="2094" y="168"/>
      </p:cViewPr>
      <p:guideLst/>
    </p:cSldViewPr>
  </p:slideViewPr>
  <p:outlineViewPr>
    <p:cViewPr>
      <p:scale>
        <a:sx n="33" d="100"/>
        <a:sy n="33" d="100"/>
      </p:scale>
      <p:origin x="0" y="-39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tableStyles" Target="tableStyle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notesMaster" Target="notesMasters/notesMaster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7BB345-1F45-4209-89C2-CEF6D1D81871}" type="datetimeFigureOut">
              <a:rPr lang="fr-FR" smtClean="0"/>
              <a:t>29/08/2025</a:t>
            </a:fld>
            <a:endParaRPr lang="fr-FR"/>
          </a:p>
        </p:txBody>
      </p:sp>
      <p:sp>
        <p:nvSpPr>
          <p:cNvPr id="4" name="Espace réservé de l'image des diapositives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16184EC8-970E-422B-BC5C-6A62245DC653}" type="slidenum">
              <a:rPr lang="fr-FR" smtClean="0"/>
              <a:t>‹N°›</a:t>
            </a:fld>
            <a:endParaRPr lang="fr-FR"/>
          </a:p>
        </p:txBody>
      </p:sp>
    </p:spTree>
    <p:extLst>
      <p:ext uri="{BB962C8B-B14F-4D97-AF65-F5344CB8AC3E}">
        <p14:creationId xmlns:p14="http://schemas.microsoft.com/office/powerpoint/2010/main" val="1169127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8"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9"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4"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5"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7"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8"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9"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1"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3"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5"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6"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28"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29"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0"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1"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33"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4"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5"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6"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7"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38"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6"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48"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0"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1"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6"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57"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59"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0"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1"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3"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4"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5"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67"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68"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0"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1"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2"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3"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75"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6"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7"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8"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79"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80"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98" name="PlaceHolder 2"/>
          <p:cNvSpPr>
            <a:spLocks noGrp="1"/>
          </p:cNvSpPr>
          <p:nvPr>
            <p:ph type="subTitle"/>
          </p:nvPr>
        </p:nvSpPr>
        <p:spPr>
          <a:xfrm>
            <a:off x="457200" y="1600200"/>
            <a:ext cx="8229240" cy="45255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0" name="PlaceHolder 2"/>
          <p:cNvSpPr>
            <a:spLocks noGrp="1"/>
          </p:cNvSpPr>
          <p:nvPr>
            <p:ph type="body"/>
          </p:nvPr>
        </p:nvSpPr>
        <p:spPr>
          <a:xfrm>
            <a:off x="457200" y="1600200"/>
            <a:ext cx="822924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2"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3"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4680"/>
            <a:ext cx="8229240" cy="5297760"/>
          </a:xfrm>
          <a:prstGeom prst="rect">
            <a:avLst/>
          </a:prstGeom>
        </p:spPr>
        <p:txBody>
          <a:bodyPr lIns="0" tIns="0" rIns="0" bIns="0" anchor="ctr">
            <a:noAutofit/>
          </a:bodyPr>
          <a:lstStyle/>
          <a:p>
            <a:pPr algn="ctr"/>
            <a:endParaRPr lang="fr-FR"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07"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8" name="PlaceHolder 3"/>
          <p:cNvSpPr>
            <a:spLocks noGrp="1"/>
          </p:cNvSpPr>
          <p:nvPr>
            <p:ph type="body"/>
          </p:nvPr>
        </p:nvSpPr>
        <p:spPr>
          <a:xfrm>
            <a:off x="467424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09"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1" name="PlaceHolder 2"/>
          <p:cNvSpPr>
            <a:spLocks noGrp="1"/>
          </p:cNvSpPr>
          <p:nvPr>
            <p:ph type="body"/>
          </p:nvPr>
        </p:nvSpPr>
        <p:spPr>
          <a:xfrm>
            <a:off x="457200" y="1600200"/>
            <a:ext cx="4015800" cy="4525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2"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3" name="PlaceHolder 4"/>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5"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6"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17" name="PlaceHolder 4"/>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19" name="PlaceHolder 2"/>
          <p:cNvSpPr>
            <a:spLocks noGrp="1"/>
          </p:cNvSpPr>
          <p:nvPr>
            <p:ph type="body"/>
          </p:nvPr>
        </p:nvSpPr>
        <p:spPr>
          <a:xfrm>
            <a:off x="457200" y="160020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0" name="PlaceHolder 3"/>
          <p:cNvSpPr>
            <a:spLocks noGrp="1"/>
          </p:cNvSpPr>
          <p:nvPr>
            <p:ph type="body"/>
          </p:nvPr>
        </p:nvSpPr>
        <p:spPr>
          <a:xfrm>
            <a:off x="457200" y="3964320"/>
            <a:ext cx="822924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2" name="PlaceHolder 2"/>
          <p:cNvSpPr>
            <a:spLocks noGrp="1"/>
          </p:cNvSpPr>
          <p:nvPr>
            <p:ph type="body"/>
          </p:nvPr>
        </p:nvSpPr>
        <p:spPr>
          <a:xfrm>
            <a:off x="45720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3" name="PlaceHolder 3"/>
          <p:cNvSpPr>
            <a:spLocks noGrp="1"/>
          </p:cNvSpPr>
          <p:nvPr>
            <p:ph type="body"/>
          </p:nvPr>
        </p:nvSpPr>
        <p:spPr>
          <a:xfrm>
            <a:off x="4674240" y="160020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4" name="PlaceHolder 4"/>
          <p:cNvSpPr>
            <a:spLocks noGrp="1"/>
          </p:cNvSpPr>
          <p:nvPr>
            <p:ph type="body"/>
          </p:nvPr>
        </p:nvSpPr>
        <p:spPr>
          <a:xfrm>
            <a:off x="45720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5" name="PlaceHolder 5"/>
          <p:cNvSpPr>
            <a:spLocks noGrp="1"/>
          </p:cNvSpPr>
          <p:nvPr>
            <p:ph type="body"/>
          </p:nvPr>
        </p:nvSpPr>
        <p:spPr>
          <a:xfrm>
            <a:off x="4674240" y="3964320"/>
            <a:ext cx="40158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4680"/>
            <a:ext cx="8229240" cy="1142640"/>
          </a:xfrm>
          <a:prstGeom prst="rect">
            <a:avLst/>
          </a:prstGeom>
        </p:spPr>
        <p:txBody>
          <a:bodyPr lIns="0" tIns="0" rIns="0" bIns="0">
            <a:noAutofit/>
          </a:bodyPr>
          <a:lstStyle/>
          <a:p>
            <a:endParaRPr lang="en-US" sz="3200" b="0" strike="noStrike" spc="-1">
              <a:solidFill>
                <a:srgbClr val="376092"/>
              </a:solidFill>
              <a:latin typeface="Arial"/>
            </a:endParaRPr>
          </a:p>
        </p:txBody>
      </p:sp>
      <p:sp>
        <p:nvSpPr>
          <p:cNvPr id="127" name="PlaceHolder 2"/>
          <p:cNvSpPr>
            <a:spLocks noGrp="1"/>
          </p:cNvSpPr>
          <p:nvPr>
            <p:ph type="body"/>
          </p:nvPr>
        </p:nvSpPr>
        <p:spPr>
          <a:xfrm>
            <a:off x="45720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8" name="PlaceHolder 3"/>
          <p:cNvSpPr>
            <a:spLocks noGrp="1"/>
          </p:cNvSpPr>
          <p:nvPr>
            <p:ph type="body"/>
          </p:nvPr>
        </p:nvSpPr>
        <p:spPr>
          <a:xfrm>
            <a:off x="323964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29" name="PlaceHolder 4"/>
          <p:cNvSpPr>
            <a:spLocks noGrp="1"/>
          </p:cNvSpPr>
          <p:nvPr>
            <p:ph type="body"/>
          </p:nvPr>
        </p:nvSpPr>
        <p:spPr>
          <a:xfrm>
            <a:off x="6022080" y="160020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0" name="PlaceHolder 5"/>
          <p:cNvSpPr>
            <a:spLocks noGrp="1"/>
          </p:cNvSpPr>
          <p:nvPr>
            <p:ph type="body"/>
          </p:nvPr>
        </p:nvSpPr>
        <p:spPr>
          <a:xfrm>
            <a:off x="45720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1" name="PlaceHolder 6"/>
          <p:cNvSpPr>
            <a:spLocks noGrp="1"/>
          </p:cNvSpPr>
          <p:nvPr>
            <p:ph type="body"/>
          </p:nvPr>
        </p:nvSpPr>
        <p:spPr>
          <a:xfrm>
            <a:off x="323964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
        <p:nvSpPr>
          <p:cNvPr id="132" name="PlaceHolder 7"/>
          <p:cNvSpPr>
            <a:spLocks noGrp="1"/>
          </p:cNvSpPr>
          <p:nvPr>
            <p:ph type="body"/>
          </p:nvPr>
        </p:nvSpPr>
        <p:spPr>
          <a:xfrm>
            <a:off x="6022080" y="3964320"/>
            <a:ext cx="2649600" cy="2158560"/>
          </a:xfrm>
          <a:prstGeom prst="rect">
            <a:avLst/>
          </a:prstGeom>
        </p:spPr>
        <p:txBody>
          <a:bodyPr lIns="0" tIns="0" rIns="0" bIns="0">
            <a:noAutofit/>
          </a:bodyPr>
          <a:lstStyle/>
          <a:p>
            <a:endParaRPr lang="en-US" sz="2400" b="0" strike="noStrike" spc="-1">
              <a:solidFill>
                <a:srgbClr val="376092"/>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18" Type="http://schemas.openxmlformats.org/officeDocument/2006/relationships/image" Target="../media/image3.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hyperlink" Target="http://www.showeet.com/terms-of-use/" TargetMode="External"/><Relationship Id="rId2" Type="http://schemas.openxmlformats.org/officeDocument/2006/relationships/slideLayout" Target="../slideLayouts/slideLayout26.xml"/><Relationship Id="rId16" Type="http://schemas.openxmlformats.org/officeDocument/2006/relationships/hyperlink" Target="http://www.showeet.com/" TargetMode="Externa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slideLayout" Target="../slideLayouts/slideLayout34.xml"/><Relationship Id="rId19" Type="http://schemas.openxmlformats.org/officeDocument/2006/relationships/image" Target="../media/image4.emf"/><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hyperlink" Target="http://creativecommons.org/licenses/by-nd/3.0/"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PlaceHolder 1"/>
          <p:cNvSpPr>
            <a:spLocks noGrp="1"/>
          </p:cNvSpPr>
          <p:nvPr>
            <p:ph type="title"/>
          </p:nvPr>
        </p:nvSpPr>
        <p:spPr>
          <a:xfrm>
            <a:off x="1043640" y="4149000"/>
            <a:ext cx="7772040" cy="1469520"/>
          </a:xfrm>
          <a:prstGeom prst="rect">
            <a:avLst/>
          </a:prstGeom>
        </p:spPr>
        <p:txBody>
          <a:bodyPr lIns="90000" tIns="45000" rIns="90000" bIns="45000">
            <a:noAutofit/>
          </a:bodyPr>
          <a:lstStyle/>
          <a:p>
            <a:pPr algn="ctr"/>
            <a:r>
              <a:rPr lang="en-US" sz="4400" b="0" strike="noStrike" spc="-1">
                <a:solidFill>
                  <a:srgbClr val="490A3D"/>
                </a:solidFill>
                <a:latin typeface="Arial"/>
                <a:ea typeface="Arial"/>
              </a:rPr>
              <a:t>Click to edit the title text format</a:t>
            </a:r>
            <a:endParaRPr lang="en-US" sz="4400" b="0" strike="noStrike" spc="-1">
              <a:solidFill>
                <a:srgbClr val="376092"/>
              </a:solidFill>
              <a:latin typeface="Arial"/>
            </a:endParaRPr>
          </a:p>
        </p:txBody>
      </p:sp>
      <p:sp>
        <p:nvSpPr>
          <p:cNvPr id="4" name="PlaceHolder 2"/>
          <p:cNvSpPr>
            <a:spLocks noGrp="1"/>
          </p:cNvSpPr>
          <p:nvPr>
            <p:ph type="body"/>
          </p:nvPr>
        </p:nvSpPr>
        <p:spPr>
          <a:xfrm>
            <a:off x="1043640" y="5733360"/>
            <a:ext cx="7772040" cy="923760"/>
          </a:xfrm>
          <a:prstGeom prst="rect">
            <a:avLst/>
          </a:prstGeom>
        </p:spPr>
        <p:txBody>
          <a:bodyPr lIns="90000" tIns="45000" rIns="90000" bIns="45000">
            <a:noAutofit/>
          </a:bodyPr>
          <a:lstStyle/>
          <a:p>
            <a:pPr marL="432000" indent="-324000" algn="r">
              <a:spcAft>
                <a:spcPts val="1060"/>
              </a:spcAft>
              <a:buClr>
                <a:srgbClr val="000000"/>
              </a:buClr>
              <a:buSzPct val="45000"/>
              <a:buFont typeface="Wingdings" charset="2"/>
              <a:buChar char=""/>
            </a:pPr>
            <a:r>
              <a:rPr lang="en-US" sz="2400" b="0" strike="noStrike" spc="-1">
                <a:solidFill>
                  <a:srgbClr val="808080"/>
                </a:solidFill>
                <a:latin typeface="Arial"/>
                <a:ea typeface="Arial"/>
              </a:rPr>
              <a:t>Click to edit the outline text format</a:t>
            </a:r>
            <a:endParaRPr lang="en-US" sz="2400" b="0" strike="noStrike" spc="-1">
              <a:solidFill>
                <a:srgbClr val="999999"/>
              </a:solidFill>
              <a:latin typeface="Arial"/>
            </a:endParaRPr>
          </a:p>
          <a:p>
            <a:pPr marL="864000" lvl="1" indent="-324000" algn="r">
              <a:spcAft>
                <a:spcPts val="1134"/>
              </a:spcAft>
              <a:buClr>
                <a:srgbClr val="000000"/>
              </a:buClr>
              <a:buSzPct val="45000"/>
              <a:buFont typeface="Wingdings" charset="2"/>
              <a:buChar char=""/>
            </a:pPr>
            <a:r>
              <a:rPr lang="en-US" sz="2400" b="0" strike="noStrike" spc="-1">
                <a:solidFill>
                  <a:srgbClr val="808080"/>
                </a:solidFill>
                <a:latin typeface="Arial"/>
                <a:ea typeface="Arial"/>
              </a:rPr>
              <a:t>Second Outline Level</a:t>
            </a:r>
            <a:endParaRPr lang="en-US" sz="2400" b="0" strike="noStrike" spc="-1">
              <a:solidFill>
                <a:srgbClr val="999999"/>
              </a:solidFill>
              <a:latin typeface="Calibri"/>
            </a:endParaRPr>
          </a:p>
          <a:p>
            <a:pPr marL="1296000" lvl="2" indent="-288000" algn="r">
              <a:spcAft>
                <a:spcPts val="850"/>
              </a:spcAft>
              <a:buClr>
                <a:srgbClr val="000000"/>
              </a:buClr>
              <a:buSzPct val="75000"/>
              <a:buFont typeface="Symbol" charset="2"/>
              <a:buChar char=""/>
            </a:pPr>
            <a:r>
              <a:rPr lang="en-US" sz="2400" b="0" strike="noStrike" spc="-1">
                <a:solidFill>
                  <a:srgbClr val="808080"/>
                </a:solidFill>
                <a:latin typeface="Arial"/>
                <a:ea typeface="Arial"/>
              </a:rPr>
              <a:t>Third Outline Level</a:t>
            </a:r>
            <a:endParaRPr lang="en-US" sz="2400" b="0" strike="noStrike" spc="-1">
              <a:solidFill>
                <a:srgbClr val="999999"/>
              </a:solidFill>
              <a:latin typeface="Calibri"/>
            </a:endParaRPr>
          </a:p>
          <a:p>
            <a:pPr marL="1728000" lvl="3" indent="-216000" algn="r">
              <a:spcAft>
                <a:spcPts val="567"/>
              </a:spcAft>
              <a:buClr>
                <a:srgbClr val="000000"/>
              </a:buClr>
              <a:buSzPct val="45000"/>
              <a:buFont typeface="Wingdings" charset="2"/>
              <a:buChar char=""/>
            </a:pPr>
            <a:r>
              <a:rPr lang="en-US" sz="2400" b="0" strike="noStrike" spc="-1">
                <a:solidFill>
                  <a:srgbClr val="808080"/>
                </a:solidFill>
                <a:latin typeface="Arial"/>
                <a:ea typeface="Arial"/>
              </a:rPr>
              <a:t>Fourth Outline Level</a:t>
            </a:r>
            <a:endParaRPr lang="en-US" sz="2400" b="0" strike="noStrike" spc="-1">
              <a:solidFill>
                <a:srgbClr val="999999"/>
              </a:solidFill>
              <a:latin typeface="Calibri"/>
            </a:endParaRPr>
          </a:p>
          <a:p>
            <a:pPr marL="2160000" lvl="4" indent="-216000" algn="r">
              <a:spcAft>
                <a:spcPts val="283"/>
              </a:spcAft>
              <a:buClr>
                <a:srgbClr val="000000"/>
              </a:buClr>
              <a:buSzPct val="75000"/>
              <a:buFont typeface="Symbol" charset="2"/>
              <a:buChar char=""/>
            </a:pPr>
            <a:r>
              <a:rPr lang="en-US" sz="2400" b="0" strike="noStrike" spc="-1">
                <a:solidFill>
                  <a:srgbClr val="808080"/>
                </a:solidFill>
                <a:latin typeface="Arial"/>
                <a:ea typeface="Arial"/>
              </a:rPr>
              <a:t>Fifth Outline Level</a:t>
            </a:r>
            <a:endParaRPr lang="en-US" sz="2400" b="0" strike="noStrike" spc="-1">
              <a:solidFill>
                <a:srgbClr val="999999"/>
              </a:solidFill>
              <a:latin typeface="Calibri"/>
            </a:endParaRPr>
          </a:p>
          <a:p>
            <a:pPr marL="2592000" lvl="5"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Sixth Outline Level</a:t>
            </a:r>
            <a:endParaRPr lang="en-US" sz="2400" b="0" strike="noStrike" spc="-1">
              <a:solidFill>
                <a:srgbClr val="999999"/>
              </a:solidFill>
              <a:latin typeface="Calibri"/>
            </a:endParaRPr>
          </a:p>
          <a:p>
            <a:pPr marL="3024000" lvl="6"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Seventh Outline Level</a:t>
            </a:r>
            <a:endParaRPr lang="en-US" sz="2400" b="0" strike="noStrike" spc="-1">
              <a:solidFill>
                <a:srgbClr val="999999"/>
              </a:solidFill>
              <a:latin typeface="Calibri"/>
            </a:endParaRPr>
          </a:p>
          <a:p>
            <a:pPr marL="3456000" lvl="7"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Eighth Outline Level</a:t>
            </a:r>
            <a:endParaRPr lang="en-US" sz="2400" b="0" strike="noStrike" spc="-1">
              <a:solidFill>
                <a:srgbClr val="999999"/>
              </a:solidFill>
              <a:latin typeface="Calibri"/>
            </a:endParaRPr>
          </a:p>
          <a:p>
            <a:pPr marL="3888000" lvl="8" indent="-216000" algn="r">
              <a:spcAft>
                <a:spcPts val="283"/>
              </a:spcAft>
              <a:buClr>
                <a:srgbClr val="000000"/>
              </a:buClr>
              <a:buSzPct val="45000"/>
              <a:buFont typeface="Wingdings" charset="2"/>
              <a:buChar char=""/>
            </a:pPr>
            <a:r>
              <a:rPr lang="en-US" sz="2400" b="0" strike="noStrike" spc="-1">
                <a:solidFill>
                  <a:srgbClr val="808080"/>
                </a:solidFill>
                <a:latin typeface="Arial"/>
                <a:ea typeface="Arial"/>
              </a:rPr>
              <a:t>Ninth Outline LevelClick to edit Master subtitle style</a:t>
            </a:r>
            <a:endParaRPr lang="en-US" sz="2400" b="0" strike="noStrike" spc="-1">
              <a:solidFill>
                <a:srgbClr val="999999"/>
              </a:solidFill>
              <a:latin typeface="Calibri"/>
            </a:endParaRPr>
          </a:p>
        </p:txBody>
      </p:sp>
      <p:pic>
        <p:nvPicPr>
          <p:cNvPr id="2" name="Picture 2"/>
          <p:cNvPicPr/>
          <p:nvPr/>
        </p:nvPicPr>
        <p:blipFill>
          <a:blip r:embed="rId14"/>
          <a:stretch/>
        </p:blipFill>
        <p:spPr>
          <a:xfrm>
            <a:off x="-420840" y="-143640"/>
            <a:ext cx="9984960" cy="40539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680"/>
            <a:ext cx="8229240" cy="1142640"/>
          </a:xfrm>
          <a:prstGeom prst="rect">
            <a:avLst/>
          </a:prstGeom>
        </p:spPr>
        <p:txBody>
          <a:bodyPr lIns="90000" tIns="45000" rIns="90000" bIns="45000">
            <a:noAutofit/>
          </a:bodyPr>
          <a:lstStyle/>
          <a:p>
            <a:pPr algn="ctr"/>
            <a:r>
              <a:rPr lang="en-US" sz="3200" b="1" strike="noStrike" spc="-1">
                <a:solidFill>
                  <a:srgbClr val="490A3D"/>
                </a:solidFill>
                <a:latin typeface="Arial"/>
                <a:ea typeface="Arial"/>
              </a:rPr>
              <a:t>Click to edit the title text format</a:t>
            </a:r>
            <a:endParaRPr lang="en-US" sz="3200" b="0" strike="noStrike" spc="-1">
              <a:solidFill>
                <a:srgbClr val="376092"/>
              </a:solidFill>
              <a:latin typeface="Arial"/>
            </a:endParaRPr>
          </a:p>
        </p:txBody>
      </p:sp>
      <p:sp>
        <p:nvSpPr>
          <p:cNvPr id="40" name="PlaceHolder 2"/>
          <p:cNvSpPr>
            <a:spLocks noGrp="1"/>
          </p:cNvSpPr>
          <p:nvPr>
            <p:ph type="body"/>
          </p:nvPr>
        </p:nvSpPr>
        <p:spPr>
          <a:xfrm>
            <a:off x="457200" y="1600200"/>
            <a:ext cx="8229240" cy="4525560"/>
          </a:xfrm>
          <a:prstGeom prst="rect">
            <a:avLst/>
          </a:prstGeom>
        </p:spPr>
        <p:txBody>
          <a:bodyPr lIns="90000" tIns="45000" rIns="90000" bIns="45000">
            <a:noAutofit/>
          </a:bodyPr>
          <a:lstStyle/>
          <a:p>
            <a:pPr marL="432000" indent="-324000">
              <a:spcAft>
                <a:spcPts val="1060"/>
              </a:spcAft>
              <a:buClr>
                <a:srgbClr val="000000"/>
              </a:buClr>
              <a:buSzPct val="45000"/>
              <a:buFont typeface="Wingdings" charset="2"/>
              <a:buChar char=""/>
            </a:pPr>
            <a:r>
              <a:rPr lang="en-US" sz="2400" b="0" strike="noStrike" spc="-1">
                <a:solidFill>
                  <a:srgbClr val="490A3D"/>
                </a:solidFill>
                <a:latin typeface="Arial"/>
                <a:ea typeface="Arial"/>
              </a:rPr>
              <a:t>Click to edit the outline text format</a:t>
            </a:r>
            <a:endParaRPr lang="en-US" sz="2400" b="0" strike="noStrike" spc="-1">
              <a:solidFill>
                <a:srgbClr val="376092"/>
              </a:solidFill>
              <a:latin typeface="Arial"/>
            </a:endParaRPr>
          </a:p>
          <a:p>
            <a:pPr marL="864000" lvl="1" indent="-324000">
              <a:spcAft>
                <a:spcPts val="1134"/>
              </a:spcAft>
              <a:buClr>
                <a:srgbClr val="000000"/>
              </a:buClr>
              <a:buSzPct val="45000"/>
              <a:buFont typeface="Wingdings" charset="2"/>
              <a:buChar char=""/>
            </a:pPr>
            <a:r>
              <a:rPr lang="en-US" sz="2200" b="0" strike="noStrike" spc="-1">
                <a:solidFill>
                  <a:srgbClr val="490A3D"/>
                </a:solidFill>
                <a:latin typeface="Arial"/>
                <a:ea typeface="Arial"/>
              </a:rPr>
              <a:t>Second Outline Level</a:t>
            </a:r>
            <a:endParaRPr lang="en-US" sz="2200" b="0" strike="noStrike" spc="-1">
              <a:solidFill>
                <a:srgbClr val="376092"/>
              </a:solidFill>
              <a:latin typeface="Calibri"/>
            </a:endParaRPr>
          </a:p>
          <a:p>
            <a:pPr marL="1296000" lvl="2" indent="-288000">
              <a:spcAft>
                <a:spcPts val="850"/>
              </a:spcAft>
              <a:buClr>
                <a:srgbClr val="000000"/>
              </a:buClr>
              <a:buSzPct val="75000"/>
              <a:buFont typeface="Symbol" charset="2"/>
              <a:buChar char=""/>
            </a:pPr>
            <a:r>
              <a:rPr lang="en-US" sz="2000" b="0" strike="noStrike" spc="-1">
                <a:solidFill>
                  <a:srgbClr val="490A3D"/>
                </a:solidFill>
                <a:latin typeface="Arial"/>
                <a:ea typeface="Arial"/>
              </a:rPr>
              <a:t>Third Outline Level</a:t>
            </a:r>
            <a:endParaRPr lang="en-US" sz="2000" b="0" strike="noStrike" spc="-1">
              <a:solidFill>
                <a:srgbClr val="376092"/>
              </a:solidFill>
              <a:latin typeface="Calibri"/>
            </a:endParaRPr>
          </a:p>
          <a:p>
            <a:pPr marL="1728000" lvl="3" indent="-216000">
              <a:spcAft>
                <a:spcPts val="567"/>
              </a:spcAft>
              <a:buClr>
                <a:srgbClr val="000000"/>
              </a:buClr>
              <a:buSzPct val="45000"/>
              <a:buFont typeface="Wingdings" charset="2"/>
              <a:buChar char=""/>
            </a:pPr>
            <a:r>
              <a:rPr lang="en-US" sz="1800" b="0" strike="noStrike" spc="-1">
                <a:solidFill>
                  <a:srgbClr val="490A3D"/>
                </a:solidFill>
                <a:latin typeface="Arial"/>
                <a:ea typeface="Arial"/>
              </a:rPr>
              <a:t>Fourth Outline Level</a:t>
            </a:r>
            <a:endParaRPr lang="en-US" sz="1800" b="0" strike="noStrike" spc="-1">
              <a:solidFill>
                <a:srgbClr val="376092"/>
              </a:solidFill>
              <a:latin typeface="Calibri"/>
            </a:endParaRPr>
          </a:p>
          <a:p>
            <a:pPr marL="2160000" lvl="4" indent="-216000">
              <a:spcAft>
                <a:spcPts val="283"/>
              </a:spcAft>
              <a:buClr>
                <a:srgbClr val="000000"/>
              </a:buClr>
              <a:buSzPct val="75000"/>
              <a:buFont typeface="Symbol" charset="2"/>
              <a:buChar char=""/>
            </a:pPr>
            <a:r>
              <a:rPr lang="en-US" sz="1600" b="0" strike="noStrike" spc="-1">
                <a:solidFill>
                  <a:srgbClr val="490A3D"/>
                </a:solidFill>
                <a:latin typeface="Arial"/>
                <a:ea typeface="Arial"/>
              </a:rPr>
              <a:t>Fifth Outline Level</a:t>
            </a:r>
            <a:endParaRPr lang="en-US" sz="1600" b="0" strike="noStrike" spc="-1">
              <a:solidFill>
                <a:srgbClr val="376092"/>
              </a:solidFill>
              <a:latin typeface="Calibri"/>
            </a:endParaRPr>
          </a:p>
          <a:p>
            <a:pPr marL="2592000" lvl="5" indent="-216000">
              <a:spcAft>
                <a:spcPts val="283"/>
              </a:spcAft>
              <a:buClr>
                <a:srgbClr val="000000"/>
              </a:buClr>
              <a:buSzPct val="45000"/>
              <a:buFont typeface="Wingdings" charset="2"/>
              <a:buChar char=""/>
            </a:pPr>
            <a:r>
              <a:rPr lang="en-US" sz="1500" b="0" strike="noStrike" spc="-1">
                <a:solidFill>
                  <a:srgbClr val="490A3D"/>
                </a:solidFill>
                <a:latin typeface="Arial"/>
                <a:ea typeface="Arial"/>
              </a:rPr>
              <a:t>Sixth Outline Level</a:t>
            </a:r>
            <a:endParaRPr lang="en-US" sz="1500" b="0" strike="noStrike" spc="-1">
              <a:solidFill>
                <a:srgbClr val="376092"/>
              </a:solidFill>
              <a:latin typeface="Calibri"/>
            </a:endParaRPr>
          </a:p>
          <a:p>
            <a:pPr marL="3024000" lvl="6" indent="-216000">
              <a:spcAft>
                <a:spcPts val="283"/>
              </a:spcAft>
              <a:buClr>
                <a:srgbClr val="000000"/>
              </a:buClr>
              <a:buSzPct val="45000"/>
              <a:buFont typeface="Wingdings" charset="2"/>
              <a:buChar char=""/>
            </a:pPr>
            <a:r>
              <a:rPr lang="en-US" sz="1400" b="0" strike="noStrike" spc="-1">
                <a:solidFill>
                  <a:srgbClr val="490A3D"/>
                </a:solidFill>
                <a:latin typeface="Arial"/>
                <a:ea typeface="Arial"/>
              </a:rPr>
              <a:t>Seventh Outline Level</a:t>
            </a:r>
            <a:endParaRPr lang="en-US" sz="1400" b="0" strike="noStrike" spc="-1">
              <a:solidFill>
                <a:srgbClr val="376092"/>
              </a:solidFill>
              <a:latin typeface="Calibri"/>
            </a:endParaRPr>
          </a:p>
          <a:p>
            <a:pPr marL="3456000" lvl="7" indent="-216000">
              <a:spcAft>
                <a:spcPts val="283"/>
              </a:spcAft>
              <a:buClr>
                <a:srgbClr val="000000"/>
              </a:buClr>
              <a:buSzPct val="45000"/>
              <a:buFont typeface="Wingdings" charset="2"/>
              <a:buChar char=""/>
            </a:pPr>
            <a:r>
              <a:rPr lang="en-US" sz="1300" b="0" strike="noStrike" spc="-1">
                <a:solidFill>
                  <a:srgbClr val="490A3D"/>
                </a:solidFill>
                <a:latin typeface="Arial"/>
                <a:ea typeface="Arial"/>
              </a:rPr>
              <a:t>Eighth Outline Level</a:t>
            </a:r>
            <a:endParaRPr lang="en-US" sz="1300" b="0" strike="noStrike" spc="-1">
              <a:solidFill>
                <a:srgbClr val="376092"/>
              </a:solidFill>
              <a:latin typeface="Calibri"/>
            </a:endParaRPr>
          </a:p>
          <a:p>
            <a:pPr marL="3888000" lvl="8" indent="-216000">
              <a:spcAft>
                <a:spcPts val="283"/>
              </a:spcAft>
              <a:buClr>
                <a:srgbClr val="000000"/>
              </a:buClr>
              <a:buSzPct val="45000"/>
              <a:buFont typeface="Wingdings" charset="2"/>
              <a:buChar char=""/>
            </a:pPr>
            <a:r>
              <a:rPr lang="en-US" sz="1200" b="0" strike="noStrike" spc="-1">
                <a:solidFill>
                  <a:srgbClr val="490A3D"/>
                </a:solidFill>
                <a:latin typeface="Arial"/>
                <a:ea typeface="Arial"/>
              </a:rPr>
              <a:t>Ninth Outline Level</a:t>
            </a:r>
            <a:endParaRPr lang="en-US" sz="1200" b="0" strike="noStrike" spc="-1">
              <a:solidFill>
                <a:srgbClr val="376092"/>
              </a:solidFill>
              <a:latin typeface="Calibri"/>
            </a:endParaRPr>
          </a:p>
        </p:txBody>
      </p:sp>
      <p:sp>
        <p:nvSpPr>
          <p:cNvPr id="41" name="PlaceHolder 3"/>
          <p:cNvSpPr>
            <a:spLocks noGrp="1"/>
          </p:cNvSpPr>
          <p:nvPr>
            <p:ph type="dt"/>
          </p:nvPr>
        </p:nvSpPr>
        <p:spPr>
          <a:xfrm>
            <a:off x="457200" y="6356520"/>
            <a:ext cx="2133360" cy="364680"/>
          </a:xfrm>
          <a:prstGeom prst="rect">
            <a:avLst/>
          </a:prstGeom>
        </p:spPr>
        <p:txBody>
          <a:bodyPr lIns="90000" tIns="45000" rIns="90000" bIns="45000">
            <a:noAutofit/>
          </a:bodyPr>
          <a:lstStyle/>
          <a:p>
            <a:endParaRPr lang="fr-FR" sz="1200" b="0" strike="noStrike" spc="-1">
              <a:latin typeface="Times New Roman"/>
            </a:endParaRPr>
          </a:p>
        </p:txBody>
      </p:sp>
      <p:sp>
        <p:nvSpPr>
          <p:cNvPr id="42" name="PlaceHolder 4"/>
          <p:cNvSpPr>
            <a:spLocks noGrp="1"/>
          </p:cNvSpPr>
          <p:nvPr>
            <p:ph type="ftr"/>
          </p:nvPr>
        </p:nvSpPr>
        <p:spPr>
          <a:xfrm>
            <a:off x="3124080" y="6356520"/>
            <a:ext cx="2895120" cy="364680"/>
          </a:xfrm>
          <a:prstGeom prst="rect">
            <a:avLst/>
          </a:prstGeom>
        </p:spPr>
        <p:txBody>
          <a:bodyPr lIns="90000" tIns="45000" rIns="90000" bIns="45000">
            <a:noAutofit/>
          </a:bodyPr>
          <a:lstStyle/>
          <a:p>
            <a:pPr algn="ctr"/>
            <a:endParaRPr lang="fr-FR" sz="1200" b="0" strike="noStrike" spc="-1">
              <a:solidFill>
                <a:srgbClr val="B3B3B3"/>
              </a:solidFill>
              <a:latin typeface="Arial"/>
            </a:endParaRPr>
          </a:p>
        </p:txBody>
      </p:sp>
      <p:sp>
        <p:nvSpPr>
          <p:cNvPr id="43" name="PlaceHolder 5"/>
          <p:cNvSpPr>
            <a:spLocks noGrp="1"/>
          </p:cNvSpPr>
          <p:nvPr>
            <p:ph type="sldNum"/>
          </p:nvPr>
        </p:nvSpPr>
        <p:spPr>
          <a:xfrm>
            <a:off x="6553080" y="6356520"/>
            <a:ext cx="2133360" cy="364680"/>
          </a:xfrm>
          <a:prstGeom prst="rect">
            <a:avLst/>
          </a:prstGeom>
        </p:spPr>
        <p:txBody>
          <a:bodyPr lIns="90000" tIns="45000" rIns="90000" bIns="45000">
            <a:noAutofit/>
          </a:bodyPr>
          <a:lstStyle/>
          <a:p>
            <a:pPr algn="r"/>
            <a:fld id="{A5C73E94-B7FC-4C8D-BFA3-E33D91AB40A9}" type="slidenum">
              <a:rPr lang="fr-FR" sz="1200" b="0" strike="noStrike" spc="-1">
                <a:solidFill>
                  <a:srgbClr val="B3B3B3"/>
                </a:solidFill>
                <a:latin typeface="Arial"/>
                <a:ea typeface="Arial"/>
              </a:rPr>
              <a:t>‹N°›</a:t>
            </a:fld>
            <a:endParaRPr lang="fr-FR" sz="1200" b="0" strike="noStrike" spc="-1">
              <a:latin typeface="Times New Roman"/>
            </a:endParaRPr>
          </a:p>
        </p:txBody>
      </p:sp>
      <p:sp>
        <p:nvSpPr>
          <p:cNvPr id="44" name="Line 6"/>
          <p:cNvSpPr/>
          <p:nvPr/>
        </p:nvSpPr>
        <p:spPr>
          <a:xfrm>
            <a:off x="467280" y="6309000"/>
            <a:ext cx="8209080" cy="0"/>
          </a:xfrm>
          <a:prstGeom prst="line">
            <a:avLst/>
          </a:prstGeom>
          <a:ln w="9360">
            <a:solidFill>
              <a:srgbClr val="BFBFBF"/>
            </a:solidFill>
            <a:round/>
          </a:ln>
        </p:spPr>
        <p:style>
          <a:lnRef idx="0">
            <a:scrgbClr r="0" g="0" b="0"/>
          </a:lnRef>
          <a:fillRef idx="0">
            <a:scrgbClr r="0" g="0" b="0"/>
          </a:fillRef>
          <a:effectRef idx="0">
            <a:scrgbClr r="0" g="0" b="0"/>
          </a:effectRef>
          <a:fontRef idx="minor"/>
        </p:style>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 name="CustomShape 1"/>
          <p:cNvSpPr/>
          <p:nvPr/>
        </p:nvSpPr>
        <p:spPr>
          <a:xfrm>
            <a:off x="360" y="360"/>
            <a:ext cx="9143640" cy="6857640"/>
          </a:xfrm>
          <a:prstGeom prst="rect">
            <a:avLst/>
          </a:prstGeom>
          <a:gradFill rotWithShape="0">
            <a:gsLst>
              <a:gs pos="0">
                <a:srgbClr val="FFFFFF"/>
              </a:gs>
              <a:gs pos="100000">
                <a:srgbClr val="D9D9D9"/>
              </a:gs>
            </a:gsLst>
            <a:path path="circle">
              <a:fillToRect l="50000" t="30000" r="50000" b="70000"/>
            </a:path>
          </a:gradFill>
          <a:ln w="9360">
            <a:solidFill>
              <a:srgbClr val="FFFFFF"/>
            </a:solidFill>
            <a:miter/>
          </a:ln>
        </p:spPr>
        <p:style>
          <a:lnRef idx="0">
            <a:scrgbClr r="0" g="0" b="0"/>
          </a:lnRef>
          <a:fillRef idx="0">
            <a:scrgbClr r="0" g="0" b="0"/>
          </a:fillRef>
          <a:effectRef idx="0">
            <a:scrgbClr r="0" g="0" b="0"/>
          </a:effectRef>
          <a:fontRef idx="minor"/>
        </p:style>
      </p:sp>
      <p:sp>
        <p:nvSpPr>
          <p:cNvPr id="82" name="PlaceHolder 2"/>
          <p:cNvSpPr>
            <a:spLocks noGrp="1"/>
          </p:cNvSpPr>
          <p:nvPr>
            <p:ph type="title"/>
          </p:nvPr>
        </p:nvSpPr>
        <p:spPr>
          <a:xfrm>
            <a:off x="685800" y="2130120"/>
            <a:ext cx="7772400" cy="1470240"/>
          </a:xfrm>
          <a:prstGeom prst="rect">
            <a:avLst/>
          </a:prstGeom>
        </p:spPr>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3600" b="0" strike="noStrike" spc="-1">
                <a:solidFill>
                  <a:srgbClr val="000000"/>
                </a:solidFill>
                <a:latin typeface="Arial"/>
              </a:rPr>
              <a:t>Cliquez pour éditer le format du texte-titre</a:t>
            </a:r>
          </a:p>
        </p:txBody>
      </p:sp>
      <p:sp>
        <p:nvSpPr>
          <p:cNvPr id="83" name="PlaceHolder 3"/>
          <p:cNvSpPr>
            <a:spLocks noGrp="1"/>
          </p:cNvSpPr>
          <p:nvPr>
            <p:ph type="body"/>
          </p:nvPr>
        </p:nvSpPr>
        <p:spPr>
          <a:xfrm>
            <a:off x="457200" y="1604520"/>
            <a:ext cx="8229240" cy="3977640"/>
          </a:xfrm>
          <a:prstGeom prst="rect">
            <a:avLst/>
          </a:prstGeom>
        </p:spPr>
        <p:txBody>
          <a:bodyPr lIns="0" tIns="0" rIns="0" bIns="0">
            <a:noAutofit/>
          </a:bodyPr>
          <a:lstStyle/>
          <a:p>
            <a:pPr marL="342720" indent="-342720">
              <a:spcBef>
                <a:spcPts val="598"/>
              </a:spcBef>
              <a:buClr>
                <a:srgbClr val="000000"/>
              </a:buClr>
              <a:buFont typeface="Arial"/>
              <a:buChar char="•"/>
              <a:tabLst>
                <a:tab pos="571320" algn="l"/>
                <a:tab pos="1485720" algn="l"/>
                <a:tab pos="2400120" algn="l"/>
                <a:tab pos="3314520" algn="l"/>
                <a:tab pos="4228920" algn="l"/>
                <a:tab pos="5143320" algn="l"/>
                <a:tab pos="6057720" algn="l"/>
                <a:tab pos="6972120" algn="l"/>
                <a:tab pos="7886520" algn="l"/>
                <a:tab pos="8800920" algn="l"/>
                <a:tab pos="9715320" algn="l"/>
              </a:tabLst>
            </a:pPr>
            <a:r>
              <a:rPr lang="fr-FR" sz="2400" b="0" strike="noStrike" spc="-1">
                <a:solidFill>
                  <a:srgbClr val="000000"/>
                </a:solidFill>
                <a:latin typeface="Arial"/>
              </a:rPr>
              <a:t>Cliquez pour éditer le format du plan de texte</a:t>
            </a:r>
          </a:p>
          <a:p>
            <a:pPr marL="742680" lvl="1" indent="-285480">
              <a:spcBef>
                <a:spcPts val="499"/>
              </a:spcBef>
              <a:buClr>
                <a:srgbClr val="000000"/>
              </a:buClr>
              <a:buFont typeface="Arial"/>
              <a:buChar char="–"/>
              <a:tabLst>
                <a:tab pos="171360" algn="l"/>
                <a:tab pos="1085760" algn="l"/>
                <a:tab pos="2000160" algn="l"/>
                <a:tab pos="2914560" algn="l"/>
                <a:tab pos="3828960" algn="l"/>
                <a:tab pos="4743360" algn="l"/>
                <a:tab pos="5657760" algn="l"/>
                <a:tab pos="6572160" algn="l"/>
                <a:tab pos="7486560" algn="l"/>
                <a:tab pos="8400960" algn="l"/>
                <a:tab pos="9315360" algn="l"/>
              </a:tabLst>
            </a:pPr>
            <a:r>
              <a:rPr lang="fr-FR" sz="2000" b="0" strike="noStrike" spc="-1">
                <a:solidFill>
                  <a:srgbClr val="000000"/>
                </a:solidFill>
                <a:latin typeface="Arial"/>
              </a:rPr>
              <a:t>Second niveau de plan</a:t>
            </a:r>
          </a:p>
          <a:p>
            <a:pPr marL="1143000" lvl="2" indent="-228600">
              <a:spcBef>
                <a:spcPts val="448"/>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 pos="8915400" algn="l"/>
              </a:tabLst>
            </a:pPr>
            <a:r>
              <a:rPr lang="fr-FR" sz="1800" b="0" strike="noStrike" spc="-1">
                <a:solidFill>
                  <a:srgbClr val="000000"/>
                </a:solidFill>
                <a:latin typeface="Arial"/>
              </a:rPr>
              <a:t>Troisième niveau de plan</a:t>
            </a:r>
          </a:p>
          <a:p>
            <a:pPr marL="1600200" lvl="3" indent="-228600">
              <a:spcBef>
                <a:spcPts val="400"/>
              </a:spcBef>
              <a:buClr>
                <a:srgbClr val="000000"/>
              </a:buClr>
              <a:buFont typeface="Arial"/>
              <a:buChar char="–"/>
              <a:tabLst>
                <a:tab pos="228600" algn="l"/>
                <a:tab pos="1143000" algn="l"/>
                <a:tab pos="2057400" algn="l"/>
                <a:tab pos="2971800" algn="l"/>
                <a:tab pos="3886200" algn="l"/>
                <a:tab pos="4800600" algn="l"/>
                <a:tab pos="5715000" algn="l"/>
                <a:tab pos="6629400" algn="l"/>
                <a:tab pos="7543800" algn="l"/>
                <a:tab pos="8458200" algn="l"/>
              </a:tabLst>
            </a:pPr>
            <a:r>
              <a:rPr lang="fr-FR" sz="1600" b="0" strike="noStrike" spc="-1">
                <a:solidFill>
                  <a:srgbClr val="000000"/>
                </a:solidFill>
                <a:latin typeface="Arial"/>
              </a:rPr>
              <a:t>Quatrième niveau de plan</a:t>
            </a:r>
          </a:p>
          <a:p>
            <a:pPr marL="2057400" lvl="4"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Cinquième niveau de plan</a:t>
            </a:r>
          </a:p>
          <a:p>
            <a:pPr marL="2057400" lvl="5"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Sixième niveau de plan</a:t>
            </a:r>
          </a:p>
          <a:p>
            <a:pPr marL="2057400" lvl="6" indent="-228600">
              <a:spcBef>
                <a:spcPts val="400"/>
              </a:spcBef>
              <a:buClr>
                <a:srgbClr val="000000"/>
              </a:buClr>
              <a:buFont typeface="Arial"/>
              <a:buChar char="»"/>
              <a:tabLst>
                <a:tab pos="685800" algn="l"/>
                <a:tab pos="1600200" algn="l"/>
                <a:tab pos="2514600" algn="l"/>
                <a:tab pos="3429000" algn="l"/>
                <a:tab pos="4343400" algn="l"/>
                <a:tab pos="5257800" algn="l"/>
                <a:tab pos="6172200" algn="l"/>
                <a:tab pos="7086600" algn="l"/>
                <a:tab pos="8001000" algn="l"/>
              </a:tabLst>
            </a:pPr>
            <a:r>
              <a:rPr lang="fr-FR" sz="1600" b="0" strike="noStrike" spc="-1">
                <a:solidFill>
                  <a:srgbClr val="000000"/>
                </a:solidFill>
                <a:latin typeface="Arial"/>
              </a:rPr>
              <a:t>Septième niveau de plan</a:t>
            </a:r>
          </a:p>
        </p:txBody>
      </p:sp>
      <p:sp>
        <p:nvSpPr>
          <p:cNvPr id="84" name="Line 4"/>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5" name="CustomShape 5"/>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sp>
      <p:sp>
        <p:nvSpPr>
          <p:cNvPr id="86" name="CustomShape 6"/>
          <p:cNvSpPr/>
          <p:nvPr/>
        </p:nvSpPr>
        <p:spPr>
          <a:xfrm>
            <a:off x="3995640" y="6596280"/>
            <a:ext cx="5004000" cy="2462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nSpc>
                <a:spcPct val="100000"/>
              </a:lnSpc>
            </a:pPr>
            <a:r>
              <a:rPr lang="fr-FR" sz="1000" b="0" strike="noStrike" spc="-1">
                <a:solidFill>
                  <a:srgbClr val="009999"/>
                </a:solidFill>
                <a:latin typeface="Arial"/>
                <a:hlinkClick r:id="rId14"/>
              </a:rPr>
              <a:t>http://creativecommons.org/licenses/by-nd/3.0/</a:t>
            </a:r>
            <a:r>
              <a:rPr lang="fr-FR" sz="1000" b="0" strike="noStrike" spc="-1">
                <a:latin typeface="Arial"/>
              </a:rPr>
              <a:t> </a:t>
            </a:r>
          </a:p>
        </p:txBody>
      </p:sp>
      <p:sp>
        <p:nvSpPr>
          <p:cNvPr id="87" name="Line 7"/>
          <p:cNvSpPr/>
          <p:nvPr/>
        </p:nvSpPr>
        <p:spPr>
          <a:xfrm>
            <a:off x="3348000" y="1413360"/>
            <a:ext cx="0" cy="4464000"/>
          </a:xfrm>
          <a:prstGeom prst="line">
            <a:avLst/>
          </a:prstGeom>
          <a:ln w="9360">
            <a:solidFill>
              <a:srgbClr val="C0C0C0"/>
            </a:solidFill>
            <a:miter/>
          </a:ln>
        </p:spPr>
        <p:style>
          <a:lnRef idx="0">
            <a:scrgbClr r="0" g="0" b="0"/>
          </a:lnRef>
          <a:fillRef idx="0">
            <a:scrgbClr r="0" g="0" b="0"/>
          </a:fillRef>
          <a:effectRef idx="0">
            <a:scrgbClr r="0" g="0" b="0"/>
          </a:effectRef>
          <a:fontRef idx="minor"/>
        </p:style>
      </p:sp>
      <p:sp>
        <p:nvSpPr>
          <p:cNvPr id="88" name="CustomShape 8"/>
          <p:cNvSpPr/>
          <p:nvPr/>
        </p:nvSpPr>
        <p:spPr>
          <a:xfrm>
            <a:off x="299880" y="1700640"/>
            <a:ext cx="2832120" cy="173988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pPr>
            <a:r>
              <a:rPr lang="en-GB" sz="1800" b="1" strike="noStrike" spc="-1">
                <a:solidFill>
                  <a:srgbClr val="4E2169"/>
                </a:solidFill>
                <a:latin typeface="Arial"/>
              </a:rPr>
              <a:t>You can use this </a:t>
            </a:r>
            <a:r>
              <a:rPr lang="en-GB" sz="1800" b="1" strike="noStrike" spc="-1">
                <a:solidFill>
                  <a:srgbClr val="AD5B84"/>
                </a:solidFill>
                <a:latin typeface="Arial"/>
              </a:rPr>
              <a:t>OpenOffice Impress</a:t>
            </a:r>
            <a:r>
              <a:rPr lang="en-GB" sz="1800" b="1" strike="noStrike" spc="-1">
                <a:solidFill>
                  <a:srgbClr val="4E2169"/>
                </a:solidFill>
                <a:latin typeface="Arial"/>
              </a:rPr>
              <a:t> template for </a:t>
            </a:r>
            <a:endParaRPr lang="fr-FR" sz="1800" b="0" strike="noStrike" spc="-1">
              <a:latin typeface="Arial"/>
            </a:endParaRPr>
          </a:p>
          <a:p>
            <a:pPr>
              <a:lnSpc>
                <a:spcPct val="100000"/>
              </a:lnSpc>
            </a:pPr>
            <a:r>
              <a:rPr lang="en-GB" sz="1800" b="1" strike="noStrike" spc="-1">
                <a:solidFill>
                  <a:srgbClr val="4E2169"/>
                </a:solidFill>
                <a:latin typeface="Arial"/>
              </a:rPr>
              <a:t>your personal, educational and business presentations.</a:t>
            </a:r>
            <a:endParaRPr lang="fr-FR" sz="1800" b="0" strike="noStrike" spc="-1">
              <a:latin typeface="Arial"/>
            </a:endParaRPr>
          </a:p>
        </p:txBody>
      </p:sp>
      <p:sp>
        <p:nvSpPr>
          <p:cNvPr id="89" name="CustomShape 9"/>
          <p:cNvSpPr/>
          <p:nvPr/>
        </p:nvSpPr>
        <p:spPr>
          <a:xfrm>
            <a:off x="457200" y="275040"/>
            <a:ext cx="8229600" cy="65556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nSpc>
                <a:spcPct val="100000"/>
              </a:lnSpc>
            </a:pPr>
            <a:r>
              <a:rPr lang="en-US" sz="2800" b="1" strike="noStrike" spc="-1">
                <a:solidFill>
                  <a:srgbClr val="4E2169"/>
                </a:solidFill>
                <a:latin typeface="Arial"/>
              </a:rPr>
              <a:t>Conditions of use</a:t>
            </a:r>
            <a:endParaRPr lang="fr-FR" sz="2800" b="0" strike="noStrike" spc="-1">
              <a:latin typeface="Arial"/>
            </a:endParaRPr>
          </a:p>
        </p:txBody>
      </p:sp>
      <p:sp>
        <p:nvSpPr>
          <p:cNvPr id="90" name="CustomShape 10"/>
          <p:cNvSpPr/>
          <p:nvPr/>
        </p:nvSpPr>
        <p:spPr>
          <a:xfrm>
            <a:off x="250920" y="4617360"/>
            <a:ext cx="2736720" cy="423000"/>
          </a:xfrm>
          <a:prstGeom prst="rect">
            <a:avLst/>
          </a:prstGeom>
          <a:gradFill rotWithShape="0">
            <a:gsLst>
              <a:gs pos="0">
                <a:srgbClr val="FFA7A4"/>
              </a:gs>
              <a:gs pos="100000">
                <a:srgbClr val="FFE5E5"/>
              </a:gs>
            </a:gsLst>
            <a:lin ang="16200000"/>
          </a:gradFill>
          <a:ln w="9360">
            <a:solidFill>
              <a:srgbClr val="BE4B48"/>
            </a:solidFill>
            <a:round/>
          </a:ln>
        </p:spPr>
        <p:style>
          <a:lnRef idx="0">
            <a:scrgbClr r="0" g="0" b="0"/>
          </a:lnRef>
          <a:fillRef idx="0">
            <a:scrgbClr r="0" g="0" b="0"/>
          </a:fillRef>
          <a:effectRef idx="0">
            <a:scrgbClr r="0" g="0" b="0"/>
          </a:effectRef>
          <a:fontRef idx="minor"/>
        </p:style>
      </p:sp>
      <p:sp>
        <p:nvSpPr>
          <p:cNvPr id="91" name="CustomShape 11"/>
          <p:cNvSpPr/>
          <p:nvPr/>
        </p:nvSpPr>
        <p:spPr>
          <a:xfrm>
            <a:off x="299880" y="3644640"/>
            <a:ext cx="2831760" cy="1338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0" strike="noStrike" spc="-1">
                <a:solidFill>
                  <a:srgbClr val="000000"/>
                </a:solidFill>
                <a:latin typeface="Calibri"/>
              </a:rPr>
              <a:t>The copyright statement we require you to include when you use our material is:</a:t>
            </a:r>
            <a:endParaRPr lang="fr-FR" sz="1600" b="0" strike="noStrike" spc="-1">
              <a:latin typeface="Arial"/>
            </a:endParaRPr>
          </a:p>
          <a:p>
            <a:br/>
            <a:r>
              <a:rPr lang="fr-FR" sz="1800" b="0" strike="noStrike" spc="-1">
                <a:solidFill>
                  <a:srgbClr val="C00000"/>
                </a:solidFill>
                <a:latin typeface="Calibri"/>
              </a:rPr>
              <a:t>© Copyright Showeet.com</a:t>
            </a:r>
            <a:endParaRPr lang="fr-FR" sz="1800" b="0" strike="noStrike" spc="-1">
              <a:latin typeface="Arial"/>
            </a:endParaRPr>
          </a:p>
        </p:txBody>
      </p:sp>
      <p:pic>
        <p:nvPicPr>
          <p:cNvPr id="92" name="Image 1"/>
          <p:cNvPicPr/>
          <p:nvPr/>
        </p:nvPicPr>
        <p:blipFill>
          <a:blip r:embed="rId15"/>
          <a:stretch/>
        </p:blipFill>
        <p:spPr>
          <a:xfrm>
            <a:off x="335160" y="5410440"/>
            <a:ext cx="2323800" cy="961560"/>
          </a:xfrm>
          <a:prstGeom prst="rect">
            <a:avLst/>
          </a:prstGeom>
          <a:ln w="0">
            <a:noFill/>
          </a:ln>
        </p:spPr>
      </p:pic>
      <p:sp>
        <p:nvSpPr>
          <p:cNvPr id="93" name="CustomShape 12"/>
          <p:cNvSpPr/>
          <p:nvPr/>
        </p:nvSpPr>
        <p:spPr>
          <a:xfrm>
            <a:off x="625680" y="6157440"/>
            <a:ext cx="1759680" cy="547200"/>
          </a:xfrm>
          <a:prstGeom prst="rect">
            <a:avLst/>
          </a:prstGeom>
          <a:noFill/>
          <a:ln w="936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r>
              <a:rPr lang="fr-FR" sz="1000" b="0" strike="noStrike" spc="-1">
                <a:solidFill>
                  <a:srgbClr val="000000"/>
                </a:solidFill>
                <a:latin typeface="Calibri"/>
                <a:hlinkClick r:id="rId16"/>
              </a:rPr>
              <a:t>http://www.showeet.com</a:t>
            </a:r>
            <a:endParaRPr lang="fr-FR" sz="1000" b="0" strike="noStrike" spc="-1">
              <a:latin typeface="Arial"/>
            </a:endParaRPr>
          </a:p>
          <a:p>
            <a:endParaRPr lang="fr-FR" sz="1000" b="0" strike="noStrike" spc="-1">
              <a:latin typeface="Arial"/>
            </a:endParaRPr>
          </a:p>
          <a:p>
            <a:r>
              <a:rPr lang="fr-FR" sz="1000" b="0" strike="noStrike" spc="-1">
                <a:solidFill>
                  <a:srgbClr val="000000"/>
                </a:solidFill>
                <a:latin typeface="Calibri"/>
              </a:rPr>
              <a:t>Contact: Showeet@ymail.com </a:t>
            </a:r>
            <a:endParaRPr lang="fr-FR" sz="1000" b="0" strike="noStrike" spc="-1">
              <a:latin typeface="Arial"/>
            </a:endParaRPr>
          </a:p>
        </p:txBody>
      </p:sp>
      <p:sp>
        <p:nvSpPr>
          <p:cNvPr id="94" name="CustomShape 13"/>
          <p:cNvSpPr/>
          <p:nvPr/>
        </p:nvSpPr>
        <p:spPr>
          <a:xfrm>
            <a:off x="3995640" y="1448280"/>
            <a:ext cx="4716000" cy="5134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spAutoFit/>
          </a:bodyPr>
          <a:lstStyle/>
          <a:p>
            <a:r>
              <a:rPr lang="en-US" sz="1600" b="1" strike="noStrike" spc="-1">
                <a:solidFill>
                  <a:srgbClr val="000000"/>
                </a:solidFill>
                <a:latin typeface="Calibri"/>
              </a:rPr>
              <a:t>With the use of this free </a:t>
            </a:r>
            <a:r>
              <a:rPr lang="en-US" sz="1600" b="1" strike="noStrike" spc="-1">
                <a:solidFill>
                  <a:srgbClr val="0070C0"/>
                </a:solidFill>
                <a:latin typeface="Calibri"/>
              </a:rPr>
              <a:t>template </a:t>
            </a:r>
            <a:r>
              <a:rPr lang="en-US" sz="1600" b="1" strike="noStrike" spc="-1">
                <a:solidFill>
                  <a:srgbClr val="000000"/>
                </a:solidFill>
                <a:latin typeface="Calibri"/>
              </a:rPr>
              <a:t>you accept the following use and license conditions.</a:t>
            </a:r>
            <a:endParaRPr lang="fr-FR" sz="1600" b="0" strike="noStrike" spc="-1">
              <a:latin typeface="Arial"/>
            </a:endParaRPr>
          </a:p>
          <a:p>
            <a:endParaRPr lang="fr-FR" sz="1600" b="0" strike="noStrike" spc="-1">
              <a:latin typeface="Arial"/>
            </a:endParaRPr>
          </a:p>
          <a:p>
            <a:r>
              <a:rPr lang="en-US" sz="1200" b="0" strike="noStrike" spc="-1">
                <a:solidFill>
                  <a:srgbClr val="000000"/>
                </a:solidFill>
                <a:latin typeface="Calibri"/>
              </a:rPr>
              <a:t>You</a:t>
            </a:r>
            <a:r>
              <a:rPr lang="fr-FR" sz="1200" b="0" strike="noStrike" spc="-1">
                <a:solidFill>
                  <a:srgbClr val="000000"/>
                </a:solidFill>
                <a:latin typeface="Calibri"/>
              </a:rPr>
              <a:t> are </a:t>
            </a:r>
            <a:r>
              <a:rPr lang="en-US" sz="1200" b="0" strike="noStrike" spc="-1">
                <a:solidFill>
                  <a:srgbClr val="000000"/>
                </a:solidFill>
                <a:latin typeface="Calibri"/>
              </a:rPr>
              <a:t>free</a:t>
            </a:r>
            <a:r>
              <a:rPr lang="fr-FR" sz="1200" b="0" strike="noStrike" spc="-1">
                <a:solidFill>
                  <a:srgbClr val="000000"/>
                </a:solidFill>
                <a:latin typeface="Calibri"/>
              </a:rPr>
              <a:t>:</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To Share</a:t>
            </a:r>
            <a:r>
              <a:rPr lang="en-US" sz="1200" b="0" strike="noStrike" spc="-1">
                <a:solidFill>
                  <a:srgbClr val="000000"/>
                </a:solidFill>
                <a:latin typeface="Calibri"/>
              </a:rPr>
              <a:t> — to copy, distribute and transmit the work</a:t>
            </a:r>
            <a:endParaRPr lang="fr-FR" sz="1200" b="0" strike="noStrike" spc="-1">
              <a:latin typeface="Arial"/>
            </a:endParaRPr>
          </a:p>
          <a:p>
            <a:r>
              <a:rPr lang="en-US" sz="1200" b="0" strike="noStrike" spc="-1">
                <a:solidFill>
                  <a:srgbClr val="000000"/>
                </a:solidFill>
                <a:latin typeface="Calibri"/>
              </a:rPr>
              <a:t>Under the following conditions:</a:t>
            </a:r>
            <a:endParaRPr lang="fr-FR" sz="1200" b="0" strike="noStrike" spc="-1">
              <a:latin typeface="Arial"/>
            </a:endParaRPr>
          </a:p>
          <a:p>
            <a:endParaRPr lang="fr-FR" sz="1200" b="0" strike="noStrike" spc="-1">
              <a:latin typeface="Arial"/>
            </a:endParaRPr>
          </a:p>
          <a:p>
            <a:r>
              <a:rPr lang="en-US" sz="1400" b="1" strike="noStrike" spc="-1">
                <a:solidFill>
                  <a:srgbClr val="000000"/>
                </a:solidFill>
                <a:latin typeface="Calibri"/>
              </a:rPr>
              <a:t>Attribution</a:t>
            </a:r>
            <a:r>
              <a:rPr lang="en-US" sz="1200" b="0" strike="noStrike" spc="-1">
                <a:solidFill>
                  <a:srgbClr val="000000"/>
                </a:solidFill>
                <a:latin typeface="Calibri"/>
              </a:rPr>
              <a:t> — You must attribute the work in the manner specified by the author or licensor (but not in any way that suggests that they endorse you or your use of the work).</a:t>
            </a:r>
            <a:endParaRPr lang="fr-FR" sz="1200" b="0" strike="noStrike" spc="-1">
              <a:latin typeface="Arial"/>
            </a:endParaRPr>
          </a:p>
          <a:p>
            <a:r>
              <a:rPr lang="en-US" sz="1400" b="1" strike="noStrike" spc="-1">
                <a:solidFill>
                  <a:srgbClr val="000000"/>
                </a:solidFill>
                <a:latin typeface="Calibri"/>
              </a:rPr>
              <a:t>No Derivative Works</a:t>
            </a:r>
            <a:r>
              <a:rPr lang="en-US" sz="1200" b="0" strike="noStrike" spc="-1">
                <a:solidFill>
                  <a:srgbClr val="000000"/>
                </a:solidFill>
                <a:latin typeface="Calibri"/>
              </a:rPr>
              <a:t> — You may not alter, transform, or build upon this work.</a:t>
            </a:r>
            <a:endParaRPr lang="fr-FR" sz="1200" b="0" strike="noStrike" spc="-1">
              <a:latin typeface="Arial"/>
            </a:endParaRPr>
          </a:p>
          <a:p>
            <a:endParaRPr lang="fr-FR" sz="1200" b="0" strike="noStrike" spc="-1">
              <a:latin typeface="Arial"/>
            </a:endParaRPr>
          </a:p>
          <a:p>
            <a:r>
              <a:rPr lang="en-US" sz="1050" b="0" strike="noStrike" spc="-1">
                <a:solidFill>
                  <a:srgbClr val="000000"/>
                </a:solidFill>
                <a:latin typeface="Calibri"/>
              </a:rPr>
              <a:t>For any  distribution, you must make clear to others the license terms of this work. The best way to do this is with a link to this web page: </a:t>
            </a:r>
            <a:r>
              <a:rPr lang="en-US" sz="1050" b="0" strike="noStrike" spc="-1">
                <a:solidFill>
                  <a:srgbClr val="000000"/>
                </a:solidFill>
                <a:latin typeface="Calibri"/>
                <a:hlinkClick r:id="rId17"/>
              </a:rPr>
              <a:t>http://www.showeet.com/terms-of-use/</a:t>
            </a:r>
            <a:r>
              <a:rPr lang="en-US" sz="1050" b="0" strike="noStrike" spc="-1">
                <a:solidFill>
                  <a:srgbClr val="000000"/>
                </a:solidFill>
                <a:latin typeface="Calibri"/>
              </a:rPr>
              <a:t> </a:t>
            </a:r>
            <a:br/>
            <a:br/>
            <a:r>
              <a:rPr lang="en-US" sz="1050" b="0" strike="noStrike" spc="-1">
                <a:solidFill>
                  <a:srgbClr val="000000"/>
                </a:solidFill>
                <a:latin typeface="Calibri"/>
              </a:rPr>
              <a:t>Any of the conditions can be waived if you get permission from showeet.com</a:t>
            </a:r>
            <a:endParaRPr lang="fr-FR" sz="1050" b="0" strike="noStrike" spc="-1">
              <a:latin typeface="Arial"/>
            </a:endParaRPr>
          </a:p>
          <a:p>
            <a:r>
              <a:rPr lang="en-US" sz="1050" b="0" strike="noStrike" spc="-1">
                <a:solidFill>
                  <a:srgbClr val="000000"/>
                </a:solidFill>
                <a:latin typeface="Calibri"/>
              </a:rPr>
              <a:t>In no event shall </a:t>
            </a:r>
            <a:r>
              <a:rPr lang="en-US" sz="1050" b="0" u="sng" strike="noStrike" spc="-1">
                <a:solidFill>
                  <a:srgbClr val="000000"/>
                </a:solidFill>
                <a:uFillTx/>
                <a:latin typeface="Calibri"/>
              </a:rPr>
              <a:t>Showeet.com</a:t>
            </a:r>
            <a:r>
              <a:rPr lang="en-US" sz="1050" b="0" strike="noStrike" spc="-1">
                <a:solidFill>
                  <a:srgbClr val="000000"/>
                </a:solidFill>
                <a:latin typeface="Calibri"/>
              </a:rPr>
              <a:t> be liable for any indirect, special or consequential damages arising out of or in connection with the use of the template, diagram or map.</a:t>
            </a:r>
            <a:endParaRPr lang="fr-FR" sz="1050" b="0" strike="noStrike" spc="-1">
              <a:latin typeface="Arial"/>
            </a:endParaRPr>
          </a:p>
        </p:txBody>
      </p:sp>
      <p:pic>
        <p:nvPicPr>
          <p:cNvPr id="95" name="Image 94"/>
          <p:cNvPicPr/>
          <p:nvPr/>
        </p:nvPicPr>
        <p:blipFill>
          <a:blip r:embed="rId18"/>
          <a:stretch/>
        </p:blipFill>
        <p:spPr>
          <a:xfrm>
            <a:off x="3732840" y="971640"/>
            <a:ext cx="1798200" cy="435960"/>
          </a:xfrm>
          <a:prstGeom prst="rect">
            <a:avLst/>
          </a:prstGeom>
          <a:ln w="0">
            <a:noFill/>
          </a:ln>
        </p:spPr>
      </p:pic>
      <p:pic>
        <p:nvPicPr>
          <p:cNvPr id="96" name="Image 95"/>
          <p:cNvPicPr/>
          <p:nvPr/>
        </p:nvPicPr>
        <p:blipFill>
          <a:blip r:embed="rId19"/>
          <a:stretch/>
        </p:blipFill>
        <p:spPr>
          <a:xfrm>
            <a:off x="3616560" y="3693960"/>
            <a:ext cx="303120" cy="96768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xlsx"/><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5.xml"/><Relationship Id="rId5" Type="http://schemas.openxmlformats.org/officeDocument/2006/relationships/image" Target="../media/image15.emf"/><Relationship Id="rId4" Type="http://schemas.openxmlformats.org/officeDocument/2006/relationships/image" Target="../media/image1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extShape 1"/>
          <p:cNvSpPr txBox="1"/>
          <p:nvPr/>
        </p:nvSpPr>
        <p:spPr>
          <a:xfrm>
            <a:off x="435006" y="4149000"/>
            <a:ext cx="8380674" cy="1469520"/>
          </a:xfrm>
          <a:prstGeom prst="rect">
            <a:avLst/>
          </a:prstGeom>
          <a:noFill/>
          <a:ln w="0">
            <a:noFill/>
          </a:ln>
        </p:spPr>
        <p:txBody>
          <a:bodyPr lIns="0" tIns="0" rIns="0" bIns="0" anchor="ctr">
            <a:noAutofit/>
          </a:bodyPr>
          <a:lstStyle/>
          <a:p>
            <a:pPr algn="r"/>
            <a:r>
              <a:rPr lang="fr-FR" sz="4400" spc="-1" dirty="0">
                <a:solidFill>
                  <a:srgbClr val="376092"/>
                </a:solidFill>
                <a:latin typeface="Arial"/>
              </a:rPr>
              <a:t>Logique</a:t>
            </a:r>
            <a:br>
              <a:rPr dirty="0"/>
            </a:br>
            <a:r>
              <a:rPr lang="fr-FR" sz="4400" b="0" strike="noStrike" spc="-1" dirty="0">
                <a:solidFill>
                  <a:srgbClr val="376092"/>
                </a:solidFill>
                <a:latin typeface="Arial"/>
              </a:rPr>
              <a:t> </a:t>
            </a:r>
            <a:endParaRPr lang="en-US" sz="4400" b="0" strike="noStrike" spc="-1" dirty="0">
              <a:solidFill>
                <a:srgbClr val="376092"/>
              </a:solidFill>
              <a:latin typeface="Arial"/>
            </a:endParaRPr>
          </a:p>
        </p:txBody>
      </p:sp>
      <p:sp>
        <p:nvSpPr>
          <p:cNvPr id="134" name="TextShape 2"/>
          <p:cNvSpPr txBox="1"/>
          <p:nvPr/>
        </p:nvSpPr>
        <p:spPr>
          <a:xfrm>
            <a:off x="1043640" y="5733360"/>
            <a:ext cx="7772040" cy="923760"/>
          </a:xfrm>
          <a:prstGeom prst="rect">
            <a:avLst/>
          </a:prstGeom>
          <a:noFill/>
          <a:ln w="0">
            <a:noFill/>
          </a:ln>
        </p:spPr>
        <p:txBody>
          <a:bodyPr lIns="0" tIns="0" rIns="0" bIns="0">
            <a:noAutofit/>
          </a:bodyPr>
          <a:lstStyle/>
          <a:p>
            <a:pPr marL="432000" indent="-324000" algn="r">
              <a:spcAft>
                <a:spcPts val="1060"/>
              </a:spcAft>
              <a:buClr>
                <a:srgbClr val="000000"/>
              </a:buClr>
              <a:buSzPct val="45000"/>
              <a:buFont typeface="Wingdings" charset="2"/>
              <a:buChar char=""/>
            </a:pPr>
            <a:r>
              <a:rPr lang="fr-FR" sz="2400" spc="-1">
                <a:solidFill>
                  <a:srgbClr val="999999"/>
                </a:solidFill>
                <a:latin typeface="Arial"/>
              </a:rPr>
              <a:t>BTS </a:t>
            </a:r>
            <a:r>
              <a:rPr lang="fr-FR" sz="2400" spc="-1" dirty="0">
                <a:solidFill>
                  <a:srgbClr val="999999"/>
                </a:solidFill>
                <a:latin typeface="Arial"/>
              </a:rPr>
              <a:t>SIO</a:t>
            </a:r>
            <a:endParaRPr lang="en-US" sz="2400" b="0" strike="noStrike" spc="-1" dirty="0">
              <a:solidFill>
                <a:srgbClr val="999999"/>
              </a:solidFill>
              <a:latin typeface="Arial"/>
            </a:endParaRPr>
          </a:p>
          <a:p>
            <a:pPr marL="432000" indent="-324000" algn="r">
              <a:spcAft>
                <a:spcPts val="1060"/>
              </a:spcAft>
              <a:buClr>
                <a:srgbClr val="000000"/>
              </a:buClr>
              <a:buSzPct val="45000"/>
              <a:buFont typeface="Wingdings" charset="2"/>
              <a:buChar char=""/>
            </a:pPr>
            <a:r>
              <a:rPr lang="fr-FR" sz="2400" b="0" strike="noStrike" spc="-1" dirty="0">
                <a:solidFill>
                  <a:srgbClr val="999999"/>
                </a:solidFill>
                <a:latin typeface="Arial"/>
              </a:rPr>
              <a:t>Philippe Schlegel</a:t>
            </a:r>
            <a:endParaRPr lang="en-US" sz="2400" b="0" strike="noStrike" spc="-1" dirty="0">
              <a:solidFill>
                <a:srgbClr val="999999"/>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dirty="0">
                <a:solidFill>
                  <a:srgbClr val="376092"/>
                </a:solidFill>
                <a:latin typeface="Arial"/>
              </a:rPr>
              <a:t>Logique</a:t>
            </a:r>
            <a:endParaRPr lang="en-US" sz="3200" b="0" strike="noStrike" spc="-1" dirty="0">
              <a:solidFill>
                <a:srgbClr val="376092"/>
              </a:solidFill>
              <a:latin typeface="Arial"/>
            </a:endParaRPr>
          </a:p>
        </p:txBody>
      </p:sp>
      <p:sp>
        <p:nvSpPr>
          <p:cNvPr id="136" name="TextShape 2"/>
          <p:cNvSpPr txBox="1"/>
          <p:nvPr/>
        </p:nvSpPr>
        <p:spPr>
          <a:xfrm>
            <a:off x="457200" y="1600200"/>
            <a:ext cx="8229240" cy="4525560"/>
          </a:xfrm>
          <a:prstGeom prst="rect">
            <a:avLst/>
          </a:prstGeom>
          <a:noFill/>
          <a:ln w="0">
            <a:noFill/>
          </a:ln>
        </p:spPr>
        <p:txBody>
          <a:bodyPr lIns="0" tIns="0" rIns="0" bIns="0">
            <a:noAutofit/>
          </a:bodyPr>
          <a:lstStyle/>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des propositions</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Calcul des prédicats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Calcul booléen</a:t>
            </a:r>
          </a:p>
          <a:p>
            <a:pPr marL="406800" indent="-324000">
              <a:spcAft>
                <a:spcPts val="1134"/>
              </a:spcAft>
              <a:buClr>
                <a:srgbClr val="000000"/>
              </a:buClr>
              <a:buSzPct val="45000"/>
              <a:buFont typeface="Wingdings" charset="2"/>
              <a:buChar char=""/>
            </a:pPr>
            <a:r>
              <a:rPr lang="fr-FR" sz="2400" spc="-1" dirty="0">
                <a:solidFill>
                  <a:srgbClr val="376092"/>
                </a:solidFill>
                <a:latin typeface="Calibri"/>
              </a:rPr>
              <a:t>Tableau de Karnaugh</a:t>
            </a: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Cas concrets</a:t>
            </a:r>
            <a:endParaRPr lang="en-US" sz="2400" b="0" strike="noStrike" spc="-1" dirty="0">
              <a:solidFill>
                <a:srgbClr val="376092"/>
              </a:solidFill>
              <a:latin typeface="Calibri"/>
            </a:endParaRPr>
          </a:p>
          <a:p>
            <a:pPr marL="406800" indent="-324000">
              <a:spcAft>
                <a:spcPts val="1134"/>
              </a:spcAft>
              <a:buClr>
                <a:srgbClr val="000000"/>
              </a:buClr>
              <a:buSzPct val="45000"/>
              <a:buFont typeface="Wingdings" charset="2"/>
              <a:buChar char=""/>
            </a:pPr>
            <a:r>
              <a:rPr lang="fr-FR" sz="2400" b="0" strike="noStrike" spc="-1" dirty="0">
                <a:solidFill>
                  <a:srgbClr val="376092"/>
                </a:solidFill>
                <a:latin typeface="Calibri"/>
              </a:rPr>
              <a:t>Questions et ressentis.</a:t>
            </a:r>
            <a:endParaRPr lang="en-US" sz="2400" b="0" strike="noStrike" spc="-1" dirty="0">
              <a:solidFill>
                <a:srgbClr val="376092"/>
              </a:solidFill>
              <a:latin typeface="Calibri"/>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propositions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Une proposition est un énoncé qui peut être évalué.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résultat de son évaluation est appelé sa valeur de vérité.</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Cette valeur de vérité peut être soit vraie, soit fausse.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+ 3 = 4 (évalué à vrai)</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1 + 3 = 5 (évalué à faux)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Je vais peut-être regardé une série ce soir (évaluation impossible).</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Les propositions vont nous servir à définir des conditions dans no</a:t>
            </a:r>
            <a:r>
              <a:rPr lang="fr-FR" sz="2400" spc="-1" dirty="0">
                <a:solidFill>
                  <a:srgbClr val="376092"/>
                </a:solidFill>
                <a:latin typeface="Arial"/>
              </a:rPr>
              <a:t>s langages de programmation.</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13167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propositions par l’exemple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Considérons l’algorithme suivant :</a:t>
            </a:r>
          </a:p>
          <a:p>
            <a:pPr marL="108000">
              <a:spcAft>
                <a:spcPts val="1060"/>
              </a:spcAft>
              <a:buClr>
                <a:srgbClr val="000000"/>
              </a:buClr>
              <a:buSzPct val="45000"/>
            </a:pPr>
            <a:r>
              <a:rPr lang="fr-FR" sz="1400" b="0" strike="noStrike" spc="-1" dirty="0">
                <a:latin typeface="Arial"/>
              </a:rPr>
              <a:t>Variable </a:t>
            </a:r>
            <a:r>
              <a:rPr lang="fr-FR" sz="1400" spc="-1" dirty="0">
                <a:latin typeface="Arial"/>
              </a:rPr>
              <a:t> :</a:t>
            </a:r>
          </a:p>
          <a:p>
            <a:pPr marL="108000">
              <a:spcAft>
                <a:spcPts val="1060"/>
              </a:spcAft>
              <a:buClr>
                <a:srgbClr val="000000"/>
              </a:buClr>
              <a:buSzPct val="45000"/>
            </a:pPr>
            <a:r>
              <a:rPr lang="fr-FR" sz="1400" b="0" strike="noStrike" spc="-1" dirty="0">
                <a:latin typeface="Arial"/>
              </a:rPr>
              <a:t>	n, i : entier</a:t>
            </a:r>
          </a:p>
          <a:p>
            <a:pPr marL="108000">
              <a:spcAft>
                <a:spcPts val="1060"/>
              </a:spcAft>
              <a:buClr>
                <a:srgbClr val="000000"/>
              </a:buClr>
              <a:buSzPct val="45000"/>
            </a:pPr>
            <a:r>
              <a:rPr lang="fr-FR" sz="1400" spc="-1" dirty="0">
                <a:latin typeface="Arial"/>
              </a:rPr>
              <a:t>Début</a:t>
            </a:r>
          </a:p>
          <a:p>
            <a:pPr marL="108000">
              <a:spcAft>
                <a:spcPts val="1060"/>
              </a:spcAft>
              <a:buClr>
                <a:srgbClr val="000000"/>
              </a:buClr>
              <a:buSzPct val="45000"/>
            </a:pPr>
            <a:r>
              <a:rPr lang="fr-FR" sz="1400" b="0" strike="noStrike" spc="-1" dirty="0">
                <a:latin typeface="Arial"/>
              </a:rPr>
              <a:t>	i </a:t>
            </a:r>
            <a:r>
              <a:rPr lang="fr-FR" sz="1400" b="0" strike="noStrike" spc="-1" dirty="0">
                <a:latin typeface="Arial"/>
                <a:sym typeface="Wingdings" panose="05000000000000000000" pitchFamily="2" charset="2"/>
              </a:rPr>
              <a:t></a:t>
            </a:r>
            <a:r>
              <a:rPr lang="fr-FR" sz="1400" b="0" strike="noStrike" spc="-1" dirty="0">
                <a:latin typeface="Arial"/>
              </a:rPr>
              <a:t> 0</a:t>
            </a:r>
          </a:p>
          <a:p>
            <a:pPr marL="108000">
              <a:spcAft>
                <a:spcPts val="1060"/>
              </a:spcAft>
              <a:buClr>
                <a:srgbClr val="000000"/>
              </a:buClr>
              <a:buSzPct val="45000"/>
            </a:pPr>
            <a:r>
              <a:rPr lang="fr-FR" sz="1400" spc="-1" dirty="0">
                <a:latin typeface="Arial"/>
              </a:rPr>
              <a:t>	n </a:t>
            </a:r>
            <a:r>
              <a:rPr lang="fr-FR" sz="1400" spc="-1" dirty="0">
                <a:latin typeface="Arial"/>
                <a:sym typeface="Wingdings" panose="05000000000000000000" pitchFamily="2" charset="2"/>
              </a:rPr>
              <a:t></a:t>
            </a:r>
            <a:r>
              <a:rPr lang="fr-FR" sz="1400" spc="-1" dirty="0">
                <a:latin typeface="Arial"/>
              </a:rPr>
              <a:t> 10</a:t>
            </a:r>
          </a:p>
          <a:p>
            <a:pPr marL="108000">
              <a:spcAft>
                <a:spcPts val="1060"/>
              </a:spcAft>
              <a:buClr>
                <a:srgbClr val="000000"/>
              </a:buClr>
              <a:buSzPct val="45000"/>
            </a:pPr>
            <a:r>
              <a:rPr lang="fr-FR" sz="1400" b="0" strike="noStrike" spc="-1" dirty="0">
                <a:latin typeface="Arial"/>
              </a:rPr>
              <a:t>	Tant que i &lt;= n Faire</a:t>
            </a:r>
          </a:p>
          <a:p>
            <a:pPr marL="108000">
              <a:spcAft>
                <a:spcPts val="1060"/>
              </a:spcAft>
              <a:buClr>
                <a:srgbClr val="000000"/>
              </a:buClr>
              <a:buSzPct val="45000"/>
            </a:pPr>
            <a:r>
              <a:rPr lang="fr-FR" sz="1400" spc="-1" dirty="0">
                <a:latin typeface="Arial"/>
              </a:rPr>
              <a:t>		Si i % 2 = 0 alors</a:t>
            </a:r>
          </a:p>
          <a:p>
            <a:pPr marL="108000">
              <a:spcAft>
                <a:spcPts val="1060"/>
              </a:spcAft>
              <a:buClr>
                <a:srgbClr val="000000"/>
              </a:buClr>
              <a:buSzPct val="45000"/>
            </a:pPr>
            <a:r>
              <a:rPr lang="fr-FR" sz="1400" b="0" strike="noStrike" spc="-1" dirty="0">
                <a:latin typeface="Arial"/>
              </a:rPr>
              <a:t>			Ecrire i</a:t>
            </a:r>
          </a:p>
          <a:p>
            <a:pPr marL="108000">
              <a:spcAft>
                <a:spcPts val="1060"/>
              </a:spcAft>
              <a:buClr>
                <a:srgbClr val="000000"/>
              </a:buClr>
              <a:buSzPct val="45000"/>
            </a:pPr>
            <a:r>
              <a:rPr lang="fr-FR" sz="1400" spc="-1" dirty="0">
                <a:latin typeface="Arial"/>
              </a:rPr>
              <a:t>		</a:t>
            </a:r>
            <a:r>
              <a:rPr lang="fr-FR" sz="1400" spc="-1" dirty="0" err="1">
                <a:latin typeface="Arial"/>
              </a:rPr>
              <a:t>Fsi</a:t>
            </a:r>
            <a:endParaRPr lang="fr-FR" sz="1400" spc="-1" dirty="0">
              <a:latin typeface="Arial"/>
            </a:endParaRPr>
          </a:p>
          <a:p>
            <a:pPr marL="108000">
              <a:spcAft>
                <a:spcPts val="1060"/>
              </a:spcAft>
              <a:buClr>
                <a:srgbClr val="000000"/>
              </a:buClr>
              <a:buSzPct val="45000"/>
            </a:pPr>
            <a:r>
              <a:rPr lang="fr-FR" sz="1400" b="0" strike="noStrike" spc="-1" dirty="0">
                <a:latin typeface="Arial"/>
              </a:rPr>
              <a:t>		i </a:t>
            </a:r>
            <a:r>
              <a:rPr lang="fr-FR" sz="1400" b="0" strike="noStrike" spc="-1" dirty="0">
                <a:latin typeface="Arial"/>
                <a:sym typeface="Wingdings" panose="05000000000000000000" pitchFamily="2" charset="2"/>
              </a:rPr>
              <a:t> i + 1</a:t>
            </a:r>
          </a:p>
          <a:p>
            <a:pPr marL="108000">
              <a:spcAft>
                <a:spcPts val="1060"/>
              </a:spcAft>
              <a:buClr>
                <a:srgbClr val="000000"/>
              </a:buClr>
              <a:buSzPct val="45000"/>
            </a:pPr>
            <a:r>
              <a:rPr lang="fr-FR" sz="1400" spc="-1" dirty="0">
                <a:latin typeface="Arial"/>
                <a:sym typeface="Wingdings" panose="05000000000000000000" pitchFamily="2" charset="2"/>
              </a:rPr>
              <a:t>	</a:t>
            </a:r>
            <a:r>
              <a:rPr lang="fr-FR" sz="1400" spc="-1" dirty="0" err="1">
                <a:latin typeface="Arial"/>
                <a:sym typeface="Wingdings" panose="05000000000000000000" pitchFamily="2" charset="2"/>
              </a:rPr>
              <a:t>Ftant</a:t>
            </a:r>
            <a:endParaRPr lang="fr-FR" sz="1400" b="0" strike="noStrike" spc="-1" dirty="0">
              <a:latin typeface="Arial"/>
            </a:endParaRPr>
          </a:p>
          <a:p>
            <a:pPr marL="108000">
              <a:spcAft>
                <a:spcPts val="1060"/>
              </a:spcAft>
              <a:buClr>
                <a:srgbClr val="000000"/>
              </a:buClr>
              <a:buSzPct val="45000"/>
            </a:pPr>
            <a:r>
              <a:rPr lang="fr-FR" sz="1400" spc="-1" dirty="0">
                <a:latin typeface="Arial"/>
              </a:rPr>
              <a:t>Fin</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 fait cet algorithme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Quelles sont les propositions dans cet algorithme ?</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416623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propositions par l’exemple :</a:t>
            </a:r>
            <a:endParaRPr lang="en-US" sz="3200" b="0" strike="noStrike" spc="-1" dirty="0">
              <a:solidFill>
                <a:srgbClr val="376092"/>
              </a:solidFill>
              <a:latin typeface="Arial"/>
            </a:endParaRPr>
          </a:p>
        </p:txBody>
      </p:sp>
      <p:sp>
        <p:nvSpPr>
          <p:cNvPr id="140" name="TextShape 2"/>
          <p:cNvSpPr txBox="1"/>
          <p:nvPr/>
        </p:nvSpPr>
        <p:spPr>
          <a:xfrm>
            <a:off x="457200" y="1091954"/>
            <a:ext cx="8229240" cy="5033806"/>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L’algorithme écrit les nombres pairs de 0 à 10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se base sur 2 propositions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 &lt;= n dans la boucle tant que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 % 2 = 0 dans la structure si… alors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Les boucles et les structures conditionnelles peuvent donc se baser toutes les deux sur des propositions.</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Ecrivons l’algorithme ci-des</a:t>
            </a:r>
            <a:r>
              <a:rPr lang="fr-FR" sz="2400" spc="-1" dirty="0">
                <a:solidFill>
                  <a:srgbClr val="376092"/>
                </a:solidFill>
                <a:latin typeface="Arial"/>
              </a:rPr>
              <a:t>sus en Python.</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 pouvons</a:t>
            </a:r>
            <a:r>
              <a:rPr lang="fr-FR" sz="2400" spc="-1" dirty="0">
                <a:solidFill>
                  <a:srgbClr val="376092"/>
                </a:solidFill>
                <a:latin typeface="Arial"/>
              </a:rPr>
              <a:t>-nous noter comme différence entre les propositions en algorithmie et en Python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Nous allons voir qu’il existe des opérateurs pour combiner les propositions.</a:t>
            </a: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52924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Conjonction : Et: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deux propositions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Il fait chaud</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et » va me permettre de vérifier la validité simultanée de A et B :</a:t>
            </a:r>
          </a:p>
          <a:p>
            <a:pPr marL="108000">
              <a:spcAft>
                <a:spcPts val="1060"/>
              </a:spcAft>
              <a:buClr>
                <a:srgbClr val="000000"/>
              </a:buClr>
              <a:buSzPct val="45000"/>
            </a:pPr>
            <a:r>
              <a:rPr lang="fr-FR" sz="1400" spc="-1" dirty="0">
                <a:latin typeface="Arial"/>
              </a:rPr>
              <a:t>S’il fait beau et qu’il fait chaud alors</a:t>
            </a:r>
          </a:p>
          <a:p>
            <a:pPr marL="108000">
              <a:spcAft>
                <a:spcPts val="1060"/>
              </a:spcAft>
              <a:buClr>
                <a:srgbClr val="000000"/>
              </a:buClr>
              <a:buSzPct val="45000"/>
            </a:pPr>
            <a:r>
              <a:rPr lang="fr-FR" sz="1400" spc="-1" dirty="0">
                <a:latin typeface="Arial"/>
              </a:rPr>
              <a:t>	Je mets une casquette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Et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 name="Image 1">
            <a:extLst>
              <a:ext uri="{FF2B5EF4-FFF2-40B4-BE49-F238E27FC236}">
                <a16:creationId xmlns:a16="http://schemas.microsoft.com/office/drawing/2014/main" id="{CF136228-1751-44C6-9D05-286CE3941088}"/>
              </a:ext>
            </a:extLst>
          </p:cNvPr>
          <p:cNvPicPr>
            <a:picLocks noChangeAspect="1"/>
          </p:cNvPicPr>
          <p:nvPr/>
        </p:nvPicPr>
        <p:blipFill>
          <a:blip r:embed="rId2"/>
          <a:stretch>
            <a:fillRect/>
          </a:stretch>
        </p:blipFill>
        <p:spPr>
          <a:xfrm>
            <a:off x="3064369" y="5089540"/>
            <a:ext cx="2305050" cy="1685925"/>
          </a:xfrm>
          <a:prstGeom prst="rect">
            <a:avLst/>
          </a:prstGeom>
        </p:spPr>
      </p:pic>
    </p:spTree>
    <p:extLst>
      <p:ext uri="{BB962C8B-B14F-4D97-AF65-F5344CB8AC3E}">
        <p14:creationId xmlns:p14="http://schemas.microsoft.com/office/powerpoint/2010/main" val="93357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Disjonction : Ou:</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deux propositions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Il fait chaud</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ou » va me permettre de vérifier la validité d’une des deux conditions A ou B :</a:t>
            </a:r>
          </a:p>
          <a:p>
            <a:pPr marL="108000">
              <a:spcAft>
                <a:spcPts val="1060"/>
              </a:spcAft>
              <a:buClr>
                <a:srgbClr val="000000"/>
              </a:buClr>
              <a:buSzPct val="45000"/>
            </a:pPr>
            <a:r>
              <a:rPr lang="fr-FR" sz="1400" spc="-1" dirty="0">
                <a:latin typeface="Arial"/>
              </a:rPr>
              <a:t>S’il fait beau ou qu’il fait chaud alors</a:t>
            </a:r>
          </a:p>
          <a:p>
            <a:pPr marL="108000">
              <a:spcAft>
                <a:spcPts val="1060"/>
              </a:spcAft>
              <a:buClr>
                <a:srgbClr val="000000"/>
              </a:buClr>
              <a:buSzPct val="45000"/>
            </a:pPr>
            <a:r>
              <a:rPr lang="fr-FR" sz="1400" spc="-1" dirty="0">
                <a:latin typeface="Arial"/>
              </a:rPr>
              <a:t>	Je mets une casquette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Ou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5" name="Objet 4">
            <a:extLst>
              <a:ext uri="{FF2B5EF4-FFF2-40B4-BE49-F238E27FC236}">
                <a16:creationId xmlns:a16="http://schemas.microsoft.com/office/drawing/2014/main" id="{3255B612-B82B-421F-9BE1-DB9625776B02}"/>
              </a:ext>
            </a:extLst>
          </p:cNvPr>
          <p:cNvGraphicFramePr>
            <a:graphicFrameLocks noChangeAspect="1"/>
          </p:cNvGraphicFramePr>
          <p:nvPr>
            <p:extLst>
              <p:ext uri="{D42A27DB-BD31-4B8C-83A1-F6EECF244321}">
                <p14:modId xmlns:p14="http://schemas.microsoft.com/office/powerpoint/2010/main" val="919523003"/>
              </p:ext>
            </p:extLst>
          </p:nvPr>
        </p:nvGraphicFramePr>
        <p:xfrm>
          <a:off x="3271837" y="5076547"/>
          <a:ext cx="2295525" cy="1676400"/>
        </p:xfrm>
        <a:graphic>
          <a:graphicData uri="http://schemas.openxmlformats.org/presentationml/2006/ole">
            <mc:AlternateContent xmlns:mc="http://schemas.openxmlformats.org/markup-compatibility/2006">
              <mc:Choice xmlns:v="urn:schemas-microsoft-com:vml" Requires="v">
                <p:oleObj name="Worksheet" r:id="rId2" imgW="2295480" imgH="1676536" progId="Excel.Sheet.12">
                  <p:embed/>
                </p:oleObj>
              </mc:Choice>
              <mc:Fallback>
                <p:oleObj name="Worksheet" r:id="rId2" imgW="2295480" imgH="1676536" progId="Excel.Sheet.12">
                  <p:embed/>
                  <p:pic>
                    <p:nvPicPr>
                      <p:cNvPr id="0" name=""/>
                      <p:cNvPicPr/>
                      <p:nvPr/>
                    </p:nvPicPr>
                    <p:blipFill>
                      <a:blip r:embed="rId3"/>
                      <a:stretch>
                        <a:fillRect/>
                      </a:stretch>
                    </p:blipFill>
                    <p:spPr>
                      <a:xfrm>
                        <a:off x="3271837" y="5076547"/>
                        <a:ext cx="2295525" cy="1676400"/>
                      </a:xfrm>
                      <a:prstGeom prst="rect">
                        <a:avLst/>
                      </a:prstGeom>
                    </p:spPr>
                  </p:pic>
                </p:oleObj>
              </mc:Fallback>
            </mc:AlternateContent>
          </a:graphicData>
        </a:graphic>
      </p:graphicFrame>
    </p:spTree>
    <p:extLst>
      <p:ext uri="{BB962C8B-B14F-4D97-AF65-F5344CB8AC3E}">
        <p14:creationId xmlns:p14="http://schemas.microsoft.com/office/powerpoint/2010/main" val="2428448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Négation : Non:</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la proposition suivante:</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il fait beau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non » va me permettre d’inverser l’évaluation de A :</a:t>
            </a:r>
          </a:p>
          <a:p>
            <a:pPr marL="108000">
              <a:spcAft>
                <a:spcPts val="1060"/>
              </a:spcAft>
              <a:buClr>
                <a:srgbClr val="000000"/>
              </a:buClr>
              <a:buSzPct val="45000"/>
            </a:pPr>
            <a:r>
              <a:rPr lang="fr-FR" sz="1400" spc="-1" dirty="0">
                <a:latin typeface="Arial"/>
              </a:rPr>
              <a:t>Si non(il fait beau) alors</a:t>
            </a:r>
          </a:p>
          <a:p>
            <a:pPr marL="108000">
              <a:spcAft>
                <a:spcPts val="1060"/>
              </a:spcAft>
              <a:buClr>
                <a:srgbClr val="000000"/>
              </a:buClr>
              <a:buSzPct val="45000"/>
            </a:pPr>
            <a:r>
              <a:rPr lang="fr-FR" sz="1400" spc="-1" dirty="0">
                <a:latin typeface="Arial"/>
              </a:rPr>
              <a:t>	Je prends un parapluie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parfois plus simple d’utiliser la négation d’une proposition dans un programme.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Non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7" name="Image 6">
            <a:extLst>
              <a:ext uri="{FF2B5EF4-FFF2-40B4-BE49-F238E27FC236}">
                <a16:creationId xmlns:a16="http://schemas.microsoft.com/office/drawing/2014/main" id="{1A56B4A1-B5E3-4F36-9388-43A1166345EE}"/>
              </a:ext>
            </a:extLst>
          </p:cNvPr>
          <p:cNvPicPr>
            <a:picLocks noChangeAspect="1"/>
          </p:cNvPicPr>
          <p:nvPr/>
        </p:nvPicPr>
        <p:blipFill>
          <a:blip r:embed="rId2"/>
          <a:stretch>
            <a:fillRect/>
          </a:stretch>
        </p:blipFill>
        <p:spPr>
          <a:xfrm>
            <a:off x="2780791" y="5616172"/>
            <a:ext cx="2943225" cy="1019175"/>
          </a:xfrm>
          <a:prstGeom prst="rect">
            <a:avLst/>
          </a:prstGeom>
        </p:spPr>
      </p:pic>
    </p:spTree>
    <p:extLst>
      <p:ext uri="{BB962C8B-B14F-4D97-AF65-F5344CB8AC3E}">
        <p14:creationId xmlns:p14="http://schemas.microsoft.com/office/powerpoint/2010/main" val="3573682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Equivalence :</a:t>
            </a:r>
            <a:r>
              <a:rPr lang="fr-FR" sz="3200" spc="-1" dirty="0">
                <a:solidFill>
                  <a:srgbClr val="376092"/>
                </a:solidFill>
                <a:latin typeface="Arial"/>
                <a:sym typeface="Wingdings" panose="05000000000000000000" pitchFamily="2" charset="2"/>
              </a:rPr>
              <a:t></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les propositions suivantes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n est un multiple de 2</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n-2 est un multiple de 2</a:t>
            </a:r>
            <a:r>
              <a:rPr lang="fr-FR" sz="2400" b="0" strike="noStrike" spc="-1" dirty="0">
                <a:solidFill>
                  <a:srgbClr val="376092"/>
                </a:solidFill>
                <a:latin typeface="Arial"/>
              </a:rPr>
              <a:t> </a:t>
            </a: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a:t>
            </a:r>
            <a:r>
              <a:rPr lang="fr-FR" sz="2400" b="0" strike="noStrike" spc="-1" dirty="0">
                <a:solidFill>
                  <a:srgbClr val="376092"/>
                </a:solidFill>
                <a:latin typeface="Arial"/>
                <a:sym typeface="Wingdings" panose="05000000000000000000" pitchFamily="2" charset="2"/>
              </a:rPr>
              <a:t></a:t>
            </a:r>
            <a:r>
              <a:rPr lang="fr-FR" sz="2400" b="0" strike="noStrike" spc="-1" dirty="0">
                <a:solidFill>
                  <a:srgbClr val="376092"/>
                </a:solidFill>
                <a:latin typeface="Arial"/>
              </a:rPr>
              <a:t> » va me permettre de montrer l’équivalence entre les 2 propositions :</a:t>
            </a:r>
          </a:p>
          <a:p>
            <a:pPr marL="108000">
              <a:spcAft>
                <a:spcPts val="1060"/>
              </a:spcAft>
              <a:buClr>
                <a:srgbClr val="000000"/>
              </a:buClr>
              <a:buSzPct val="45000"/>
            </a:pPr>
            <a:r>
              <a:rPr lang="fr-FR" sz="1400" spc="-1" dirty="0">
                <a:latin typeface="Arial"/>
              </a:rPr>
              <a:t>Si n % 2 = (n -2) % 2 alors</a:t>
            </a:r>
          </a:p>
          <a:p>
            <a:pPr marL="108000">
              <a:spcAft>
                <a:spcPts val="1060"/>
              </a:spcAft>
              <a:buClr>
                <a:srgbClr val="000000"/>
              </a:buClr>
              <a:buSzPct val="45000"/>
            </a:pPr>
            <a:r>
              <a:rPr lang="fr-FR" sz="1400" spc="-1" dirty="0">
                <a:latin typeface="Arial"/>
              </a:rPr>
              <a:t>	Les deux propositions sont équivalentes</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a:t>
            </a:r>
            <a:r>
              <a:rPr lang="fr-FR" sz="2400" spc="-1" dirty="0">
                <a:solidFill>
                  <a:srgbClr val="376092"/>
                </a:solidFill>
                <a:latin typeface="Arial"/>
                <a:sym typeface="Wingdings" panose="05000000000000000000" pitchFamily="2" charset="2"/>
              </a:rPr>
              <a:t></a:t>
            </a:r>
            <a:r>
              <a:rPr lang="fr-FR" sz="2400" spc="-1" dirty="0">
                <a:solidFill>
                  <a:srgbClr val="376092"/>
                </a:solidFill>
                <a:latin typeface="Arial"/>
              </a:rPr>
              <a: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6" name="Image 5">
            <a:extLst>
              <a:ext uri="{FF2B5EF4-FFF2-40B4-BE49-F238E27FC236}">
                <a16:creationId xmlns:a16="http://schemas.microsoft.com/office/drawing/2014/main" id="{E1D58470-E596-4418-8F5C-EA9C98E34C4E}"/>
              </a:ext>
            </a:extLst>
          </p:cNvPr>
          <p:cNvPicPr>
            <a:picLocks noChangeAspect="1"/>
          </p:cNvPicPr>
          <p:nvPr/>
        </p:nvPicPr>
        <p:blipFill>
          <a:blip r:embed="rId2"/>
          <a:stretch>
            <a:fillRect/>
          </a:stretch>
        </p:blipFill>
        <p:spPr>
          <a:xfrm>
            <a:off x="3357382" y="5054029"/>
            <a:ext cx="2428875" cy="1685925"/>
          </a:xfrm>
          <a:prstGeom prst="rect">
            <a:avLst/>
          </a:prstGeom>
        </p:spPr>
      </p:pic>
    </p:spTree>
    <p:extLst>
      <p:ext uri="{BB962C8B-B14F-4D97-AF65-F5344CB8AC3E}">
        <p14:creationId xmlns:p14="http://schemas.microsoft.com/office/powerpoint/2010/main" val="1870770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Implication : </a:t>
            </a:r>
            <a:r>
              <a:rPr lang="fr-FR" sz="3200" spc="-1" dirty="0">
                <a:solidFill>
                  <a:srgbClr val="376092"/>
                </a:solidFill>
                <a:latin typeface="Arial"/>
                <a:sym typeface="Wingdings" panose="05000000000000000000" pitchFamily="2" charset="2"/>
              </a:rPr>
              <a:t>=&gt;</a:t>
            </a:r>
            <a:r>
              <a:rPr lang="fr-FR" sz="3200" spc="-1" dirty="0">
                <a:solidFill>
                  <a:srgbClr val="376092"/>
                </a:solidFill>
                <a:latin typeface="Arial"/>
              </a:rPr>
              <a:t>:</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les propositions suivantes :</a:t>
            </a:r>
          </a:p>
          <a:p>
            <a:pPr marL="889200" lvl="1" indent="-324000">
              <a:spcAft>
                <a:spcPts val="1060"/>
              </a:spcAft>
              <a:buClr>
                <a:srgbClr val="000000"/>
              </a:buClr>
              <a:buSzPct val="45000"/>
              <a:buFont typeface="Wingdings" charset="2"/>
              <a:buChar char=""/>
            </a:pPr>
            <a:r>
              <a:rPr lang="fr-FR" sz="2400" b="0" strike="noStrike" spc="-1" dirty="0">
                <a:solidFill>
                  <a:srgbClr val="376092"/>
                </a:solidFill>
                <a:latin typeface="Arial"/>
              </a:rPr>
              <a:t>A : n est une pomme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n est un fruit</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L’opérateur « </a:t>
            </a:r>
            <a:r>
              <a:rPr lang="fr-FR" sz="2400" spc="-1" dirty="0">
                <a:solidFill>
                  <a:srgbClr val="376092"/>
                </a:solidFill>
                <a:latin typeface="Arial"/>
                <a:sym typeface="Wingdings" panose="05000000000000000000" pitchFamily="2" charset="2"/>
              </a:rPr>
              <a:t>=&gt;</a:t>
            </a:r>
            <a:r>
              <a:rPr lang="fr-FR" sz="2400" b="0" strike="noStrike" spc="-1" dirty="0">
                <a:solidFill>
                  <a:srgbClr val="376092"/>
                </a:solidFill>
                <a:latin typeface="Arial"/>
              </a:rPr>
              <a:t> » va me permettre de montrer l’implication entre les 2 propositions :</a:t>
            </a:r>
          </a:p>
          <a:p>
            <a:pPr marL="108000">
              <a:spcAft>
                <a:spcPts val="1060"/>
              </a:spcAft>
              <a:buClr>
                <a:srgbClr val="000000"/>
              </a:buClr>
              <a:buSzPct val="45000"/>
            </a:pPr>
            <a:r>
              <a:rPr lang="fr-FR" sz="1400" spc="-1" dirty="0">
                <a:latin typeface="Arial"/>
              </a:rPr>
              <a:t>Si A =&gt; B alors</a:t>
            </a:r>
          </a:p>
          <a:p>
            <a:pPr marL="108000">
              <a:spcAft>
                <a:spcPts val="1060"/>
              </a:spcAft>
              <a:buClr>
                <a:srgbClr val="000000"/>
              </a:buClr>
              <a:buSzPct val="45000"/>
            </a:pPr>
            <a:r>
              <a:rPr lang="fr-FR" sz="1400" spc="-1" dirty="0">
                <a:latin typeface="Arial"/>
              </a:rPr>
              <a:t>	La proposition A implique la proposition B ou alors A est fausse.</a:t>
            </a:r>
          </a:p>
          <a:p>
            <a:pPr marL="108000">
              <a:spcAft>
                <a:spcPts val="1060"/>
              </a:spcAft>
              <a:buClr>
                <a:srgbClr val="000000"/>
              </a:buClr>
              <a:buSzPct val="45000"/>
            </a:pPr>
            <a:r>
              <a:rPr lang="fr-FR" sz="1400" spc="-1" dirty="0" err="1">
                <a:latin typeface="Arial"/>
              </a:rPr>
              <a:t>Fsi</a:t>
            </a:r>
            <a:endParaRPr lang="fr-FR" sz="1400" b="0" strike="noStrike" spc="-1" dirty="0">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L’opérateur « </a:t>
            </a:r>
            <a:r>
              <a:rPr lang="fr-FR" sz="2400" spc="-1" dirty="0">
                <a:solidFill>
                  <a:srgbClr val="376092"/>
                </a:solidFill>
                <a:latin typeface="Arial"/>
                <a:sym typeface="Wingdings" panose="05000000000000000000" pitchFamily="2" charset="2"/>
              </a:rPr>
              <a:t>=&gt;</a:t>
            </a:r>
            <a:r>
              <a:rPr lang="fr-FR" sz="2400" spc="-1" dirty="0">
                <a:solidFill>
                  <a:srgbClr val="376092"/>
                </a:solidFill>
                <a:latin typeface="Arial"/>
              </a:rPr>
              <a:t> » respecte la table de vérité :</a:t>
            </a: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C7931A50-5AC0-4A4B-9880-C3391F3F346C}"/>
              </a:ext>
            </a:extLst>
          </p:cNvPr>
          <p:cNvPicPr>
            <a:picLocks noChangeAspect="1"/>
          </p:cNvPicPr>
          <p:nvPr/>
        </p:nvPicPr>
        <p:blipFill>
          <a:blip r:embed="rId2"/>
          <a:stretch>
            <a:fillRect/>
          </a:stretch>
        </p:blipFill>
        <p:spPr>
          <a:xfrm>
            <a:off x="3419295" y="5070618"/>
            <a:ext cx="2305050" cy="1685925"/>
          </a:xfrm>
          <a:prstGeom prst="rect">
            <a:avLst/>
          </a:prstGeom>
        </p:spPr>
      </p:pic>
    </p:spTree>
    <p:extLst>
      <p:ext uri="{BB962C8B-B14F-4D97-AF65-F5344CB8AC3E}">
        <p14:creationId xmlns:p14="http://schemas.microsoft.com/office/powerpoint/2010/main" val="2005745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propriétés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Imaginons trois propositions A, B et C et Comparons les tables de vérité de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et «B et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ou B» et «B ou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et C » et « A et (B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ou C » et « A ou (B ou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et C) » et « (A ou B) et (A ou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et (B ou C) » et « (A et B) ou (A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ou (B et C) » et « (A ou B)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non (A ou B) » et « non(A) et non(B)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non (A et B) » et « non(A) ou non (B)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97723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propriétés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En montrant l’équivalence de ces relations nous avons montré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L’opérateur « ou » et l’opérateur « et » sont commutatifs et associatifs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ou » et « et » sont distributifs l’un par rapport à l’autre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faut des parenthèses pour préciser des priorités opératoires lorsque l’on mélange « ou » et « et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lois de De Morgan s’appliquent.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545341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Traductions logiques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On note les affirmations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Un élève aime les maths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Un élève aime l'algo</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Comment écrire avec les opérateurs logiques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les maths mais pas l'algo</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n'aime ni les maths, ni l'algo</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les maths ou il n'aime pas les maths mais aime l'algo</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Un élève aime les maths mais pas l'algo ou il aime l'algo mais pas les maths.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76270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Evaluation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Evaluons </a:t>
                </a:r>
                <a:r>
                  <a:rPr lang="fr-FR" sz="2400" spc="-1">
                    <a:solidFill>
                      <a:srgbClr val="376092"/>
                    </a:solidFill>
                    <a:latin typeface="Arial"/>
                  </a:rPr>
                  <a:t>les propositions </a:t>
                </a:r>
                <a:r>
                  <a:rPr lang="fr-FR" sz="2400" spc="-1" dirty="0">
                    <a:solidFill>
                      <a:srgbClr val="376092"/>
                    </a:solidFill>
                    <a:latin typeface="Arial"/>
                  </a:rPr>
                  <a:t>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 5 et 3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 5 ou  3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2+3= 5 </a:t>
                </a:r>
                <a:r>
                  <a:rPr lang="fr-FR" sz="2400" spc="-1" dirty="0">
                    <a:solidFill>
                      <a:srgbClr val="376092"/>
                    </a:solidFill>
                    <a:latin typeface="Arial"/>
                    <a:sym typeface="Wingdings" panose="05000000000000000000" pitchFamily="2" charset="2"/>
                  </a:rPr>
                  <a:t>=&gt; 6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3+3= 11 </a:t>
                </a:r>
                <a:r>
                  <a:rPr lang="fr-FR" sz="2400" spc="-1" dirty="0">
                    <a:solidFill>
                      <a:srgbClr val="376092"/>
                    </a:solidFill>
                    <a:latin typeface="Arial"/>
                    <a:sym typeface="Wingdings" panose="05000000000000000000" pitchFamily="2" charset="2"/>
                  </a:rPr>
                  <a:t>=&gt; 6 + 5 = 11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5+5=10  3+3 = 11</a:t>
                </a:r>
              </a:p>
              <a:p>
                <a:pPr marL="432000"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Donner la table de vérité du ou exclusif (XOR </a:t>
                </a:r>
                <a14:m>
                  <m:oMath xmlns:m="http://schemas.openxmlformats.org/officeDocument/2006/math">
                    <m:r>
                      <a:rPr lang="fr-FR" sz="2400" spc="-1" smtClean="0">
                        <a:solidFill>
                          <a:srgbClr val="376092"/>
                        </a:solidFill>
                        <a:latin typeface="Cambria Math" panose="02040503050406030204" pitchFamily="18" charset="0"/>
                        <a:sym typeface="Wingdings" panose="05000000000000000000" pitchFamily="2" charset="2"/>
                      </a:rPr>
                      <m:t>⊕</m:t>
                    </m:r>
                  </m:oMath>
                </a14:m>
                <a:r>
                  <a:rPr lang="fr-FR" sz="2400" spc="-1" dirty="0">
                    <a:solidFill>
                      <a:srgbClr val="376092"/>
                    </a:solidFill>
                    <a:latin typeface="Arial"/>
                    <a:sym typeface="Wingdings" panose="05000000000000000000" pitchFamily="2" charset="2"/>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Utiliser une proposition pour définir le ou exclusif à l'aide des opérateurs classiques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sym typeface="Wingdings" panose="05000000000000000000" pitchFamily="2" charset="2"/>
                  </a:rPr>
                  <a:t>A </a:t>
                </a:r>
                <a14:m>
                  <m:oMath xmlns:m="http://schemas.openxmlformats.org/officeDocument/2006/math">
                    <m:r>
                      <a:rPr lang="fr-FR" sz="2400" spc="-1" smtClean="0">
                        <a:solidFill>
                          <a:srgbClr val="376092"/>
                        </a:solidFill>
                        <a:latin typeface="Cambria Math" panose="02040503050406030204" pitchFamily="18" charset="0"/>
                        <a:sym typeface="Wingdings" panose="05000000000000000000" pitchFamily="2" charset="2"/>
                      </a:rPr>
                      <m:t>⊕</m:t>
                    </m:r>
                  </m:oMath>
                </a14:m>
                <a:r>
                  <a:rPr lang="fr-FR" sz="2400" spc="-1" dirty="0">
                    <a:solidFill>
                      <a:srgbClr val="376092"/>
                    </a:solidFill>
                    <a:latin typeface="Arial"/>
                    <a:sym typeface="Wingdings" panose="05000000000000000000" pitchFamily="2" charset="2"/>
                  </a:rPr>
                  <a:t> B =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sym typeface="Wingdings" panose="05000000000000000000" pitchFamily="2" charset="2"/>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233996"/>
                <a:ext cx="8229240" cy="4891764"/>
              </a:xfrm>
              <a:prstGeom prst="rect">
                <a:avLst/>
              </a:prstGeom>
              <a:blipFill>
                <a:blip r:embed="rId2"/>
                <a:stretch>
                  <a:fillRect t="-1743" r="-815" b="-1494"/>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97509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Opérateurs logiques – algorithmie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va déterminer si une année est une année bissextile. Elle prend en entrée une année de type entier et retourne une valeur booléenne.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année est bissextile lorsque qu'elle est divisible par 4 mais pas par 100 ou alors par 400.</a:t>
            </a:r>
          </a:p>
          <a:p>
            <a:pPr marL="432000" indent="-324000">
              <a:spcAft>
                <a:spcPts val="1060"/>
              </a:spcAft>
              <a:buClr>
                <a:srgbClr val="000000"/>
              </a:buClr>
              <a:buSzPct val="45000"/>
              <a:buFont typeface="Wingdings" charset="2"/>
              <a:buChar char=""/>
            </a:pPr>
            <a:r>
              <a:rPr lang="fr-FR" sz="2400" spc="-1">
                <a:solidFill>
                  <a:srgbClr val="376092"/>
                </a:solidFill>
                <a:latin typeface="Arial"/>
              </a:rPr>
              <a:t>Pouvons-nous </a:t>
            </a:r>
            <a:r>
              <a:rPr lang="fr-FR" sz="2400" spc="-1" dirty="0">
                <a:solidFill>
                  <a:srgbClr val="376092"/>
                </a:solidFill>
                <a:latin typeface="Arial"/>
              </a:rPr>
              <a:t>retourner le résultat d'une proposition lors de l'utilisation d'une fonction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Ecrivez cette fonction en Python et testez son retour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2000 est bissextile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1900 ne l'est pas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2020 est bissextile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sym typeface="Wingdings" panose="05000000000000000000" pitchFamily="2" charset="2"/>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sym typeface="Wingdings" panose="05000000000000000000" pitchFamily="2" charset="2"/>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42006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nous retrouver devant des règles impossibles à évaluer.</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Par exemple x &lt; 9 : nous n’avons pas d’information sur la valeur de x et il est donc impossible d’affecter une valeur vrai ou faux au prédicat x &lt; 9.</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x &lt; 9 alors x-9 &lt; 0, représentons y = x – 9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y = x-9 est &lt; 0 pour x &lt; 9 et &gt;=0 le reste du temps.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Image 3">
            <a:extLst>
              <a:ext uri="{FF2B5EF4-FFF2-40B4-BE49-F238E27FC236}">
                <a16:creationId xmlns:a16="http://schemas.microsoft.com/office/drawing/2014/main" id="{D3B7B5EF-9B67-477E-9C66-2FCF10D6D558}"/>
              </a:ext>
            </a:extLst>
          </p:cNvPr>
          <p:cNvPicPr>
            <a:picLocks noChangeAspect="1"/>
          </p:cNvPicPr>
          <p:nvPr/>
        </p:nvPicPr>
        <p:blipFill>
          <a:blip r:embed="rId2"/>
          <a:stretch>
            <a:fillRect/>
          </a:stretch>
        </p:blipFill>
        <p:spPr>
          <a:xfrm>
            <a:off x="3199903" y="3814187"/>
            <a:ext cx="2439393" cy="1897306"/>
          </a:xfrm>
          <a:prstGeom prst="rect">
            <a:avLst/>
          </a:prstGeom>
        </p:spPr>
      </p:pic>
    </p:spTree>
    <p:extLst>
      <p:ext uri="{BB962C8B-B14F-4D97-AF65-F5344CB8AC3E}">
        <p14:creationId xmlns:p14="http://schemas.microsoft.com/office/powerpoint/2010/main" val="1341508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avons donc vu qu’il y a des valeurs de x qui font que x &lt; 9 est vrai et des valeurs de x qui font que x &lt; 9 est faux.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 qu’il nous manque pour transformer x &lt; 9 en proposition, c’est de pouvoir définir de quel x nous parlons.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est n’importe quel réel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est n’importe quel entier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x appartient à un intervalle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Est-ce que c’est vrai pour tout x ou seulement pour l’un d’entre eux ?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76621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les calculs de prédicat, il existe un quantificateur universel ∀ et un quantificateur existentiel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&gt;=0 : Pour tout x réel, x² &gt;=0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x² = x : Il existe x entier tel que x²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]-∞;9[, x &lt; 9 : Pour tout x appartenant à l’intervalle ]-∞;9[ , x &lt; 9</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d’évaluer ces énoncés et de leur attribuer une valeur VRAI ou une valeur FAUX.</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64092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Donner pour chacune des expressions suivantes une valeur VRAI ou FAUX, trouver également un cas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x/3 = (1/3)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(x+1)² = x² + 2x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+ 1 &lt; 101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prouver qu'un quantificateur existentiel soit vérifié, il faut juste trouver un cas qui fonctionne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prouver qu'un quantificateur universel ne soit pas vérifié, il faut juste trouver un cas qui ne fonctionne pas.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972991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d’exprimer les propositions par la négative:</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b="1" i="0" dirty="0">
                <a:solidFill>
                  <a:srgbClr val="202122"/>
                </a:solidFill>
                <a:effectLst/>
                <a:latin typeface="Arial" panose="020B0604020202020204" pitchFamily="34" charset="0"/>
              </a:rPr>
              <a:t> </a:t>
            </a:r>
            <a:r>
              <a:rPr lang="fr-FR" sz="2400" spc="-1" dirty="0">
                <a:solidFill>
                  <a:srgbClr val="376092"/>
                </a:solidFill>
                <a:latin typeface="Arial"/>
              </a:rPr>
              <a:t>∃ x ∈ R , x² &lt; 0 =&gt; ∀ x ∈ R, ¬ (x² &lt; 0)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t>
            </a:r>
            <a:r>
              <a:rPr lang="fr-FR" sz="2400" b="1" i="0" dirty="0">
                <a:solidFill>
                  <a:srgbClr val="202122"/>
                </a:solidFill>
                <a:effectLst/>
                <a:latin typeface="Arial" panose="020B0604020202020204" pitchFamily="34" charset="0"/>
              </a:rPr>
              <a:t> </a:t>
            </a:r>
            <a:r>
              <a:rPr lang="fr-FR" sz="2400" spc="-1" dirty="0">
                <a:solidFill>
                  <a:srgbClr val="376092"/>
                </a:solidFill>
                <a:latin typeface="Arial"/>
              </a:rPr>
              <a:t>∀ x ∈ N, x² &lt;&gt; x =&gt; ∃ x ∈ N, ¬ (x² &lt;&gt; x )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est très intéressante pour déterminer la valeur d’une proposition. Pour cela nous partons du principe que soit une proposition est vraie, soit c’est sa négation qui est vraie.</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quantificateur ∀ demanderait de vérifier toutes les possibilités alors que le quantificateur ∃ ne demande qu’un seul exemple.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018643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 Exemple :</a:t>
            </a:r>
            <a:endParaRPr lang="en-US" sz="3200" b="0" strike="noStrike" spc="-1" dirty="0">
              <a:solidFill>
                <a:srgbClr val="376092"/>
              </a:solidFill>
              <a:latin typeface="Arial"/>
            </a:endParaRPr>
          </a:p>
        </p:txBody>
      </p:sp>
      <p:sp>
        <p:nvSpPr>
          <p:cNvPr id="140" name="TextShape 2"/>
          <p:cNvSpPr txBox="1"/>
          <p:nvPr/>
        </p:nvSpPr>
        <p:spPr>
          <a:xfrm>
            <a:off x="457200" y="1417320"/>
            <a:ext cx="8229240" cy="47084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Prenons l’exemple suivant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x</a:t>
            </a:r>
            <a:r>
              <a:rPr lang="fr-FR" sz="2400" spc="-1" baseline="30000" dirty="0">
                <a:solidFill>
                  <a:srgbClr val="376092"/>
                </a:solidFill>
                <a:latin typeface="Arial"/>
              </a:rPr>
              <a:t>3</a:t>
            </a:r>
            <a:r>
              <a:rPr lang="fr-FR" sz="2400" spc="-1" dirty="0">
                <a:solidFill>
                  <a:srgbClr val="376092"/>
                </a:solidFill>
                <a:latin typeface="Arial"/>
              </a:rPr>
              <a:t> &lt;&gt; 27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de cette exemple est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 x ∈ N, x</a:t>
            </a:r>
            <a:r>
              <a:rPr lang="fr-FR" sz="2400" spc="-1" baseline="30000" dirty="0">
                <a:solidFill>
                  <a:srgbClr val="376092"/>
                </a:solidFill>
                <a:latin typeface="Arial"/>
              </a:rPr>
              <a:t>3</a:t>
            </a:r>
            <a:r>
              <a:rPr lang="fr-FR" sz="2400" spc="-1" dirty="0">
                <a:solidFill>
                  <a:srgbClr val="376092"/>
                </a:solidFill>
                <a:latin typeface="Arial"/>
              </a:rPr>
              <a:t> &lt;&gt; 27)</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 ( x</a:t>
            </a:r>
            <a:r>
              <a:rPr lang="fr-FR" sz="2400" spc="-1" baseline="30000" dirty="0">
                <a:solidFill>
                  <a:srgbClr val="376092"/>
                </a:solidFill>
                <a:latin typeface="Arial"/>
              </a:rPr>
              <a:t>3</a:t>
            </a:r>
            <a:r>
              <a:rPr lang="fr-FR" sz="2400" spc="-1" dirty="0">
                <a:solidFill>
                  <a:srgbClr val="376092"/>
                </a:solidFill>
                <a:latin typeface="Arial"/>
              </a:rPr>
              <a:t> &lt;&gt; 27)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x</a:t>
            </a:r>
            <a:r>
              <a:rPr lang="fr-FR" sz="2400" spc="-1" baseline="30000" dirty="0">
                <a:solidFill>
                  <a:srgbClr val="376092"/>
                </a:solidFill>
                <a:latin typeface="Arial"/>
              </a:rPr>
              <a:t>3</a:t>
            </a:r>
            <a:r>
              <a:rPr lang="fr-FR" sz="2400" spc="-1" dirty="0">
                <a:solidFill>
                  <a:srgbClr val="376092"/>
                </a:solidFill>
                <a:latin typeface="Arial"/>
              </a:rPr>
              <a:t> = 27</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s’aperçoit qu’il existe bien x tel que x</a:t>
            </a:r>
            <a:r>
              <a:rPr lang="fr-FR" sz="2400" spc="-1" baseline="30000" dirty="0">
                <a:solidFill>
                  <a:srgbClr val="376092"/>
                </a:solidFill>
                <a:latin typeface="Arial"/>
              </a:rPr>
              <a:t>3</a:t>
            </a:r>
            <a:r>
              <a:rPr lang="fr-FR" sz="2400" spc="-1" dirty="0">
                <a:solidFill>
                  <a:srgbClr val="376092"/>
                </a:solidFill>
                <a:latin typeface="Arial"/>
              </a:rPr>
              <a:t> = 27 avec x = 3.</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Ceci nous confirme que la négation est vraie et que donc la première affirmation est fausse.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13274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les quantificateurs et la négation - Exemple :</a:t>
            </a:r>
            <a:endParaRPr lang="en-US" sz="3200" b="0" strike="noStrike" spc="-1" dirty="0">
              <a:solidFill>
                <a:srgbClr val="376092"/>
              </a:solidFill>
              <a:latin typeface="Arial"/>
            </a:endParaRPr>
          </a:p>
        </p:txBody>
      </p:sp>
      <p:sp>
        <p:nvSpPr>
          <p:cNvPr id="140" name="TextShape 2"/>
          <p:cNvSpPr txBox="1"/>
          <p:nvPr/>
        </p:nvSpPr>
        <p:spPr>
          <a:xfrm>
            <a:off x="457200" y="1588654"/>
            <a:ext cx="8229240" cy="4537105"/>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Donnons la négation des prédicats suivants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x/3 = (1/3)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(x+1)² = x² + 2x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x² + 1 &lt; 101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négation d'un prédicat est à la fois la négation du quantificateur et la négation de la proposition.</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92919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Vocabulaire :</a:t>
            </a:r>
            <a:endParaRPr lang="en-US" sz="3200" b="0" strike="noStrike" spc="-1" dirty="0">
              <a:solidFill>
                <a:srgbClr val="376092"/>
              </a:solidFill>
              <a:latin typeface="Arial"/>
            </a:endParaRPr>
          </a:p>
        </p:txBody>
      </p:sp>
      <p:sp>
        <p:nvSpPr>
          <p:cNvPr id="140" name="TextShape 2"/>
          <p:cNvSpPr txBox="1"/>
          <p:nvPr/>
        </p:nvSpPr>
        <p:spPr>
          <a:xfrm>
            <a:off x="457200" y="1233996"/>
            <a:ext cx="8229240" cy="4891764"/>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Une variable est un élément pouvant prendre plusieurs valeurs. Il s’agit de la même notion en mathématiques et en programmation.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x ∈ R (double/</a:t>
            </a:r>
            <a:r>
              <a:rPr lang="fr-FR" sz="2400" spc="-1" dirty="0" err="1">
                <a:solidFill>
                  <a:srgbClr val="376092"/>
                </a:solidFill>
                <a:latin typeface="Arial"/>
              </a:rPr>
              <a:t>float</a:t>
            </a:r>
            <a:r>
              <a:rPr lang="fr-FR" sz="2400" spc="-1" dirty="0">
                <a:solidFill>
                  <a:srgbClr val="376092"/>
                </a:solidFill>
                <a:latin typeface="Arial"/>
              </a:rPr>
              <a:t>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 ∈ N (</a:t>
            </a:r>
            <a:r>
              <a:rPr lang="fr-FR" sz="2400" spc="-1" dirty="0" err="1">
                <a:solidFill>
                  <a:srgbClr val="376092"/>
                </a:solidFill>
                <a:latin typeface="Arial"/>
              </a:rPr>
              <a:t>int</a:t>
            </a:r>
            <a:r>
              <a:rPr lang="fr-FR" sz="2400" spc="-1" dirty="0">
                <a:solidFill>
                  <a:srgbClr val="376092"/>
                </a:solidFill>
                <a:latin typeface="Arial"/>
              </a:rPr>
              <a:t> x)</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Une proposition est un énoncé sans valeur de vérité, dans lequel intervient au moins une variable, et qui devient un prédicat par ajout de quantificateur.</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de proposition : x &lt;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de prédicat : ∃ x ∈ R , x &lt;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prédicat ne peut être évalué puisque l’on ne connait pas la valeur de x.</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6388099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possible de bâtir une proposition en utilisant plusieurs quantificateurs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x + 1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Cette proposition se lit « pour tout x réel, il existe un y réel tel que x+1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Attention l’ordre des quantificateurs est important quand ils ne sont pas de même nature. Voyons ce que donne la même proposition en inversant les quantificateurs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y ∈ R, ∀ x ∈ R, x + 1 = y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Si la proposition ne comporte que des ∃ ou que des ∀ alors l’ordre de ces quantificateurs n’a pas d’importance.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8170175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Evaluons les expressions ci-dessous et donnons leur une valeur VRAI ou FAUX et un cas: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Exprimer les quantificateurs en français pour vous aider.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256836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négation et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Pour obtenir la négation d’un prédicat avec des quantificateurs multiples on peut repousser la négation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432000" indent="-324000">
              <a:spcAft>
                <a:spcPts val="1060"/>
              </a:spcAft>
              <a:buClr>
                <a:srgbClr val="000000"/>
              </a:buClr>
              <a:buSzPct val="45000"/>
              <a:buFont typeface="Wingdings" charset="2"/>
              <a:buChar char=""/>
            </a:pPr>
            <a:r>
              <a:rPr lang="fr-FR" sz="2400" spc="-1">
                <a:solidFill>
                  <a:srgbClr val="376092"/>
                </a:solidFill>
                <a:latin typeface="Arial"/>
              </a:rPr>
              <a:t>Ce prédicat </a:t>
            </a:r>
            <a:r>
              <a:rPr lang="fr-FR" sz="2400" spc="-1" dirty="0">
                <a:solidFill>
                  <a:srgbClr val="376092"/>
                </a:solidFill>
                <a:latin typeface="Arial"/>
              </a:rPr>
              <a:t>n’est pas vraie, ce qui veut dire que sa négation l’est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N, ∀ y ∈ N, ¬(y = √x) </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inverser la proposition, il faut donc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Remplacer les ∃ par ∀ et inversement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Remplacer le prédicat par sa négation</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37364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multiples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Donnons la négation des prédicats suivants et donnons a cette négation une valeur VRAI ou FAUX et un cas: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y ∈ R, y = x-1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x ∈ R, ∃ n ∈ N, x + </a:t>
            </a:r>
            <a:r>
              <a:rPr lang="fr-FR" sz="2400" spc="-1" dirty="0" err="1">
                <a:solidFill>
                  <a:srgbClr val="376092"/>
                </a:solidFill>
                <a:latin typeface="Arial"/>
              </a:rPr>
              <a:t>n.x</a:t>
            </a:r>
            <a:r>
              <a:rPr lang="fr-FR" sz="2400" spc="-1" dirty="0">
                <a:solidFill>
                  <a:srgbClr val="376092"/>
                </a:solidFill>
                <a:latin typeface="Arial"/>
              </a:rPr>
              <a:t> = (n + 1) . X</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n ∈ N, ∀ p ∈ N, (p – n) % 2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Exprimer les quantificateurs en français pour vous aider.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0149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et algorithmie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prend en paramètre un tableau d'entiers et qui retourne VRAI si toutes les valeurs sont supérieurs à 20 (quantificateur universel).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une fonction qui prend en paramètre un tableau d'entiers et qui retourne VRAI si au moins une des valeurs est supérieur à 20 (quantificateur existentiel).</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voulons écrire un algorithme qui nous permet de résoudre : ∃ n ∈ N, ∃ p ∈ N, (p – n) % 2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Ecrivons un algorithme qui fait varier n de 0 à 20, et p de 0 à 20 et affichons toutes les solutions (p – n) % 2 = 0</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42324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quantificateurs et algorithmie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Ecrire les deux fonctions précédentes en python.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nous intéresser aux quantificateurs en Python :</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Any</a:t>
            </a:r>
            <a:r>
              <a:rPr lang="fr-FR" sz="2400" spc="-1" dirty="0">
                <a:solidFill>
                  <a:srgbClr val="376092"/>
                </a:solidFill>
                <a:latin typeface="Arial"/>
              </a:rPr>
              <a:t>(l) : Vrai si un des éléments de l est vrai</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All(l) : Vrai si tous les éléments de l sont vrais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une des deux fonctions plusieurs fois et stockons sa valeur de retour dans une liste. Evaluons ensuite cette liste à l'aide des fonctions all et </a:t>
            </a:r>
            <a:r>
              <a:rPr lang="fr-FR" sz="2400" spc="-1" dirty="0" err="1">
                <a:solidFill>
                  <a:srgbClr val="376092"/>
                </a:solidFill>
                <a:latin typeface="Arial"/>
              </a:rPr>
              <a:t>any</a:t>
            </a:r>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utiliser une fonction </a:t>
            </a:r>
            <a:r>
              <a:rPr lang="fr-FR" sz="2400" spc="-1" dirty="0" err="1">
                <a:solidFill>
                  <a:srgbClr val="376092"/>
                </a:solidFill>
                <a:latin typeface="Arial"/>
              </a:rPr>
              <a:t>random</a:t>
            </a:r>
            <a:r>
              <a:rPr lang="fr-FR" sz="2400" spc="-1" dirty="0">
                <a:solidFill>
                  <a:srgbClr val="376092"/>
                </a:solidFill>
                <a:latin typeface="Arial"/>
              </a:rPr>
              <a:t> pour créer nos listes : import </a:t>
            </a:r>
            <a:r>
              <a:rPr lang="fr-FR" sz="2400" spc="-1" dirty="0" err="1">
                <a:solidFill>
                  <a:srgbClr val="376092"/>
                </a:solidFill>
                <a:latin typeface="Arial"/>
              </a:rPr>
              <a:t>random</a:t>
            </a:r>
            <a:r>
              <a:rPr lang="fr-FR" sz="2400" spc="-1" dirty="0">
                <a:solidFill>
                  <a:srgbClr val="376092"/>
                </a:solidFill>
                <a:latin typeface="Arial"/>
              </a:rPr>
              <a:t>, l = </a:t>
            </a:r>
            <a:r>
              <a:rPr lang="fr-FR" sz="2400" spc="-1" dirty="0" err="1">
                <a:solidFill>
                  <a:srgbClr val="376092"/>
                </a:solidFill>
                <a:latin typeface="Arial"/>
              </a:rPr>
              <a:t>random.sample</a:t>
            </a:r>
            <a:r>
              <a:rPr lang="fr-FR" sz="2400" spc="-1" dirty="0">
                <a:solidFill>
                  <a:srgbClr val="376092"/>
                </a:solidFill>
                <a:latin typeface="Arial"/>
              </a:rPr>
              <a:t>(range(1, 20), 20)</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840121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B631-CAFC-C7E4-417C-8DCEF8811B1C}"/>
            </a:ext>
          </a:extLst>
        </p:cNvPr>
        <p:cNvGrpSpPr/>
        <p:nvPr/>
      </p:nvGrpSpPr>
      <p:grpSpPr>
        <a:xfrm>
          <a:off x="0" y="0"/>
          <a:ext cx="0" cy="0"/>
          <a:chOff x="0" y="0"/>
          <a:chExt cx="0" cy="0"/>
        </a:xfrm>
      </p:grpSpPr>
      <p:sp>
        <p:nvSpPr>
          <p:cNvPr id="139" name="TextShape 1">
            <a:extLst>
              <a:ext uri="{FF2B5EF4-FFF2-40B4-BE49-F238E27FC236}">
                <a16:creationId xmlns:a16="http://schemas.microsoft.com/office/drawing/2014/main" id="{EFA4D443-18DE-81ED-5107-9C0ADA6B9590}"/>
              </a:ext>
            </a:extLst>
          </p:cNvPr>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des prédicats – traduction :</a:t>
            </a:r>
            <a:endParaRPr lang="en-US" sz="3200" b="0" strike="noStrike" spc="-1" dirty="0">
              <a:solidFill>
                <a:srgbClr val="376092"/>
              </a:solidFill>
              <a:latin typeface="Arial"/>
            </a:endParaRPr>
          </a:p>
        </p:txBody>
      </p:sp>
      <p:sp>
        <p:nvSpPr>
          <p:cNvPr id="140" name="TextShape 2">
            <a:extLst>
              <a:ext uri="{FF2B5EF4-FFF2-40B4-BE49-F238E27FC236}">
                <a16:creationId xmlns:a16="http://schemas.microsoft.com/office/drawing/2014/main" id="{6B56AC93-2260-4857-846B-43A37C4631FC}"/>
              </a:ext>
            </a:extLst>
          </p:cNvPr>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Traduire sous forme de prédicats les phrases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inférieur ou égal à tout entier naturel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supérieur ou égal à tout entier naturel</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Toute somme de deux nombres réels a pour carré la somme des carrés de ces deux nombres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existe un entier naturel qui est diviseur de tous les entiers naturels</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61935F00-3BE0-D077-2C27-83EC72A7FD8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0131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booléen :</a:t>
            </a:r>
            <a:endParaRPr lang="en-US" sz="3200" b="0" strike="noStrike" spc="-1" dirty="0">
              <a:solidFill>
                <a:srgbClr val="376092"/>
              </a:solidFill>
              <a:latin typeface="Arial"/>
            </a:endParaRPr>
          </a:p>
        </p:txBody>
      </p:sp>
      <p:sp>
        <p:nvSpPr>
          <p:cNvPr id="140" name="TextShape 2"/>
          <p:cNvSpPr txBox="1"/>
          <p:nvPr/>
        </p:nvSpPr>
        <p:spPr>
          <a:xfrm>
            <a:off x="457200" y="1491448"/>
            <a:ext cx="857139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Utilisons les circuits électriques suivants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série (0 = ouvert, 1 = fermé):</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parallèle (0 = ouvert, 1 = fermé):</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 name="Image 4">
            <a:extLst>
              <a:ext uri="{FF2B5EF4-FFF2-40B4-BE49-F238E27FC236}">
                <a16:creationId xmlns:a16="http://schemas.microsoft.com/office/drawing/2014/main" id="{89E376EB-1D64-461D-B7CA-4AF8A95D2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643" y="2514600"/>
            <a:ext cx="3290616" cy="1828800"/>
          </a:xfrm>
          <a:prstGeom prst="rect">
            <a:avLst/>
          </a:prstGeom>
        </p:spPr>
      </p:pic>
      <p:pic>
        <p:nvPicPr>
          <p:cNvPr id="6" name="Image 5">
            <a:extLst>
              <a:ext uri="{FF2B5EF4-FFF2-40B4-BE49-F238E27FC236}">
                <a16:creationId xmlns:a16="http://schemas.microsoft.com/office/drawing/2014/main" id="{0031F38F-5175-44B1-8916-D8F1291F7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017" y="4901668"/>
            <a:ext cx="3655868" cy="2031793"/>
          </a:xfrm>
          <a:prstGeom prst="rect">
            <a:avLst/>
          </a:prstGeom>
        </p:spPr>
      </p:pic>
      <p:pic>
        <p:nvPicPr>
          <p:cNvPr id="2" name="Image 1">
            <a:extLst>
              <a:ext uri="{FF2B5EF4-FFF2-40B4-BE49-F238E27FC236}">
                <a16:creationId xmlns:a16="http://schemas.microsoft.com/office/drawing/2014/main" id="{7EBD4109-2E35-4E85-B5A5-26D06F3DA85E}"/>
              </a:ext>
            </a:extLst>
          </p:cNvPr>
          <p:cNvPicPr>
            <a:picLocks noChangeAspect="1"/>
          </p:cNvPicPr>
          <p:nvPr/>
        </p:nvPicPr>
        <p:blipFill>
          <a:blip r:embed="rId4"/>
          <a:stretch>
            <a:fillRect/>
          </a:stretch>
        </p:blipFill>
        <p:spPr>
          <a:xfrm>
            <a:off x="5454526" y="2586037"/>
            <a:ext cx="2305050" cy="1685925"/>
          </a:xfrm>
          <a:prstGeom prst="rect">
            <a:avLst/>
          </a:prstGeom>
        </p:spPr>
      </p:pic>
      <p:pic>
        <p:nvPicPr>
          <p:cNvPr id="4" name="Image 3">
            <a:extLst>
              <a:ext uri="{FF2B5EF4-FFF2-40B4-BE49-F238E27FC236}">
                <a16:creationId xmlns:a16="http://schemas.microsoft.com/office/drawing/2014/main" id="{9E534B88-5948-4E6A-872C-BF54BD5A5DA2}"/>
              </a:ext>
            </a:extLst>
          </p:cNvPr>
          <p:cNvPicPr>
            <a:picLocks noChangeAspect="1"/>
          </p:cNvPicPr>
          <p:nvPr/>
        </p:nvPicPr>
        <p:blipFill>
          <a:blip r:embed="rId5"/>
          <a:stretch>
            <a:fillRect/>
          </a:stretch>
        </p:blipFill>
        <p:spPr>
          <a:xfrm>
            <a:off x="5523483" y="5074601"/>
            <a:ext cx="2305050" cy="1685925"/>
          </a:xfrm>
          <a:prstGeom prst="rect">
            <a:avLst/>
          </a:prstGeom>
        </p:spPr>
      </p:pic>
    </p:spTree>
    <p:extLst>
      <p:ext uri="{BB962C8B-B14F-4D97-AF65-F5344CB8AC3E}">
        <p14:creationId xmlns:p14="http://schemas.microsoft.com/office/powerpoint/2010/main" val="1444682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booléen – parallèle avec les opérateurs logiques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circuits électriques ont les mêmes tables de vérité que les opérateurs logiques: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série : La lampe s’allume si I2 est fermé ET I1 est fermé.</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En parallèle : La lampe s’allume si I2 est fermé OU I1 est fermé.</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Il est donc tout à fait possible d’utiliser les éléments de logique pour représenter un circuit électrique.</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372529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booléen – opérations booléennes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Nos interrupteurs fonctionnent comme des variables booléennes, il ne peuvent avoir que deux états, ou deux valeurs : 0 ou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montage en série traduit la nécessité d’avoir tous les interrupteurs à 1 et est appelé produit booléen :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 = I2 . I1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montage en parallèle traduit la nécessité d’avoir au moins un des deux interrupteurs à 1 et est appelé somme booléenne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 = I2 + I1</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9411707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Calcul booléen – négation :</a:t>
            </a:r>
            <a:endParaRPr lang="en-US" sz="3200" b="0" strike="noStrike" spc="-1" dirty="0">
              <a:solidFill>
                <a:srgbClr val="376092"/>
              </a:solidFill>
              <a:latin typeface="Arial"/>
            </a:endParaRPr>
          </a:p>
        </p:txBody>
      </p:sp>
      <p:sp>
        <p:nvSpPr>
          <p:cNvPr id="140" name="TextShape 2"/>
          <p:cNvSpPr txBox="1"/>
          <p:nvPr/>
        </p:nvSpPr>
        <p:spPr>
          <a:xfrm>
            <a:off x="457200" y="1491448"/>
            <a:ext cx="8229240" cy="4634311"/>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Il reste a gérer le cas de la négation qui peut-être représentée par un interrupteur inversé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La lampe est allumée de base, en actionnant l’interrupteur, la lampe s’éteint. Le principe est d’obtenir le contraire d’un état comme en témoigne la table de vérité.</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 name="Image 1">
            <a:extLst>
              <a:ext uri="{FF2B5EF4-FFF2-40B4-BE49-F238E27FC236}">
                <a16:creationId xmlns:a16="http://schemas.microsoft.com/office/drawing/2014/main" id="{C213131B-1B3A-41B2-BF05-7BAE1EF7E639}"/>
              </a:ext>
            </a:extLst>
          </p:cNvPr>
          <p:cNvPicPr>
            <a:picLocks noChangeAspect="1"/>
          </p:cNvPicPr>
          <p:nvPr/>
        </p:nvPicPr>
        <p:blipFill>
          <a:blip r:embed="rId2"/>
          <a:stretch>
            <a:fillRect/>
          </a:stretch>
        </p:blipFill>
        <p:spPr>
          <a:xfrm>
            <a:off x="733859" y="2301142"/>
            <a:ext cx="4054191" cy="2255716"/>
          </a:xfrm>
          <a:prstGeom prst="rect">
            <a:avLst/>
          </a:prstGeom>
        </p:spPr>
      </p:pic>
      <p:pic>
        <p:nvPicPr>
          <p:cNvPr id="4" name="Image 3">
            <a:extLst>
              <a:ext uri="{FF2B5EF4-FFF2-40B4-BE49-F238E27FC236}">
                <a16:creationId xmlns:a16="http://schemas.microsoft.com/office/drawing/2014/main" id="{10B4DE19-40B2-4DB2-9828-93AE40E2EF58}"/>
              </a:ext>
            </a:extLst>
          </p:cNvPr>
          <p:cNvPicPr>
            <a:picLocks noChangeAspect="1"/>
          </p:cNvPicPr>
          <p:nvPr/>
        </p:nvPicPr>
        <p:blipFill>
          <a:blip r:embed="rId3"/>
          <a:stretch>
            <a:fillRect/>
          </a:stretch>
        </p:blipFill>
        <p:spPr>
          <a:xfrm>
            <a:off x="5965720" y="2839513"/>
            <a:ext cx="1543050" cy="1019175"/>
          </a:xfrm>
          <a:prstGeom prst="rect">
            <a:avLst/>
          </a:prstGeom>
        </p:spPr>
      </p:pic>
    </p:spTree>
    <p:extLst>
      <p:ext uri="{BB962C8B-B14F-4D97-AF65-F5344CB8AC3E}">
        <p14:creationId xmlns:p14="http://schemas.microsoft.com/office/powerpoint/2010/main" val="35848175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L’algèbre de Boole est défini par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Des variables booléennes qui peuvent prendre les valeur 0 ou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opérations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Addition booléenne (table du OU)</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Produit booléen (table du ET) </a:t>
            </a:r>
          </a:p>
          <a:p>
            <a:pPr marL="1346400" lvl="2" indent="-324000">
              <a:spcAft>
                <a:spcPts val="1060"/>
              </a:spcAft>
              <a:buClr>
                <a:srgbClr val="000000"/>
              </a:buClr>
              <a:buSzPct val="45000"/>
              <a:buFont typeface="Wingdings" charset="2"/>
              <a:buChar char=""/>
            </a:pPr>
            <a:r>
              <a:rPr lang="fr-FR" sz="2400" spc="-1" dirty="0">
                <a:solidFill>
                  <a:srgbClr val="376092"/>
                </a:solidFill>
                <a:latin typeface="Arial"/>
              </a:rPr>
              <a:t>Complémentation (négation) booléenne (table du NON)</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Les valeurs 0 et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Des signes de priorités opératoires comme les parenthèses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284390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variable booléenne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variables booléennes peuvent être vues comme des inconnues dans une équation.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Elles nous permettent d'écrire une expression booléenne à partir d'une expression humaine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il fait beau </a:t>
                </a:r>
              </a:p>
              <a:p>
                <a:pPr marL="889200" lvl="1" indent="-324000">
                  <a:spcAft>
                    <a:spcPts val="1060"/>
                  </a:spcAft>
                  <a:buClr>
                    <a:srgbClr val="000000"/>
                  </a:buClr>
                  <a:buSzPct val="45000"/>
                  <a:buFont typeface="Wingdings" charset="2"/>
                  <a:buChar char=""/>
                </a:pP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𝑖𝑙</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𝑛𝑒</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𝑓𝑎𝑖𝑡</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𝑝𝑎𝑠</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𝑏𝑒𝑎𝑢</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il fait chaud</a:t>
                </a:r>
              </a:p>
              <a:p>
                <a:pPr marL="889200" lvl="1" indent="-324000">
                  <a:spcAft>
                    <a:spcPts val="1060"/>
                  </a:spcAft>
                  <a:buClr>
                    <a:srgbClr val="000000"/>
                  </a:buClr>
                  <a:buSzPct val="45000"/>
                  <a:buFont typeface="Wingdings" charset="2"/>
                  <a:buChar char=""/>
                </a:pP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𝑖𝑙</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𝑛𝑒</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𝑓𝑎𝑖𝑡</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𝑝𝑎𝑠</m:t>
                    </m:r>
                    <m:r>
                      <a:rPr lang="fr-FR" sz="2400" b="0" i="1" spc="-1" dirty="0" smtClean="0">
                        <a:solidFill>
                          <a:srgbClr val="376092"/>
                        </a:solidFill>
                        <a:latin typeface="Cambria Math" panose="02040503050406030204" pitchFamily="18" charset="0"/>
                      </a:rPr>
                      <m:t> </m:t>
                    </m:r>
                    <m:r>
                      <a:rPr lang="fr-FR" sz="2400" b="0" i="1" spc="-1" dirty="0" smtClean="0">
                        <a:solidFill>
                          <a:srgbClr val="376092"/>
                        </a:solidFill>
                        <a:latin typeface="Cambria Math" panose="02040503050406030204" pitchFamily="18" charset="0"/>
                      </a:rPr>
                      <m:t>𝑐h𝑎𝑢𝑑</m:t>
                    </m:r>
                  </m:oMath>
                </a14:m>
                <a:endParaRPr lang="fr-FR" sz="2400" b="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arrive ainsi à écrire des expressions composées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a:t>
                </a:r>
                <a:r>
                  <a:rPr lang="fr-FR" sz="2400" spc="-1" dirty="0">
                    <a:solidFill>
                      <a:srgbClr val="376092"/>
                    </a:solidFill>
                  </a:rPr>
                  <a:t>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oMath>
                </a14:m>
                <a:r>
                  <a:rPr lang="fr-FR" sz="2400" spc="-1" dirty="0">
                    <a:solidFill>
                      <a:srgbClr val="376092"/>
                    </a:solidFill>
                    <a:latin typeface="Arial"/>
                  </a:rPr>
                  <a:t> + </a:t>
                </a:r>
                <a14:m>
                  <m:oMath xmlns:m="http://schemas.openxmlformats.org/officeDocument/2006/math">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oMath>
                </a14:m>
                <a:r>
                  <a:rPr lang="fr-FR" sz="2400" spc="-1" dirty="0">
                    <a:solidFill>
                      <a:srgbClr val="376092"/>
                    </a:solidFill>
                    <a:latin typeface="Arial"/>
                  </a:rPr>
                  <a:t>.b : soit il fait beau et pas chaud, soit il ne fait pas beau et il fait chaud.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305018"/>
                <a:ext cx="8229240" cy="4820742"/>
              </a:xfrm>
              <a:prstGeom prst="rect">
                <a:avLst/>
              </a:prstGeom>
              <a:blipFill>
                <a:blip r:embed="rId2"/>
                <a:stretch>
                  <a:fillRect t="-1770" r="-1852" b="-8091"/>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01334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variable booléenne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Considérons les 3 variables booléennes ci-dessous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aime le chocolat</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aime les noisettes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 : aime les pommes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Ecrivons sous forme d'expressions booléennes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aime le chocolat et les noisettes mais pas les pommes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Ce groupe est composé de gens qui aiment le chocolat ou de gens qui aiment les pommes et les noisettes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Il n'aime ni le chocolat, ni les noisettes, ni les pommes.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614895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propriétés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opérateurs booléens étant basés sur les tables de vérité du ET, du OU et du NON, nous avons déjà montré que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L’addition et la multiplication sont commutatives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L’addition et la multiplication sont associatives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L’addition et la multiplication sont distributives l’une par rapport à l’autre</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3340259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propriétés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Intéressons-nous aux valeurs 0 et 1 et voyons leurs spécificités: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est l’élément neutre de l’addition : 0 + a = a + 0 = a</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0 est l’élément absorbant pour la multiplication : 0a = a0 =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est l’élément absorbant pour l’addition : 1 + a = a + 1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1 est l’élément neutre pour la multiplication : 1 * a = a * 1 = a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complémentation de 1 est 0</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La complémentation de 0 est 1</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Visualisons toutes ces propriétés à l’aide des circuits</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302669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Expression booléenne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Une expression booléenne peut donc être évaluée en fixant les valeurs de ses variables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𝑏</m:t>
                    </m:r>
                    <m:r>
                      <a:rPr lang="fr-FR" sz="2400" i="0" spc="-1" dirty="0">
                        <a:solidFill>
                          <a:srgbClr val="376092"/>
                        </a:solidFill>
                        <a:latin typeface="Cambria Math" panose="02040503050406030204" pitchFamily="18" charset="0"/>
                      </a:rPr>
                      <m:t>+</m:t>
                    </m:r>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𝑐</m:t>
                        </m:r>
                      </m:e>
                    </m:acc>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a.</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𝑐</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C = (a + b).</a:t>
                </a:r>
                <a:r>
                  <a:rPr lang="fr-FR" sz="2400" spc="-1" dirty="0">
                    <a:solidFill>
                      <a:srgbClr val="376092"/>
                    </a:solidFill>
                  </a:rPr>
                  <a:t> </a:t>
                </a:r>
                <a14:m>
                  <m:oMath xmlns:m="http://schemas.openxmlformats.org/officeDocument/2006/math">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𝑐</m:t>
                        </m:r>
                      </m:e>
                    </m:acc>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Evaluons ces expressions pour les valeurs de variable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0, b= 1, c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1, b= 1, c = 1</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1, b= 1, c = 0</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305018"/>
                <a:ext cx="8229240" cy="4820742"/>
              </a:xfrm>
              <a:prstGeom prst="rect">
                <a:avLst/>
              </a:prstGeom>
              <a:blipFill>
                <a:blip r:embed="rId2"/>
                <a:stretch>
                  <a:fillRect t="-1770" b="-253"/>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74876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propriétés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997527"/>
                <a:ext cx="8229240" cy="5128233"/>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La complémentation possède également certaines propriétés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r>
                      <a:rPr lang="fr-FR" sz="2400" i="1" spc="-1" dirty="0">
                        <a:solidFill>
                          <a:srgbClr val="376092"/>
                        </a:solidFill>
                        <a:latin typeface="Cambria Math" panose="02040503050406030204" pitchFamily="18" charset="0"/>
                      </a:rPr>
                      <m:t> </m:t>
                    </m:r>
                  </m:oMath>
                </a14:m>
                <a:r>
                  <a:rPr lang="fr-FR" sz="2400" spc="-1" dirty="0">
                    <a:solidFill>
                      <a:srgbClr val="376092"/>
                    </a:solidFill>
                    <a:latin typeface="Arial"/>
                  </a:rPr>
                  <a:t>= 1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oMath>
                </a14:m>
                <a:r>
                  <a:rPr lang="fr-FR" sz="2400" spc="-1" dirty="0">
                    <a:solidFill>
                      <a:srgbClr val="376092"/>
                    </a:solidFill>
                    <a:latin typeface="Arial"/>
                  </a:rPr>
                  <a:t> = 0</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Pour comprendre ces propriétés on peut se représenter une les proposition au sujet d’un individu:</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la personne a moins de 30 ans</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r>
                      <a:rPr lang="fr-FR" sz="2400" i="1" spc="-1" dirty="0">
                        <a:solidFill>
                          <a:srgbClr val="376092"/>
                        </a:solidFill>
                        <a:latin typeface="Cambria Math" panose="02040503050406030204" pitchFamily="18" charset="0"/>
                      </a:rPr>
                      <m:t> </m:t>
                    </m:r>
                  </m:oMath>
                </a14:m>
                <a:r>
                  <a:rPr lang="fr-FR" sz="2400" spc="-1" dirty="0">
                    <a:solidFill>
                      <a:srgbClr val="376092"/>
                    </a:solidFill>
                    <a:latin typeface="Arial"/>
                  </a:rPr>
                  <a:t>: la personne à 30 ans et plus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On voit que la personne en question ne peut pas se trouver dans les deux groupes par contre toute personne se trouve dans le cumul des deux propositions.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Encore une fois nous pouvons visualiser cela avec un circuit</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997527"/>
                <a:ext cx="8229240" cy="5128233"/>
              </a:xfrm>
              <a:prstGeom prst="rect">
                <a:avLst/>
              </a:prstGeom>
              <a:blipFill>
                <a:blip r:embed="rId2"/>
                <a:stretch>
                  <a:fillRect t="-1784" r="-1778" b="-15458"/>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40317099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priorité opératoire :</a:t>
            </a:r>
            <a:endParaRPr lang="en-US" sz="32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En algèbre de Boole, les priorités opératoires sont :</a:t>
                </a:r>
              </a:p>
              <a:p>
                <a:pPr marL="1022400" lvl="1" indent="-457200">
                  <a:spcAft>
                    <a:spcPts val="1060"/>
                  </a:spcAft>
                  <a:buClr>
                    <a:srgbClr val="000000"/>
                  </a:buClr>
                  <a:buSzPct val="45000"/>
                  <a:buFont typeface="+mj-lt"/>
                  <a:buAutoNum type="arabicPeriod"/>
                </a:pPr>
                <a:r>
                  <a:rPr lang="fr-FR" sz="2400" spc="-1" dirty="0">
                    <a:solidFill>
                      <a:srgbClr val="376092"/>
                    </a:solidFill>
                    <a:latin typeface="Arial"/>
                  </a:rPr>
                  <a:t>Les parenthèses</a:t>
                </a:r>
              </a:p>
              <a:p>
                <a:pPr marL="1022400" lvl="1" indent="-457200">
                  <a:spcAft>
                    <a:spcPts val="1060"/>
                  </a:spcAft>
                  <a:buClr>
                    <a:srgbClr val="000000"/>
                  </a:buClr>
                  <a:buSzPct val="45000"/>
                  <a:buFont typeface="+mj-lt"/>
                  <a:buAutoNum type="arabicPeriod"/>
                </a:pPr>
                <a:r>
                  <a:rPr lang="fr-FR" sz="2400" spc="-1" dirty="0">
                    <a:solidFill>
                      <a:srgbClr val="376092"/>
                    </a:solidFill>
                    <a:latin typeface="Arial"/>
                  </a:rPr>
                  <a:t>La complémentation</a:t>
                </a:r>
              </a:p>
              <a:p>
                <a:pPr marL="1022400" lvl="1" indent="-457200">
                  <a:spcAft>
                    <a:spcPts val="1060"/>
                  </a:spcAft>
                  <a:buClr>
                    <a:srgbClr val="000000"/>
                  </a:buClr>
                  <a:buSzPct val="45000"/>
                  <a:buFont typeface="+mj-lt"/>
                  <a:buAutoNum type="arabicPeriod"/>
                </a:pPr>
                <a:r>
                  <a:rPr lang="fr-FR" sz="2400" spc="-1" dirty="0">
                    <a:solidFill>
                      <a:srgbClr val="376092"/>
                    </a:solidFill>
                    <a:latin typeface="Arial"/>
                  </a:rPr>
                  <a:t>La multiplication</a:t>
                </a:r>
              </a:p>
              <a:p>
                <a:pPr marL="1022400" lvl="1" indent="-457200">
                  <a:spcAft>
                    <a:spcPts val="1060"/>
                  </a:spcAft>
                  <a:buClr>
                    <a:srgbClr val="000000"/>
                  </a:buClr>
                  <a:buSzPct val="45000"/>
                  <a:buFont typeface="+mj-lt"/>
                  <a:buAutoNum type="arabicPeriod"/>
                </a:pPr>
                <a:r>
                  <a:rPr lang="fr-FR" sz="2400" spc="-1" dirty="0">
                    <a:solidFill>
                      <a:srgbClr val="376092"/>
                    </a:solidFill>
                    <a:latin typeface="Arial"/>
                  </a:rPr>
                  <a:t>L’addition</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Exemple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b="0" i="1" spc="-1" dirty="0" smtClean="0">
                            <a:solidFill>
                              <a:srgbClr val="376092"/>
                            </a:solidFill>
                            <a:latin typeface="Cambria Math" panose="02040503050406030204" pitchFamily="18" charset="0"/>
                          </a:rPr>
                          <m:t>𝑐</m:t>
                        </m:r>
                      </m:e>
                    </m:acc>
                    <m:r>
                      <a:rPr lang="fr-FR" sz="2400" i="1" spc="-1" dirty="0">
                        <a:solidFill>
                          <a:srgbClr val="376092"/>
                        </a:solidFill>
                        <a:latin typeface="Cambria Math" panose="02040503050406030204" pitchFamily="18" charset="0"/>
                      </a:rPr>
                      <m:t> </m:t>
                    </m:r>
                  </m:oMath>
                </a14:m>
                <a:r>
                  <a:rPr lang="fr-FR" sz="2400" spc="-1" dirty="0">
                    <a:solidFill>
                      <a:srgbClr val="376092"/>
                    </a:solidFill>
                    <a:latin typeface="Arial"/>
                  </a:rPr>
                  <a:t>se lit a + (b . (</a:t>
                </a:r>
                <a14:m>
                  <m:oMath xmlns:m="http://schemas.openxmlformats.org/officeDocument/2006/math">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𝑐</m:t>
                        </m:r>
                      </m:e>
                    </m:acc>
                    <m:r>
                      <a:rPr lang="fr-FR" sz="2400" i="1" spc="-1" dirty="0">
                        <a:solidFill>
                          <a:srgbClr val="376092"/>
                        </a:solidFill>
                        <a:latin typeface="Cambria Math" panose="02040503050406030204" pitchFamily="18" charset="0"/>
                      </a:rPr>
                      <m:t> </m:t>
                    </m:r>
                  </m:oMath>
                </a14:m>
                <a:r>
                  <a:rPr lang="fr-FR" sz="2400" spc="-1" dirty="0">
                    <a:solidFill>
                      <a:srgbClr val="376092"/>
                    </a:solidFill>
                    <a:latin typeface="Arial"/>
                  </a:rPr>
                  <a:t>))</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Calculer les expressions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m:t>
                    </m:r>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𝑏</m:t>
                    </m:r>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B = </a:t>
                </a:r>
                <a14:m>
                  <m:oMath xmlns:m="http://schemas.openxmlformats.org/officeDocument/2006/math">
                    <m:r>
                      <a:rPr lang="fr-FR" sz="2400" i="1" spc="-1" dirty="0" smtClean="0">
                        <a:solidFill>
                          <a:srgbClr val="376092"/>
                        </a:solidFill>
                        <a:latin typeface="Cambria Math" panose="02040503050406030204" pitchFamily="18" charset="0"/>
                      </a:rPr>
                      <m:t>𝑎𝑏</m:t>
                    </m:r>
                    <m:r>
                      <a:rPr lang="fr-FR" sz="2400" i="0" spc="-1" dirty="0">
                        <a:solidFill>
                          <a:srgbClr val="376092"/>
                        </a:solidFill>
                        <a:latin typeface="Cambria Math" panose="02040503050406030204" pitchFamily="18" charset="0"/>
                      </a:rPr>
                      <m:t>+</m:t>
                    </m:r>
                    <m:r>
                      <a:rPr lang="fr-FR" sz="2400" i="1" spc="-1" dirty="0">
                        <a:solidFill>
                          <a:srgbClr val="376092"/>
                        </a:solidFill>
                        <a:latin typeface="Cambria Math" panose="02040503050406030204" pitchFamily="18" charset="0"/>
                      </a:rPr>
                      <m:t>𝑎𝑏𝑐</m:t>
                    </m:r>
                    <m:r>
                      <a:rPr lang="fr-FR" sz="2400" i="0" spc="-1" dirty="0">
                        <a:solidFill>
                          <a:srgbClr val="376092"/>
                        </a:solidFill>
                        <a:latin typeface="Cambria Math" panose="02040503050406030204" pitchFamily="18" charset="0"/>
                      </a:rPr>
                      <m:t>+</m:t>
                    </m:r>
                    <m:sSup>
                      <m:sSupPr>
                        <m:ctrlPr>
                          <a:rPr lang="fr-FR" sz="2400" i="1" spc="-1" dirty="0">
                            <a:solidFill>
                              <a:srgbClr val="376092"/>
                            </a:solidFill>
                            <a:latin typeface="Cambria Math" panose="02040503050406030204" pitchFamily="18" charset="0"/>
                          </a:rPr>
                        </m:ctrlPr>
                      </m:sSupPr>
                      <m:e>
                        <m:r>
                          <a:rPr lang="fr-FR" sz="2400" i="1" spc="-1" dirty="0">
                            <a:solidFill>
                              <a:srgbClr val="376092"/>
                            </a:solidFill>
                            <a:latin typeface="Cambria Math" panose="02040503050406030204" pitchFamily="18" charset="0"/>
                          </a:rPr>
                          <m:t>𝑎</m:t>
                        </m:r>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e>
                      <m:sup/>
                    </m:sSup>
                  </m:oMath>
                </a14:m>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Choice>
        <mc:Fallback xmlns="">
          <p:sp>
            <p:nvSpPr>
              <p:cNvPr id="140" name="TextShape 2"/>
              <p:cNvSpPr txBox="1">
                <a:spLocks noRot="1" noChangeAspect="1" noMove="1" noResize="1" noEditPoints="1" noAdjustHandles="1" noChangeArrowheads="1" noChangeShapeType="1" noTextEdit="1"/>
              </p:cNvSpPr>
              <p:nvPr/>
            </p:nvSpPr>
            <p:spPr>
              <a:xfrm>
                <a:off x="457200" y="1305018"/>
                <a:ext cx="8229240" cy="4820742"/>
              </a:xfrm>
              <a:prstGeom prst="rect">
                <a:avLst/>
              </a:prstGeom>
              <a:blipFill>
                <a:blip r:embed="rId2"/>
                <a:stretch>
                  <a:fillRect t="-1770" b="-6700"/>
                </a:stretch>
              </a:blipFill>
              <a:ln w="0">
                <a:noFill/>
              </a:ln>
            </p:spPr>
            <p:txBody>
              <a:bodyPr/>
              <a:lstStyle/>
              <a:p>
                <a:r>
                  <a:rPr lang="fr-FR">
                    <a:noFill/>
                  </a:rPr>
                  <a:t> </a:t>
                </a:r>
              </a:p>
            </p:txBody>
          </p:sp>
        </mc:Fallback>
      </mc:AlternateContent>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23549912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loi de De Morgan:</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Essayons de comprendre la différence entre ces deux algorithmes avec leur table de vérité :</a:t>
            </a:r>
          </a:p>
          <a:p>
            <a:pPr marL="108000">
              <a:spcAft>
                <a:spcPts val="1060"/>
              </a:spcAft>
              <a:buClr>
                <a:srgbClr val="000000"/>
              </a:buClr>
              <a:buSzPct val="45000"/>
            </a:pPr>
            <a:r>
              <a:rPr lang="fr-FR" b="1" spc="-1" dirty="0">
                <a:latin typeface="Courier New" panose="02070309020205020404" pitchFamily="49" charset="0"/>
                <a:cs typeface="Courier New" panose="02070309020205020404" pitchFamily="49" charset="0"/>
              </a:rPr>
              <a:t>S’</a:t>
            </a:r>
            <a:r>
              <a:rPr lang="fr-FR" spc="-1" dirty="0">
                <a:latin typeface="Courier New" panose="02070309020205020404" pitchFamily="49" charset="0"/>
                <a:cs typeface="Courier New" panose="02070309020205020404" pitchFamily="49" charset="0"/>
              </a:rPr>
              <a:t>il fait beau </a:t>
            </a:r>
            <a:r>
              <a:rPr lang="fr-FR" b="1" spc="-1" dirty="0">
                <a:latin typeface="Courier New" panose="02070309020205020404" pitchFamily="49" charset="0"/>
                <a:cs typeface="Courier New" panose="02070309020205020404" pitchFamily="49" charset="0"/>
              </a:rPr>
              <a:t>et</a:t>
            </a:r>
            <a:r>
              <a:rPr lang="fr-FR" spc="-1" dirty="0">
                <a:latin typeface="Courier New" panose="02070309020205020404" pitchFamily="49" charset="0"/>
                <a:cs typeface="Courier New" panose="02070309020205020404" pitchFamily="49" charset="0"/>
              </a:rPr>
              <a:t> qu’il fait chaud </a:t>
            </a:r>
            <a:r>
              <a:rPr lang="fr-FR" b="1" spc="-1" dirty="0">
                <a:latin typeface="Courier New" panose="02070309020205020404" pitchFamily="49" charset="0"/>
                <a:cs typeface="Courier New" panose="02070309020205020404" pitchFamily="49" charset="0"/>
              </a:rPr>
              <a:t>alors</a:t>
            </a:r>
          </a:p>
          <a:p>
            <a:pPr marL="108000">
              <a:spcAft>
                <a:spcPts val="1060"/>
              </a:spcAft>
              <a:buClr>
                <a:srgbClr val="000000"/>
              </a:buClr>
              <a:buSzPct val="45000"/>
            </a:pPr>
            <a:r>
              <a:rPr lang="fr-FR" b="0" strike="noStrike" spc="-1" dirty="0">
                <a:latin typeface="Courier New" panose="02070309020205020404" pitchFamily="49" charset="0"/>
                <a:cs typeface="Courier New" panose="02070309020205020404" pitchFamily="49" charset="0"/>
              </a:rPr>
              <a:t>	Je mets une casquette</a:t>
            </a:r>
            <a:endParaRPr lang="fr-FR" spc="-1" dirty="0">
              <a:latin typeface="Courier New" panose="02070309020205020404" pitchFamily="49" charset="0"/>
              <a:cs typeface="Courier New" panose="02070309020205020404" pitchFamily="49" charset="0"/>
            </a:endParaRPr>
          </a:p>
          <a:p>
            <a:pPr marL="108000">
              <a:spcAft>
                <a:spcPts val="1060"/>
              </a:spcAft>
              <a:buClr>
                <a:srgbClr val="000000"/>
              </a:buClr>
              <a:buSzPct val="45000"/>
            </a:pPr>
            <a:r>
              <a:rPr lang="fr-FR" b="1" strike="noStrike" spc="-1" dirty="0">
                <a:latin typeface="Courier New" panose="02070309020205020404" pitchFamily="49" charset="0"/>
                <a:cs typeface="Courier New" panose="02070309020205020404" pitchFamily="49" charset="0"/>
              </a:rPr>
              <a:t>Sinon</a:t>
            </a:r>
          </a:p>
          <a:p>
            <a:pPr marL="108000">
              <a:spcAft>
                <a:spcPts val="1060"/>
              </a:spcAft>
              <a:buClr>
                <a:srgbClr val="000000"/>
              </a:buClr>
              <a:buSzPct val="45000"/>
            </a:pPr>
            <a:r>
              <a:rPr lang="fr-FR" spc="-1" dirty="0">
                <a:latin typeface="Courier New" panose="02070309020205020404" pitchFamily="49" charset="0"/>
                <a:cs typeface="Courier New" panose="02070309020205020404" pitchFamily="49" charset="0"/>
              </a:rPr>
              <a:t>	Je prends un parapluie</a:t>
            </a:r>
          </a:p>
          <a:p>
            <a:pPr marL="108000">
              <a:spcAft>
                <a:spcPts val="1060"/>
              </a:spcAft>
              <a:buClr>
                <a:srgbClr val="000000"/>
              </a:buClr>
              <a:buSzPct val="45000"/>
            </a:pPr>
            <a:r>
              <a:rPr lang="fr-FR" b="1" strike="noStrike" spc="-1" dirty="0" err="1">
                <a:latin typeface="Courier New" panose="02070309020205020404" pitchFamily="49" charset="0"/>
                <a:cs typeface="Courier New" panose="02070309020205020404" pitchFamily="49" charset="0"/>
              </a:rPr>
              <a:t>Fsi</a:t>
            </a:r>
            <a:endParaRPr lang="fr-FR" b="1" strike="noStrike" spc="-1" dirty="0">
              <a:latin typeface="Courier New" panose="02070309020205020404" pitchFamily="49" charset="0"/>
              <a:cs typeface="Courier New" panose="02070309020205020404" pitchFamily="49" charset="0"/>
            </a:endParaRPr>
          </a:p>
          <a:p>
            <a:pPr marL="108000">
              <a:spcAft>
                <a:spcPts val="1060"/>
              </a:spcAft>
              <a:buClr>
                <a:srgbClr val="000000"/>
              </a:buClr>
              <a:buSzPct val="45000"/>
            </a:pPr>
            <a:r>
              <a:rPr lang="fr-FR" b="1" spc="-1" dirty="0">
                <a:latin typeface="Courier New" panose="02070309020205020404" pitchFamily="49" charset="0"/>
                <a:cs typeface="Courier New" panose="02070309020205020404" pitchFamily="49" charset="0"/>
              </a:rPr>
              <a:t>S’</a:t>
            </a:r>
            <a:r>
              <a:rPr lang="fr-FR" spc="-1" dirty="0">
                <a:latin typeface="Courier New" panose="02070309020205020404" pitchFamily="49" charset="0"/>
                <a:cs typeface="Courier New" panose="02070309020205020404" pitchFamily="49" charset="0"/>
              </a:rPr>
              <a:t>il ne fait pas beau </a:t>
            </a:r>
            <a:r>
              <a:rPr lang="fr-FR" b="1" spc="-1" dirty="0">
                <a:latin typeface="Courier New" panose="02070309020205020404" pitchFamily="49" charset="0"/>
                <a:cs typeface="Courier New" panose="02070309020205020404" pitchFamily="49" charset="0"/>
              </a:rPr>
              <a:t>ou</a:t>
            </a:r>
            <a:r>
              <a:rPr lang="fr-FR" spc="-1" dirty="0">
                <a:latin typeface="Courier New" panose="02070309020205020404" pitchFamily="49" charset="0"/>
                <a:cs typeface="Courier New" panose="02070309020205020404" pitchFamily="49" charset="0"/>
              </a:rPr>
              <a:t> qu’il ne fait pas chaud </a:t>
            </a:r>
            <a:r>
              <a:rPr lang="fr-FR" b="1" spc="-1" dirty="0">
                <a:latin typeface="Courier New" panose="02070309020205020404" pitchFamily="49" charset="0"/>
                <a:cs typeface="Courier New" panose="02070309020205020404" pitchFamily="49" charset="0"/>
              </a:rPr>
              <a:t>alors</a:t>
            </a:r>
          </a:p>
          <a:p>
            <a:pPr marL="108000">
              <a:spcAft>
                <a:spcPts val="1060"/>
              </a:spcAft>
              <a:buClr>
                <a:srgbClr val="000000"/>
              </a:buClr>
              <a:buSzPct val="45000"/>
            </a:pPr>
            <a:r>
              <a:rPr lang="fr-FR" b="0" strike="noStrike" spc="-1" dirty="0">
                <a:latin typeface="Courier New" panose="02070309020205020404" pitchFamily="49" charset="0"/>
                <a:cs typeface="Courier New" panose="02070309020205020404" pitchFamily="49" charset="0"/>
              </a:rPr>
              <a:t>	</a:t>
            </a:r>
            <a:r>
              <a:rPr lang="fr-FR" spc="-1" dirty="0">
                <a:latin typeface="Courier New" panose="02070309020205020404" pitchFamily="49" charset="0"/>
                <a:cs typeface="Courier New" panose="02070309020205020404" pitchFamily="49" charset="0"/>
              </a:rPr>
              <a:t>Je prends un parapluie</a:t>
            </a:r>
          </a:p>
          <a:p>
            <a:pPr marL="108000">
              <a:spcAft>
                <a:spcPts val="1060"/>
              </a:spcAft>
              <a:buClr>
                <a:srgbClr val="000000"/>
              </a:buClr>
              <a:buSzPct val="45000"/>
            </a:pPr>
            <a:r>
              <a:rPr lang="fr-FR" b="1" strike="noStrike" spc="-1" dirty="0">
                <a:latin typeface="Courier New" panose="02070309020205020404" pitchFamily="49" charset="0"/>
                <a:cs typeface="Courier New" panose="02070309020205020404" pitchFamily="49" charset="0"/>
              </a:rPr>
              <a:t>Sinon</a:t>
            </a:r>
          </a:p>
          <a:p>
            <a:pPr marL="108000">
              <a:spcAft>
                <a:spcPts val="1060"/>
              </a:spcAft>
              <a:buClr>
                <a:srgbClr val="000000"/>
              </a:buClr>
              <a:buSzPct val="45000"/>
            </a:pPr>
            <a:r>
              <a:rPr lang="fr-FR" b="0" strike="noStrike" spc="-1" dirty="0">
                <a:latin typeface="Courier New" panose="02070309020205020404" pitchFamily="49" charset="0"/>
                <a:cs typeface="Courier New" panose="02070309020205020404" pitchFamily="49" charset="0"/>
              </a:rPr>
              <a:t>	Je mets une casquette</a:t>
            </a:r>
          </a:p>
          <a:p>
            <a:pPr marL="108000">
              <a:spcAft>
                <a:spcPts val="1060"/>
              </a:spcAft>
              <a:buClr>
                <a:srgbClr val="000000"/>
              </a:buClr>
              <a:buSzPct val="45000"/>
            </a:pPr>
            <a:r>
              <a:rPr lang="fr-FR" b="1" strike="noStrike" spc="-1" dirty="0" err="1">
                <a:latin typeface="Courier New" panose="02070309020205020404" pitchFamily="49" charset="0"/>
                <a:cs typeface="Courier New" panose="02070309020205020404" pitchFamily="49" charset="0"/>
              </a:rPr>
              <a:t>Fsi</a:t>
            </a:r>
            <a:endParaRPr lang="fr-FR" b="1" strike="noStrike" spc="-1" dirty="0">
              <a:latin typeface="Courier New" panose="02070309020205020404" pitchFamily="49" charset="0"/>
              <a:cs typeface="Courier New" panose="02070309020205020404" pitchFamily="49" charset="0"/>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763057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loi de De Morgan:</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3" name="AutoShape 2" descr="\mathbb {N} ">
            <a:extLst>
              <a:ext uri="{FF2B5EF4-FFF2-40B4-BE49-F238E27FC236}">
                <a16:creationId xmlns:a16="http://schemas.microsoft.com/office/drawing/2014/main" id="{5683ECBD-29C6-41B0-A0CC-C50D1395AF63}"/>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8" name="TextShape 2">
            <a:extLst>
              <a:ext uri="{FF2B5EF4-FFF2-40B4-BE49-F238E27FC236}">
                <a16:creationId xmlns:a16="http://schemas.microsoft.com/office/drawing/2014/main" id="{7CF06D2E-7795-416E-B5F9-D7CB137BDCC0}"/>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Cas 1 :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Cas 2 :</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graphicFrame>
        <p:nvGraphicFramePr>
          <p:cNvPr id="9" name="Tableau 2">
            <a:extLst>
              <a:ext uri="{FF2B5EF4-FFF2-40B4-BE49-F238E27FC236}">
                <a16:creationId xmlns:a16="http://schemas.microsoft.com/office/drawing/2014/main" id="{CD0A3BE2-7283-4F96-9F98-02610D193C75}"/>
              </a:ext>
            </a:extLst>
          </p:cNvPr>
          <p:cNvGraphicFramePr>
            <a:graphicFrameLocks noGrp="1"/>
          </p:cNvGraphicFramePr>
          <p:nvPr>
            <p:extLst>
              <p:ext uri="{D42A27DB-BD31-4B8C-83A1-F6EECF244321}">
                <p14:modId xmlns:p14="http://schemas.microsoft.com/office/powerpoint/2010/main" val="202097218"/>
              </p:ext>
            </p:extLst>
          </p:nvPr>
        </p:nvGraphicFramePr>
        <p:xfrm>
          <a:off x="1905740" y="1602419"/>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62134916"/>
                    </a:ext>
                  </a:extLst>
                </a:gridCol>
                <a:gridCol w="2032000">
                  <a:extLst>
                    <a:ext uri="{9D8B030D-6E8A-4147-A177-3AD203B41FA5}">
                      <a16:colId xmlns:a16="http://schemas.microsoft.com/office/drawing/2014/main" val="3862992728"/>
                    </a:ext>
                  </a:extLst>
                </a:gridCol>
                <a:gridCol w="2032000">
                  <a:extLst>
                    <a:ext uri="{9D8B030D-6E8A-4147-A177-3AD203B41FA5}">
                      <a16:colId xmlns:a16="http://schemas.microsoft.com/office/drawing/2014/main" val="293047934"/>
                    </a:ext>
                  </a:extLst>
                </a:gridCol>
              </a:tblGrid>
              <a:tr h="370840">
                <a:tc>
                  <a:txBody>
                    <a:bodyPr/>
                    <a:lstStyle/>
                    <a:p>
                      <a:r>
                        <a:rPr lang="fr-FR" dirty="0"/>
                        <a:t>Il fait beau</a:t>
                      </a:r>
                    </a:p>
                  </a:txBody>
                  <a:tcPr/>
                </a:tc>
                <a:tc>
                  <a:txBody>
                    <a:bodyPr/>
                    <a:lstStyle/>
                    <a:p>
                      <a:r>
                        <a:rPr lang="fr-FR" dirty="0"/>
                        <a:t>Il fait Chaud</a:t>
                      </a:r>
                    </a:p>
                  </a:txBody>
                  <a:tcPr/>
                </a:tc>
                <a:tc>
                  <a:txBody>
                    <a:bodyPr/>
                    <a:lstStyle/>
                    <a:p>
                      <a:r>
                        <a:rPr lang="fr-FR" dirty="0"/>
                        <a:t>Test</a:t>
                      </a:r>
                    </a:p>
                  </a:txBody>
                  <a:tcPr/>
                </a:tc>
                <a:extLst>
                  <a:ext uri="{0D108BD9-81ED-4DB2-BD59-A6C34878D82A}">
                    <a16:rowId xmlns:a16="http://schemas.microsoft.com/office/drawing/2014/main" val="1027532719"/>
                  </a:ext>
                </a:extLst>
              </a:tr>
              <a:tr h="370840">
                <a:tc>
                  <a:txBody>
                    <a:bodyPr/>
                    <a:lstStyle/>
                    <a:p>
                      <a:r>
                        <a:rPr lang="fr-FR" dirty="0"/>
                        <a:t>Vrai</a:t>
                      </a:r>
                    </a:p>
                  </a:txBody>
                  <a:tcPr/>
                </a:tc>
                <a:tc>
                  <a:txBody>
                    <a:bodyPr/>
                    <a:lstStyle/>
                    <a:p>
                      <a:r>
                        <a:rPr lang="fr-FR" dirty="0"/>
                        <a:t>Vrai</a:t>
                      </a:r>
                    </a:p>
                  </a:txBody>
                  <a:tcPr/>
                </a:tc>
                <a:tc>
                  <a:txBody>
                    <a:bodyPr/>
                    <a:lstStyle/>
                    <a:p>
                      <a:r>
                        <a:rPr lang="fr-FR" dirty="0"/>
                        <a:t>Casquette</a:t>
                      </a:r>
                    </a:p>
                  </a:txBody>
                  <a:tcPr/>
                </a:tc>
                <a:extLst>
                  <a:ext uri="{0D108BD9-81ED-4DB2-BD59-A6C34878D82A}">
                    <a16:rowId xmlns:a16="http://schemas.microsoft.com/office/drawing/2014/main" val="4173972857"/>
                  </a:ext>
                </a:extLst>
              </a:tr>
              <a:tr h="370840">
                <a:tc>
                  <a:txBody>
                    <a:bodyPr/>
                    <a:lstStyle/>
                    <a:p>
                      <a:r>
                        <a:rPr lang="fr-FR" dirty="0"/>
                        <a:t>Vrai</a:t>
                      </a:r>
                    </a:p>
                  </a:txBody>
                  <a:tcPr/>
                </a:tc>
                <a:tc>
                  <a:txBody>
                    <a:bodyPr/>
                    <a:lstStyle/>
                    <a:p>
                      <a:r>
                        <a:rPr lang="fr-FR" dirty="0"/>
                        <a:t>Faux</a:t>
                      </a:r>
                    </a:p>
                  </a:txBody>
                  <a:tcPr/>
                </a:tc>
                <a:tc>
                  <a:txBody>
                    <a:bodyPr/>
                    <a:lstStyle/>
                    <a:p>
                      <a:r>
                        <a:rPr lang="fr-FR" dirty="0"/>
                        <a:t>Parapluie</a:t>
                      </a:r>
                    </a:p>
                  </a:txBody>
                  <a:tcPr/>
                </a:tc>
                <a:extLst>
                  <a:ext uri="{0D108BD9-81ED-4DB2-BD59-A6C34878D82A}">
                    <a16:rowId xmlns:a16="http://schemas.microsoft.com/office/drawing/2014/main" val="1225262797"/>
                  </a:ext>
                </a:extLst>
              </a:tr>
              <a:tr h="370840">
                <a:tc>
                  <a:txBody>
                    <a:bodyPr/>
                    <a:lstStyle/>
                    <a:p>
                      <a:r>
                        <a:rPr lang="fr-FR" dirty="0"/>
                        <a:t>Faux</a:t>
                      </a:r>
                    </a:p>
                  </a:txBody>
                  <a:tcPr/>
                </a:tc>
                <a:tc>
                  <a:txBody>
                    <a:bodyPr/>
                    <a:lstStyle/>
                    <a:p>
                      <a:r>
                        <a:rPr lang="fr-FR" dirty="0"/>
                        <a:t>Vrai</a:t>
                      </a:r>
                    </a:p>
                  </a:txBody>
                  <a:tcPr/>
                </a:tc>
                <a:tc>
                  <a:txBody>
                    <a:bodyPr/>
                    <a:lstStyle/>
                    <a:p>
                      <a:r>
                        <a:rPr lang="fr-FR" dirty="0"/>
                        <a:t>Parapluie</a:t>
                      </a:r>
                    </a:p>
                  </a:txBody>
                  <a:tcPr/>
                </a:tc>
                <a:extLst>
                  <a:ext uri="{0D108BD9-81ED-4DB2-BD59-A6C34878D82A}">
                    <a16:rowId xmlns:a16="http://schemas.microsoft.com/office/drawing/2014/main" val="1332704930"/>
                  </a:ext>
                </a:extLst>
              </a:tr>
              <a:tr h="370840">
                <a:tc>
                  <a:txBody>
                    <a:bodyPr/>
                    <a:lstStyle/>
                    <a:p>
                      <a:r>
                        <a:rPr lang="fr-FR" dirty="0"/>
                        <a:t>Faux</a:t>
                      </a:r>
                    </a:p>
                  </a:txBody>
                  <a:tcPr/>
                </a:tc>
                <a:tc>
                  <a:txBody>
                    <a:bodyPr/>
                    <a:lstStyle/>
                    <a:p>
                      <a:r>
                        <a:rPr lang="fr-FR" dirty="0"/>
                        <a:t>Faux</a:t>
                      </a:r>
                    </a:p>
                  </a:txBody>
                  <a:tcPr/>
                </a:tc>
                <a:tc>
                  <a:txBody>
                    <a:bodyPr/>
                    <a:lstStyle/>
                    <a:p>
                      <a:r>
                        <a:rPr lang="fr-FR" dirty="0"/>
                        <a:t>Parapluie</a:t>
                      </a:r>
                    </a:p>
                  </a:txBody>
                  <a:tcPr/>
                </a:tc>
                <a:extLst>
                  <a:ext uri="{0D108BD9-81ED-4DB2-BD59-A6C34878D82A}">
                    <a16:rowId xmlns:a16="http://schemas.microsoft.com/office/drawing/2014/main" val="3403033925"/>
                  </a:ext>
                </a:extLst>
              </a:tr>
            </a:tbl>
          </a:graphicData>
        </a:graphic>
      </p:graphicFrame>
      <p:graphicFrame>
        <p:nvGraphicFramePr>
          <p:cNvPr id="10" name="Tableau 9">
            <a:extLst>
              <a:ext uri="{FF2B5EF4-FFF2-40B4-BE49-F238E27FC236}">
                <a16:creationId xmlns:a16="http://schemas.microsoft.com/office/drawing/2014/main" id="{A8FEB16B-26A1-469A-AA08-41EC3D2911B4}"/>
              </a:ext>
            </a:extLst>
          </p:cNvPr>
          <p:cNvGraphicFramePr>
            <a:graphicFrameLocks noGrp="1"/>
          </p:cNvGraphicFramePr>
          <p:nvPr>
            <p:extLst>
              <p:ext uri="{D42A27DB-BD31-4B8C-83A1-F6EECF244321}">
                <p14:modId xmlns:p14="http://schemas.microsoft.com/office/powerpoint/2010/main" val="2510886152"/>
              </p:ext>
            </p:extLst>
          </p:nvPr>
        </p:nvGraphicFramePr>
        <p:xfrm>
          <a:off x="1905740" y="3697633"/>
          <a:ext cx="6096000" cy="1854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62134916"/>
                    </a:ext>
                  </a:extLst>
                </a:gridCol>
                <a:gridCol w="2032000">
                  <a:extLst>
                    <a:ext uri="{9D8B030D-6E8A-4147-A177-3AD203B41FA5}">
                      <a16:colId xmlns:a16="http://schemas.microsoft.com/office/drawing/2014/main" val="3862992728"/>
                    </a:ext>
                  </a:extLst>
                </a:gridCol>
                <a:gridCol w="2032000">
                  <a:extLst>
                    <a:ext uri="{9D8B030D-6E8A-4147-A177-3AD203B41FA5}">
                      <a16:colId xmlns:a16="http://schemas.microsoft.com/office/drawing/2014/main" val="293047934"/>
                    </a:ext>
                  </a:extLst>
                </a:gridCol>
              </a:tblGrid>
              <a:tr h="370840">
                <a:tc>
                  <a:txBody>
                    <a:bodyPr/>
                    <a:lstStyle/>
                    <a:p>
                      <a:r>
                        <a:rPr lang="fr-FR" dirty="0"/>
                        <a:t>Il fait beau</a:t>
                      </a:r>
                    </a:p>
                  </a:txBody>
                  <a:tcPr/>
                </a:tc>
                <a:tc>
                  <a:txBody>
                    <a:bodyPr/>
                    <a:lstStyle/>
                    <a:p>
                      <a:r>
                        <a:rPr lang="fr-FR" dirty="0"/>
                        <a:t>Il fait Chaud</a:t>
                      </a:r>
                    </a:p>
                  </a:txBody>
                  <a:tcPr/>
                </a:tc>
                <a:tc>
                  <a:txBody>
                    <a:bodyPr/>
                    <a:lstStyle/>
                    <a:p>
                      <a:r>
                        <a:rPr lang="fr-FR" dirty="0"/>
                        <a:t>Test</a:t>
                      </a:r>
                    </a:p>
                  </a:txBody>
                  <a:tcPr/>
                </a:tc>
                <a:extLst>
                  <a:ext uri="{0D108BD9-81ED-4DB2-BD59-A6C34878D82A}">
                    <a16:rowId xmlns:a16="http://schemas.microsoft.com/office/drawing/2014/main" val="1027532719"/>
                  </a:ext>
                </a:extLst>
              </a:tr>
              <a:tr h="370840">
                <a:tc>
                  <a:txBody>
                    <a:bodyPr/>
                    <a:lstStyle/>
                    <a:p>
                      <a:r>
                        <a:rPr lang="fr-FR" dirty="0"/>
                        <a:t>Vrai</a:t>
                      </a:r>
                    </a:p>
                  </a:txBody>
                  <a:tcPr/>
                </a:tc>
                <a:tc>
                  <a:txBody>
                    <a:bodyPr/>
                    <a:lstStyle/>
                    <a:p>
                      <a:r>
                        <a:rPr lang="fr-FR" dirty="0"/>
                        <a:t>Vrai</a:t>
                      </a:r>
                    </a:p>
                  </a:txBody>
                  <a:tcPr/>
                </a:tc>
                <a:tc>
                  <a:txBody>
                    <a:bodyPr/>
                    <a:lstStyle/>
                    <a:p>
                      <a:r>
                        <a:rPr lang="fr-FR" dirty="0"/>
                        <a:t>Casquette</a:t>
                      </a:r>
                    </a:p>
                  </a:txBody>
                  <a:tcPr/>
                </a:tc>
                <a:extLst>
                  <a:ext uri="{0D108BD9-81ED-4DB2-BD59-A6C34878D82A}">
                    <a16:rowId xmlns:a16="http://schemas.microsoft.com/office/drawing/2014/main" val="4173972857"/>
                  </a:ext>
                </a:extLst>
              </a:tr>
              <a:tr h="370840">
                <a:tc>
                  <a:txBody>
                    <a:bodyPr/>
                    <a:lstStyle/>
                    <a:p>
                      <a:r>
                        <a:rPr lang="fr-FR" dirty="0"/>
                        <a:t>Vrai</a:t>
                      </a:r>
                    </a:p>
                  </a:txBody>
                  <a:tcPr/>
                </a:tc>
                <a:tc>
                  <a:txBody>
                    <a:bodyPr/>
                    <a:lstStyle/>
                    <a:p>
                      <a:r>
                        <a:rPr lang="fr-FR" dirty="0"/>
                        <a:t>Faux</a:t>
                      </a:r>
                    </a:p>
                  </a:txBody>
                  <a:tcPr/>
                </a:tc>
                <a:tc>
                  <a:txBody>
                    <a:bodyPr/>
                    <a:lstStyle/>
                    <a:p>
                      <a:r>
                        <a:rPr lang="fr-FR" dirty="0"/>
                        <a:t>Parapluie</a:t>
                      </a:r>
                    </a:p>
                  </a:txBody>
                  <a:tcPr/>
                </a:tc>
                <a:extLst>
                  <a:ext uri="{0D108BD9-81ED-4DB2-BD59-A6C34878D82A}">
                    <a16:rowId xmlns:a16="http://schemas.microsoft.com/office/drawing/2014/main" val="1225262797"/>
                  </a:ext>
                </a:extLst>
              </a:tr>
              <a:tr h="370840">
                <a:tc>
                  <a:txBody>
                    <a:bodyPr/>
                    <a:lstStyle/>
                    <a:p>
                      <a:r>
                        <a:rPr lang="fr-FR" dirty="0"/>
                        <a:t>Faux</a:t>
                      </a:r>
                    </a:p>
                  </a:txBody>
                  <a:tcPr/>
                </a:tc>
                <a:tc>
                  <a:txBody>
                    <a:bodyPr/>
                    <a:lstStyle/>
                    <a:p>
                      <a:r>
                        <a:rPr lang="fr-FR" dirty="0"/>
                        <a:t>Vrai</a:t>
                      </a:r>
                    </a:p>
                  </a:txBody>
                  <a:tcPr/>
                </a:tc>
                <a:tc>
                  <a:txBody>
                    <a:bodyPr/>
                    <a:lstStyle/>
                    <a:p>
                      <a:r>
                        <a:rPr lang="fr-FR" dirty="0"/>
                        <a:t>Parapluie</a:t>
                      </a:r>
                    </a:p>
                  </a:txBody>
                  <a:tcPr/>
                </a:tc>
                <a:extLst>
                  <a:ext uri="{0D108BD9-81ED-4DB2-BD59-A6C34878D82A}">
                    <a16:rowId xmlns:a16="http://schemas.microsoft.com/office/drawing/2014/main" val="1332704930"/>
                  </a:ext>
                </a:extLst>
              </a:tr>
              <a:tr h="370840">
                <a:tc>
                  <a:txBody>
                    <a:bodyPr/>
                    <a:lstStyle/>
                    <a:p>
                      <a:r>
                        <a:rPr lang="fr-FR" dirty="0"/>
                        <a:t>Faux</a:t>
                      </a:r>
                    </a:p>
                  </a:txBody>
                  <a:tcPr/>
                </a:tc>
                <a:tc>
                  <a:txBody>
                    <a:bodyPr/>
                    <a:lstStyle/>
                    <a:p>
                      <a:r>
                        <a:rPr lang="fr-FR" dirty="0"/>
                        <a:t>Faux</a:t>
                      </a:r>
                    </a:p>
                  </a:txBody>
                  <a:tcPr/>
                </a:tc>
                <a:tc>
                  <a:txBody>
                    <a:bodyPr/>
                    <a:lstStyle/>
                    <a:p>
                      <a:r>
                        <a:rPr lang="fr-FR" dirty="0"/>
                        <a:t>Parapluie</a:t>
                      </a:r>
                    </a:p>
                  </a:txBody>
                  <a:tcPr/>
                </a:tc>
                <a:extLst>
                  <a:ext uri="{0D108BD9-81ED-4DB2-BD59-A6C34878D82A}">
                    <a16:rowId xmlns:a16="http://schemas.microsoft.com/office/drawing/2014/main" val="3403033925"/>
                  </a:ext>
                </a:extLst>
              </a:tr>
            </a:tbl>
          </a:graphicData>
        </a:graphic>
      </p:graphicFrame>
    </p:spTree>
    <p:extLst>
      <p:ext uri="{BB962C8B-B14F-4D97-AF65-F5344CB8AC3E}">
        <p14:creationId xmlns:p14="http://schemas.microsoft.com/office/powerpoint/2010/main" val="427608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loi de De Morgan:</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 Il fait beau et il fait chaud » est la négation de « il ne fait pas beau ou il ne fait pas chaud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Il fait beau ET il fait chaud » = NON(NON(« il fait beau ») OU NON(« il fait chaud »))</a:t>
            </a:r>
          </a:p>
          <a:p>
            <a:pPr marL="108000">
              <a:spcAft>
                <a:spcPts val="1060"/>
              </a:spcAft>
              <a:buClr>
                <a:srgbClr val="000000"/>
              </a:buClr>
              <a:buSzPct val="45000"/>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Généralisation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NON(a OU b) = NON(a) ET NON(b)</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NON(a ET b) = NON(a) OU NON(b)</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94833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Algèbre de Boole – loi de De Morgan:</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voir que la loi de De Morgan peut nous aider dans le calcul des expressions booléennes.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allons démontrer les égalités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r>
                      <a:rPr lang="fr-FR" sz="2400" b="0" i="1" spc="-1" dirty="0" smtClean="0">
                        <a:solidFill>
                          <a:srgbClr val="376092"/>
                        </a:solidFill>
                        <a:latin typeface="Cambria Math" panose="02040503050406030204" pitchFamily="18" charset="0"/>
                      </a:rPr>
                      <m:t>=1 ?</m:t>
                    </m:r>
                  </m:oMath>
                </a14:m>
                <a:endParaRPr lang="fr-FR" sz="2400" b="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a:t>
                </a:r>
                <a14:m>
                  <m:oMath xmlns:m="http://schemas.openxmlformats.org/officeDocument/2006/math">
                    <m:acc>
                      <m:accPr>
                        <m:chr m:val="̅"/>
                        <m:ctrlPr>
                          <a:rPr lang="fr-FR" sz="2400" i="1" spc="-1" dirty="0" smtClean="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𝑎</m:t>
                        </m:r>
                      </m:e>
                    </m:acc>
                    <m:acc>
                      <m:accPr>
                        <m:chr m:val="̅"/>
                        <m:ctrlPr>
                          <a:rPr lang="fr-FR" sz="2400" i="1" spc="-1" dirty="0">
                            <a:solidFill>
                              <a:srgbClr val="376092"/>
                            </a:solidFill>
                            <a:latin typeface="Cambria Math" panose="02040503050406030204" pitchFamily="18" charset="0"/>
                          </a:rPr>
                        </m:ctrlPr>
                      </m:accPr>
                      <m:e>
                        <m:r>
                          <a:rPr lang="fr-FR" sz="2400" i="1" spc="-1" dirty="0">
                            <a:solidFill>
                              <a:srgbClr val="376092"/>
                            </a:solidFill>
                            <a:latin typeface="Cambria Math" panose="02040503050406030204" pitchFamily="18" charset="0"/>
                          </a:rPr>
                          <m:t>𝑏</m:t>
                        </m:r>
                      </m:e>
                    </m:acc>
                  </m:oMath>
                </a14:m>
                <a:r>
                  <a:rPr lang="fr-FR" sz="2400" spc="-1" dirty="0">
                    <a:solidFill>
                      <a:srgbClr val="376092"/>
                    </a:solidFill>
                    <a:latin typeface="Arial"/>
                  </a:rPr>
                  <a:t> = 0 ?</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mc:Choice>
        <mc:Fallback xmlns="">
          <p:sp>
            <p:nvSpPr>
              <p:cNvPr id="11" name="TextShape 2">
                <a:extLst>
                  <a:ext uri="{FF2B5EF4-FFF2-40B4-BE49-F238E27FC236}">
                    <a16:creationId xmlns:a16="http://schemas.microsoft.com/office/drawing/2014/main" id="{05B50A8E-ABF7-40DC-AD11-05801C86E017}"/>
                  </a:ext>
                </a:extLst>
              </p:cNvPr>
              <p:cNvSpPr txBox="1">
                <a:spLocks noRot="1" noChangeAspect="1" noMove="1" noResize="1" noEditPoints="1" noAdjustHandles="1" noChangeArrowheads="1" noChangeShapeType="1" noTextEdit="1"/>
              </p:cNvSpPr>
              <p:nvPr/>
            </p:nvSpPr>
            <p:spPr>
              <a:xfrm>
                <a:off x="457200" y="1600200"/>
                <a:ext cx="8229240" cy="4525560"/>
              </a:xfrm>
              <a:prstGeom prst="rect">
                <a:avLst/>
              </a:prstGeom>
              <a:blipFill>
                <a:blip r:embed="rId2"/>
                <a:stretch>
                  <a:fillRect t="-2022" r="-1778"/>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2969264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tableaux de Karnaugh permettent de représenter des expressions booléennes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Les tableaux permettent de simplifier les expressions et de trouver facilement si deux expressions sont équivalentes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Le principe est de représenter toutes les combinaisons possibles entre les variables booléennes sous forme de tableau : </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pic>
        <p:nvPicPr>
          <p:cNvPr id="3" name="Image 2">
            <a:extLst>
              <a:ext uri="{FF2B5EF4-FFF2-40B4-BE49-F238E27FC236}">
                <a16:creationId xmlns:a16="http://schemas.microsoft.com/office/drawing/2014/main" id="{EB7775B0-D021-47F5-860F-C47414674F8E}"/>
              </a:ext>
            </a:extLst>
          </p:cNvPr>
          <p:cNvPicPr>
            <a:picLocks noChangeAspect="1"/>
          </p:cNvPicPr>
          <p:nvPr/>
        </p:nvPicPr>
        <p:blipFill>
          <a:blip r:embed="rId2"/>
          <a:stretch>
            <a:fillRect/>
          </a:stretch>
        </p:blipFill>
        <p:spPr>
          <a:xfrm>
            <a:off x="3272847" y="4960649"/>
            <a:ext cx="2228850" cy="1019175"/>
          </a:xfrm>
          <a:prstGeom prst="rect">
            <a:avLst/>
          </a:prstGeom>
        </p:spPr>
      </p:pic>
    </p:spTree>
    <p:extLst>
      <p:ext uri="{BB962C8B-B14F-4D97-AF65-F5344CB8AC3E}">
        <p14:creationId xmlns:p14="http://schemas.microsoft.com/office/powerpoint/2010/main" val="22491609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 avec 2 variables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Un expression avec deux variables booléennes peut se représenter facilement dans le tableau de Karnaugh</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 ¬ a + b</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Je colorie la ligne correspondant à ¬ a et la colonne correspondant à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Sur le même principe essayons de représenter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 a + </a:t>
            </a:r>
            <a:r>
              <a:rPr lang="fr-FR" sz="2400" spc="-1" dirty="0" err="1">
                <a:solidFill>
                  <a:srgbClr val="376092"/>
                </a:solidFill>
                <a:latin typeface="Arial"/>
              </a:rPr>
              <a:t>a.b</a:t>
            </a: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a.b</a:t>
            </a:r>
            <a:r>
              <a:rPr lang="fr-FR" sz="2400" spc="-1" dirty="0">
                <a:solidFill>
                  <a:srgbClr val="376092"/>
                </a:solidFill>
                <a:latin typeface="Arial"/>
              </a:rPr>
              <a:t> + ¬ </a:t>
            </a:r>
            <a:r>
              <a:rPr lang="fr-FR" sz="2400" spc="-1" dirty="0" err="1">
                <a:solidFill>
                  <a:srgbClr val="376092"/>
                </a:solidFill>
                <a:latin typeface="Arial"/>
              </a:rPr>
              <a:t>a.b</a:t>
            </a:r>
            <a:r>
              <a:rPr lang="fr-FR" sz="2400" spc="-1" dirty="0">
                <a:solidFill>
                  <a:srgbClr val="376092"/>
                </a:solidFill>
                <a:latin typeface="Arial"/>
              </a:rPr>
              <a:t> + ¬ a. ¬ 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Que peut-on en déduire ?</a:t>
            </a: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pic>
        <p:nvPicPr>
          <p:cNvPr id="2" name="Image 1">
            <a:extLst>
              <a:ext uri="{FF2B5EF4-FFF2-40B4-BE49-F238E27FC236}">
                <a16:creationId xmlns:a16="http://schemas.microsoft.com/office/drawing/2014/main" id="{A56C605D-8A89-447E-B224-96AA687AB4BB}"/>
              </a:ext>
            </a:extLst>
          </p:cNvPr>
          <p:cNvPicPr>
            <a:picLocks noChangeAspect="1"/>
          </p:cNvPicPr>
          <p:nvPr/>
        </p:nvPicPr>
        <p:blipFill>
          <a:blip r:embed="rId2"/>
          <a:stretch>
            <a:fillRect/>
          </a:stretch>
        </p:blipFill>
        <p:spPr>
          <a:xfrm>
            <a:off x="3982893" y="2409825"/>
            <a:ext cx="2305050" cy="1019175"/>
          </a:xfrm>
          <a:prstGeom prst="rect">
            <a:avLst/>
          </a:prstGeom>
        </p:spPr>
      </p:pic>
    </p:spTree>
    <p:extLst>
      <p:ext uri="{BB962C8B-B14F-4D97-AF65-F5344CB8AC3E}">
        <p14:creationId xmlns:p14="http://schemas.microsoft.com/office/powerpoint/2010/main" val="2464687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 avec 2 variables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mc:AlternateContent xmlns:mc="http://schemas.openxmlformats.org/markup-compatibility/2006" xmlns:a14="http://schemas.microsoft.com/office/drawing/2010/main">
        <mc:Choice Requires="a14">
          <p:sp>
            <p:nvSpPr>
              <p:cNvPr id="11" name="TextShape 2">
                <a:extLst>
                  <a:ext uri="{FF2B5EF4-FFF2-40B4-BE49-F238E27FC236}">
                    <a16:creationId xmlns:a16="http://schemas.microsoft.com/office/drawing/2014/main" id="{05B50A8E-ABF7-40DC-AD11-05801C86E017}"/>
                  </a:ext>
                </a:extLst>
              </p:cNvPr>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tableaux de Karnaugh nous permettent de mettre en évidence des équivalences dans les expressions booléennes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ab = a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a(a + b) = a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i="1" spc="-1" smtClean="0">
                            <a:solidFill>
                              <a:srgbClr val="376092"/>
                            </a:solidFill>
                            <a:latin typeface="Cambria Math" panose="02040503050406030204" pitchFamily="18" charset="0"/>
                          </a:rPr>
                          <m:t>𝑎</m:t>
                        </m:r>
                      </m:e>
                    </m:acc>
                    <m:r>
                      <a:rPr lang="fr-FR" sz="2400" i="1" spc="-1" smtClean="0">
                        <a:solidFill>
                          <a:srgbClr val="376092"/>
                        </a:solidFill>
                        <a:latin typeface="Cambria Math" panose="02040503050406030204" pitchFamily="18" charset="0"/>
                      </a:rPr>
                      <m:t>𝑏</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𝑎</m:t>
                    </m:r>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𝑏</m:t>
                    </m:r>
                  </m:oMath>
                </a14:m>
                <a:r>
                  <a:rPr lang="fr-FR" sz="2400" b="0" spc="-1" dirty="0">
                    <a:solidFill>
                      <a:srgbClr val="376092"/>
                    </a:solidFill>
                    <a:latin typeface="Arial"/>
                  </a:rPr>
                  <a:t>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b).(a+ </a:t>
                </a:r>
                <a14:m>
                  <m:oMath xmlns:m="http://schemas.openxmlformats.org/officeDocument/2006/math">
                    <m:acc>
                      <m:accPr>
                        <m:chr m:val="̅"/>
                        <m:ctrlPr>
                          <a:rPr lang="fr-FR" sz="2400" i="1" spc="-1" smtClean="0">
                            <a:solidFill>
                              <a:srgbClr val="376092"/>
                            </a:solidFill>
                            <a:latin typeface="Cambria Math" panose="02040503050406030204" pitchFamily="18" charset="0"/>
                          </a:rPr>
                        </m:ctrlPr>
                      </m:accPr>
                      <m:e>
                        <m:r>
                          <a:rPr lang="fr-FR" sz="2400" b="0" i="1" spc="-1" smtClean="0">
                            <a:solidFill>
                              <a:srgbClr val="376092"/>
                            </a:solidFill>
                            <a:latin typeface="Cambria Math" panose="02040503050406030204" pitchFamily="18" charset="0"/>
                          </a:rPr>
                          <m:t>𝑏</m:t>
                        </m:r>
                      </m:e>
                    </m:acc>
                    <m:r>
                      <a:rPr lang="fr-FR" sz="2400" b="0" i="1" spc="-1" smtClean="0">
                        <a:solidFill>
                          <a:srgbClr val="376092"/>
                        </a:solidFill>
                        <a:latin typeface="Cambria Math" panose="02040503050406030204" pitchFamily="18" charset="0"/>
                      </a:rPr>
                      <m:t>)=</m:t>
                    </m:r>
                    <m:r>
                      <a:rPr lang="fr-FR" sz="2400" b="0" i="1" spc="-1" smtClean="0">
                        <a:solidFill>
                          <a:srgbClr val="376092"/>
                        </a:solidFill>
                        <a:latin typeface="Cambria Math" panose="02040503050406030204" pitchFamily="18" charset="0"/>
                      </a:rPr>
                      <m:t>𝑎</m:t>
                    </m:r>
                    <m:r>
                      <a:rPr lang="fr-FR" sz="2400" b="0" i="1" spc="-1" smtClean="0">
                        <a:solidFill>
                          <a:srgbClr val="376092"/>
                        </a:solidFill>
                        <a:latin typeface="Cambria Math" panose="02040503050406030204" pitchFamily="18" charset="0"/>
                      </a:rPr>
                      <m:t> ?</m:t>
                    </m:r>
                  </m:oMath>
                </a14:m>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Est-ce que l'on peut retrouver ces égalités si on utilise un cas concret derrière ces variables booléennes ?</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mc:Choice>
        <mc:Fallback xmlns="">
          <p:sp>
            <p:nvSpPr>
              <p:cNvPr id="11" name="TextShape 2">
                <a:extLst>
                  <a:ext uri="{FF2B5EF4-FFF2-40B4-BE49-F238E27FC236}">
                    <a16:creationId xmlns:a16="http://schemas.microsoft.com/office/drawing/2014/main" id="{05B50A8E-ABF7-40DC-AD11-05801C86E017}"/>
                  </a:ext>
                </a:extLst>
              </p:cNvPr>
              <p:cNvSpPr txBox="1">
                <a:spLocks noRot="1" noChangeAspect="1" noMove="1" noResize="1" noEditPoints="1" noAdjustHandles="1" noChangeArrowheads="1" noChangeShapeType="1" noTextEdit="1"/>
              </p:cNvSpPr>
              <p:nvPr/>
            </p:nvSpPr>
            <p:spPr>
              <a:xfrm>
                <a:off x="457200" y="1305018"/>
                <a:ext cx="8229240" cy="4820742"/>
              </a:xfrm>
              <a:prstGeom prst="rect">
                <a:avLst/>
              </a:prstGeom>
              <a:blipFill>
                <a:blip r:embed="rId2"/>
                <a:stretch>
                  <a:fillRect t="-1770" r="-2000"/>
                </a:stretch>
              </a:blipFill>
              <a:ln w="0">
                <a:noFill/>
              </a:ln>
            </p:spPr>
            <p:txBody>
              <a:bodyPr/>
              <a:lstStyle/>
              <a:p>
                <a:r>
                  <a:rPr lang="fr-FR">
                    <a:noFill/>
                  </a:rPr>
                  <a:t> </a:t>
                </a:r>
              </a:p>
            </p:txBody>
          </p:sp>
        </mc:Fallback>
      </mc:AlternateContent>
    </p:spTree>
    <p:extLst>
      <p:ext uri="{BB962C8B-B14F-4D97-AF65-F5344CB8AC3E}">
        <p14:creationId xmlns:p14="http://schemas.microsoft.com/office/powerpoint/2010/main" val="1427457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 avec 3 variables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Les tableaux de Karnaugh peuvent contenir plus de deux variables, cependant, il devient difficile de lire les tableaux de plus de 4 variables.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Nous gardons le même principe avec 3 variables en représentant tous les cas possibles :</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Avec 3 variables booléennes, on se retrouve avec 8 combinaisons différentes comme nous l’avions constaté avec la recherche des propriétés.</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pic>
        <p:nvPicPr>
          <p:cNvPr id="3" name="Image 2">
            <a:extLst>
              <a:ext uri="{FF2B5EF4-FFF2-40B4-BE49-F238E27FC236}">
                <a16:creationId xmlns:a16="http://schemas.microsoft.com/office/drawing/2014/main" id="{EAD82112-8A8D-4D06-9BA9-ACC9C9D1B49F}"/>
              </a:ext>
            </a:extLst>
          </p:cNvPr>
          <p:cNvPicPr>
            <a:picLocks noChangeAspect="1"/>
          </p:cNvPicPr>
          <p:nvPr/>
        </p:nvPicPr>
        <p:blipFill>
          <a:blip r:embed="rId2"/>
          <a:stretch>
            <a:fillRect/>
          </a:stretch>
        </p:blipFill>
        <p:spPr>
          <a:xfrm>
            <a:off x="2037484" y="3715389"/>
            <a:ext cx="4514850" cy="1019175"/>
          </a:xfrm>
          <a:prstGeom prst="rect">
            <a:avLst/>
          </a:prstGeom>
        </p:spPr>
      </p:pic>
    </p:spTree>
    <p:extLst>
      <p:ext uri="{BB962C8B-B14F-4D97-AF65-F5344CB8AC3E}">
        <p14:creationId xmlns:p14="http://schemas.microsoft.com/office/powerpoint/2010/main" val="3074127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 avec 3 variables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
        <p:nvSpPr>
          <p:cNvPr id="11" name="TextShape 2">
            <a:extLst>
              <a:ext uri="{FF2B5EF4-FFF2-40B4-BE49-F238E27FC236}">
                <a16:creationId xmlns:a16="http://schemas.microsoft.com/office/drawing/2014/main" id="{05B50A8E-ABF7-40DC-AD11-05801C86E017}"/>
              </a:ext>
            </a:extLst>
          </p:cNvPr>
          <p:cNvSpPr txBox="1"/>
          <p:nvPr/>
        </p:nvSpPr>
        <p:spPr>
          <a:xfrm>
            <a:off x="457200" y="1600200"/>
            <a:ext cx="8229240" cy="452556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Nous pouvons donc représenter dans le tableau des expressions à 3 variables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Exemple : </a:t>
            </a:r>
            <a:r>
              <a:rPr lang="fr-FR" sz="2400" spc="-1" dirty="0" err="1">
                <a:solidFill>
                  <a:srgbClr val="376092"/>
                </a:solidFill>
                <a:latin typeface="Arial"/>
              </a:rPr>
              <a:t>a.c.b</a:t>
            </a:r>
            <a:r>
              <a:rPr lang="fr-FR" sz="2400" spc="-1" dirty="0">
                <a:solidFill>
                  <a:srgbClr val="376092"/>
                </a:solidFill>
                <a:latin typeface="Arial"/>
              </a:rPr>
              <a:t> + </a:t>
            </a:r>
            <a:r>
              <a:rPr lang="fr-FR" sz="2400" spc="-1" dirty="0" err="1">
                <a:solidFill>
                  <a:srgbClr val="376092"/>
                </a:solidFill>
                <a:latin typeface="Arial"/>
              </a:rPr>
              <a:t>a.c</a:t>
            </a:r>
            <a:r>
              <a:rPr lang="fr-FR" sz="2400" spc="-1" dirty="0">
                <a:solidFill>
                  <a:srgbClr val="376092"/>
                </a:solidFill>
                <a:latin typeface="Arial"/>
              </a:rPr>
              <a:t>. ¬ b + ¬a. ¬</a:t>
            </a:r>
            <a:r>
              <a:rPr lang="fr-FR" sz="2400" spc="-1" dirty="0" err="1">
                <a:solidFill>
                  <a:srgbClr val="376092"/>
                </a:solidFill>
                <a:latin typeface="Arial"/>
              </a:rPr>
              <a:t>c.b</a:t>
            </a:r>
            <a:r>
              <a:rPr lang="fr-FR" sz="2400" spc="-1" dirty="0">
                <a:solidFill>
                  <a:srgbClr val="376092"/>
                </a:solidFill>
                <a:latin typeface="Arial"/>
              </a:rPr>
              <a:t> + ¬a. ¬c. ¬b</a:t>
            </a: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si nous pouvons simplifier cette expression en tentant de regrouper les cases.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Voyons si nous aurions pu retrouver cette simplification à partir de l’expression </a:t>
            </a:r>
            <a:r>
              <a:rPr lang="fr-FR" sz="2400" spc="-1">
                <a:solidFill>
                  <a:srgbClr val="376092"/>
                </a:solidFill>
                <a:latin typeface="Arial"/>
              </a:rPr>
              <a:t>de départ.</a:t>
            </a: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sz="2400" spc="-1" dirty="0">
              <a:solidFill>
                <a:srgbClr val="376092"/>
              </a:solidFill>
              <a:latin typeface="Arial"/>
            </a:endParaRPr>
          </a:p>
          <a:p>
            <a:pPr marL="108000">
              <a:spcAft>
                <a:spcPts val="1060"/>
              </a:spcAft>
              <a:buClr>
                <a:srgbClr val="000000"/>
              </a:buClr>
              <a:buSzPct val="45000"/>
            </a:pPr>
            <a:endParaRPr lang="fr-FR" b="0" strike="noStrike" spc="-1" dirty="0">
              <a:latin typeface="Courier New" panose="02070309020205020404" pitchFamily="49" charset="0"/>
              <a:cs typeface="Courier New" panose="02070309020205020404" pitchFamily="49" charset="0"/>
            </a:endParaRPr>
          </a:p>
        </p:txBody>
      </p:sp>
      <p:pic>
        <p:nvPicPr>
          <p:cNvPr id="2" name="Image 1">
            <a:extLst>
              <a:ext uri="{FF2B5EF4-FFF2-40B4-BE49-F238E27FC236}">
                <a16:creationId xmlns:a16="http://schemas.microsoft.com/office/drawing/2014/main" id="{4A66CA38-1BF3-492B-B0EC-B740AB48D9FC}"/>
              </a:ext>
            </a:extLst>
          </p:cNvPr>
          <p:cNvPicPr>
            <a:picLocks noChangeAspect="1"/>
          </p:cNvPicPr>
          <p:nvPr/>
        </p:nvPicPr>
        <p:blipFill>
          <a:blip r:embed="rId2"/>
          <a:stretch>
            <a:fillRect/>
          </a:stretch>
        </p:blipFill>
        <p:spPr>
          <a:xfrm>
            <a:off x="1982066" y="3002539"/>
            <a:ext cx="4514850" cy="1019175"/>
          </a:xfrm>
          <a:prstGeom prst="rect">
            <a:avLst/>
          </a:prstGeom>
        </p:spPr>
      </p:pic>
    </p:spTree>
    <p:extLst>
      <p:ext uri="{BB962C8B-B14F-4D97-AF65-F5344CB8AC3E}">
        <p14:creationId xmlns:p14="http://schemas.microsoft.com/office/powerpoint/2010/main" val="2318648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Shape 1"/>
          <p:cNvSpPr txBox="1"/>
          <p:nvPr/>
        </p:nvSpPr>
        <p:spPr>
          <a:xfrm>
            <a:off x="457200" y="274680"/>
            <a:ext cx="8229240" cy="1142640"/>
          </a:xfrm>
          <a:prstGeom prst="rect">
            <a:avLst/>
          </a:prstGeom>
          <a:noFill/>
          <a:ln w="0">
            <a:noFill/>
          </a:ln>
        </p:spPr>
        <p:txBody>
          <a:bodyPr lIns="0" tIns="0" rIns="0" bIns="0">
            <a:noAutofit/>
          </a:bodyPr>
          <a:lstStyle/>
          <a:p>
            <a:r>
              <a:rPr lang="fr-FR" sz="3200" spc="-1" dirty="0">
                <a:solidFill>
                  <a:srgbClr val="376092"/>
                </a:solidFill>
                <a:latin typeface="Arial"/>
              </a:rPr>
              <a:t>Tableau de Karnaugh – application :</a:t>
            </a:r>
            <a:endParaRPr lang="en-US" sz="3200" b="0" strike="noStrike" spc="-1" dirty="0">
              <a:solidFill>
                <a:srgbClr val="376092"/>
              </a:solidFill>
              <a:latin typeface="Arial"/>
            </a:endParaRPr>
          </a:p>
        </p:txBody>
      </p:sp>
      <p:sp>
        <p:nvSpPr>
          <p:cNvPr id="140" name="TextShape 2"/>
          <p:cNvSpPr txBox="1"/>
          <p:nvPr/>
        </p:nvSpPr>
        <p:spPr>
          <a:xfrm>
            <a:off x="457200" y="1305018"/>
            <a:ext cx="8229240" cy="4820742"/>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spc="-1" dirty="0">
                <a:solidFill>
                  <a:srgbClr val="376092"/>
                </a:solidFill>
                <a:latin typeface="Arial"/>
              </a:rPr>
              <a:t>Représenter dans un tableau de Karnaugh les expressions booléennes suivantes (a, b et c)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Non (b) + </a:t>
            </a:r>
            <a:r>
              <a:rPr lang="fr-FR" sz="2400" spc="-1" dirty="0" err="1">
                <a:solidFill>
                  <a:srgbClr val="376092"/>
                </a:solidFill>
                <a:latin typeface="Arial"/>
              </a:rPr>
              <a:t>a.non</a:t>
            </a:r>
            <a:r>
              <a:rPr lang="fr-FR" sz="2400" spc="-1" dirty="0">
                <a:solidFill>
                  <a:srgbClr val="376092"/>
                </a:solidFill>
                <a:latin typeface="Arial"/>
              </a:rPr>
              <a:t>(b).non(c) + non(a).non(c).non(b)</a:t>
            </a:r>
          </a:p>
          <a:p>
            <a:pPr marL="889200" lvl="1" indent="-324000">
              <a:spcAft>
                <a:spcPts val="1060"/>
              </a:spcAft>
              <a:buClr>
                <a:srgbClr val="000000"/>
              </a:buClr>
              <a:buSzPct val="45000"/>
              <a:buFont typeface="Wingdings" charset="2"/>
              <a:buChar char=""/>
            </a:pPr>
            <a:r>
              <a:rPr lang="fr-FR" sz="2400" spc="-1" dirty="0" err="1">
                <a:solidFill>
                  <a:srgbClr val="376092"/>
                </a:solidFill>
                <a:latin typeface="Arial"/>
              </a:rPr>
              <a:t>a.b</a:t>
            </a:r>
            <a:r>
              <a:rPr lang="fr-FR" sz="2400" spc="-1" dirty="0">
                <a:solidFill>
                  <a:srgbClr val="376092"/>
                </a:solidFill>
                <a:latin typeface="Arial"/>
              </a:rPr>
              <a:t> + non(a).non(b)</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partir du tableau donner la négation des expressions booléennes ci-dessus.</a:t>
            </a:r>
          </a:p>
          <a:p>
            <a:pPr marL="432000" indent="-324000">
              <a:spcAft>
                <a:spcPts val="1060"/>
              </a:spcAft>
              <a:buClr>
                <a:srgbClr val="000000"/>
              </a:buClr>
              <a:buSzPct val="45000"/>
              <a:buFont typeface="Wingdings" charset="2"/>
              <a:buChar char=""/>
            </a:pPr>
            <a:r>
              <a:rPr lang="fr-FR" sz="2400" spc="-1" dirty="0">
                <a:solidFill>
                  <a:srgbClr val="376092"/>
                </a:solidFill>
                <a:latin typeface="Arial"/>
              </a:rPr>
              <a:t>A l'aide d'un tableau de Karnaugh, simplifier les expressions booléennes suivantes :</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non(a).b</a:t>
            </a:r>
          </a:p>
          <a:p>
            <a:pPr marL="889200" lvl="1" indent="-324000">
              <a:spcAft>
                <a:spcPts val="1060"/>
              </a:spcAft>
              <a:buClr>
                <a:srgbClr val="000000"/>
              </a:buClr>
              <a:buSzPct val="45000"/>
              <a:buFont typeface="Wingdings" charset="2"/>
              <a:buChar char=""/>
            </a:pPr>
            <a:r>
              <a:rPr lang="fr-FR" sz="2400" spc="-1" dirty="0">
                <a:solidFill>
                  <a:srgbClr val="376092"/>
                </a:solidFill>
                <a:latin typeface="Arial"/>
              </a:rPr>
              <a:t>a + b + non(a).non(b)</a:t>
            </a: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889200" lvl="1"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endParaRPr lang="fr-FR" sz="2400" b="0" strike="noStrike" spc="-1" dirty="0">
              <a:solidFill>
                <a:srgbClr val="376092"/>
              </a:solidFill>
              <a:latin typeface="Arial"/>
            </a:endParaRPr>
          </a:p>
          <a:p>
            <a:pPr marL="432000" indent="-324000" algn="r">
              <a:spcAft>
                <a:spcPts val="1060"/>
              </a:spcAft>
              <a:buClr>
                <a:srgbClr val="000000"/>
              </a:buClr>
              <a:buSzPct val="45000"/>
              <a:buFont typeface="Wingdings" charset="2"/>
              <a:buChar char=""/>
            </a:pPr>
            <a:endParaRPr lang="fr-FR" sz="2400" b="0" strike="noStrike" spc="-1" dirty="0">
              <a:solidFill>
                <a:srgbClr val="376092"/>
              </a:solidFill>
              <a:latin typeface="Arial"/>
            </a:endParaRPr>
          </a:p>
        </p:txBody>
      </p:sp>
    </p:spTree>
    <p:extLst>
      <p:ext uri="{BB962C8B-B14F-4D97-AF65-F5344CB8AC3E}">
        <p14:creationId xmlns:p14="http://schemas.microsoft.com/office/powerpoint/2010/main" val="10495309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TextShape 1"/>
          <p:cNvSpPr txBox="1"/>
          <p:nvPr/>
        </p:nvSpPr>
        <p:spPr>
          <a:xfrm>
            <a:off x="457200" y="274680"/>
            <a:ext cx="8229240" cy="1142640"/>
          </a:xfrm>
          <a:prstGeom prst="rect">
            <a:avLst/>
          </a:prstGeom>
          <a:noFill/>
          <a:ln w="0">
            <a:noFill/>
          </a:ln>
        </p:spPr>
        <p:txBody>
          <a:bodyPr lIns="0" tIns="0" rIns="0" bIns="0">
            <a:noAutofit/>
          </a:bodyPr>
          <a:lstStyle/>
          <a:p>
            <a:r>
              <a:rPr lang="fr-FR" sz="3200" b="0" strike="noStrike" spc="-1">
                <a:solidFill>
                  <a:srgbClr val="376092"/>
                </a:solidFill>
                <a:latin typeface="Arial"/>
              </a:rPr>
              <a:t>Bilan de la journée</a:t>
            </a:r>
            <a:endParaRPr lang="en-US" sz="3200" b="0" strike="noStrike" spc="-1">
              <a:solidFill>
                <a:srgbClr val="376092"/>
              </a:solidFill>
              <a:latin typeface="Arial"/>
            </a:endParaRPr>
          </a:p>
        </p:txBody>
      </p:sp>
      <p:sp>
        <p:nvSpPr>
          <p:cNvPr id="186" name="TextShape 2"/>
          <p:cNvSpPr txBox="1"/>
          <p:nvPr/>
        </p:nvSpPr>
        <p:spPr>
          <a:xfrm>
            <a:off x="457200" y="1600200"/>
            <a:ext cx="8229240" cy="5253840"/>
          </a:xfrm>
          <a:prstGeom prst="rect">
            <a:avLst/>
          </a:prstGeom>
          <a:noFill/>
          <a:ln w="0">
            <a:noFill/>
          </a:ln>
        </p:spPr>
        <p:txBody>
          <a:bodyPr lIns="0" tIns="0" rIns="0" bIns="0">
            <a:noAutofit/>
          </a:bodyPr>
          <a:lstStyle/>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Résumé des notions abordées.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Questions.</a:t>
            </a:r>
            <a:endParaRPr lang="en-US" sz="2400" b="0" strike="noStrike" spc="-1" dirty="0">
              <a:solidFill>
                <a:srgbClr val="376092"/>
              </a:solidFill>
              <a:latin typeface="Arial"/>
            </a:endParaRPr>
          </a:p>
          <a:p>
            <a:pPr marL="432000" indent="-324000">
              <a:spcAft>
                <a:spcPts val="1060"/>
              </a:spcAft>
              <a:buClr>
                <a:srgbClr val="000000"/>
              </a:buClr>
              <a:buSzPct val="45000"/>
              <a:buFont typeface="Wingdings" charset="2"/>
              <a:buChar char=""/>
            </a:pPr>
            <a:r>
              <a:rPr lang="fr-FR" sz="2400" b="0" strike="noStrike" spc="-1" dirty="0">
                <a:solidFill>
                  <a:srgbClr val="376092"/>
                </a:solidFill>
                <a:latin typeface="Arial"/>
              </a:rPr>
              <a:t>Difficultés particulières ?</a:t>
            </a:r>
            <a:endParaRPr lang="en-US" sz="2400" b="0" strike="noStrike" spc="-1" dirty="0">
              <a:solidFill>
                <a:srgbClr val="376092"/>
              </a:solidFill>
              <a:latin typeface="Arial"/>
            </a:endParaRPr>
          </a:p>
          <a:p>
            <a:pPr marL="1022400" lvl="2">
              <a:spcAft>
                <a:spcPts val="1060"/>
              </a:spcAft>
              <a:buClr>
                <a:srgbClr val="000000"/>
              </a:buClr>
              <a:buSzPct val="45000"/>
            </a:pPr>
            <a:r>
              <a:rPr lang="fr-FR" sz="2400" spc="-1" dirty="0">
                <a:solidFill>
                  <a:srgbClr val="376092"/>
                </a:solidFill>
                <a:latin typeface="Arial"/>
              </a:rPr>
              <a:t>				</a:t>
            </a:r>
            <a:endParaRPr lang="en-US" sz="2400" b="0" strike="noStrike" spc="-1" dirty="0">
              <a:solidFill>
                <a:srgbClr val="376092"/>
              </a:solidFill>
              <a:latin typeface="Arial"/>
            </a:endParaRPr>
          </a:p>
          <a:p>
            <a:pPr marL="1296000" lvl="2" indent="-288000">
              <a:spcAft>
                <a:spcPts val="850"/>
              </a:spcAft>
              <a:buClr>
                <a:srgbClr val="000000"/>
              </a:buClr>
              <a:buSzPct val="75000"/>
              <a:buFont typeface="Symbol" charset="2"/>
              <a:buChar char=""/>
            </a:pPr>
            <a:endParaRPr lang="en-US" sz="2400" b="0" strike="noStrike" spc="-1" dirty="0">
              <a:solidFill>
                <a:srgbClr val="37609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6863</TotalTime>
  <Words>4363</Words>
  <Application>Microsoft Office PowerPoint</Application>
  <PresentationFormat>Affichage à l'écran (4:3)</PresentationFormat>
  <Paragraphs>997</Paragraphs>
  <Slides>53</Slides>
  <Notes>0</Notes>
  <HiddenSlides>0</HiddenSlides>
  <MMClips>0</MMClips>
  <ScaleCrop>false</ScaleCrop>
  <HeadingPairs>
    <vt:vector size="8" baseType="variant">
      <vt:variant>
        <vt:lpstr>Polices utilisées</vt:lpstr>
      </vt:variant>
      <vt:variant>
        <vt:i4>7</vt:i4>
      </vt:variant>
      <vt:variant>
        <vt:lpstr>Thème</vt:lpstr>
      </vt:variant>
      <vt:variant>
        <vt:i4>3</vt:i4>
      </vt:variant>
      <vt:variant>
        <vt:lpstr>Serveurs OLE incorporés</vt:lpstr>
      </vt:variant>
      <vt:variant>
        <vt:i4>1</vt:i4>
      </vt:variant>
      <vt:variant>
        <vt:lpstr>Titres des diapositives</vt:lpstr>
      </vt:variant>
      <vt:variant>
        <vt:i4>53</vt:i4>
      </vt:variant>
    </vt:vector>
  </HeadingPairs>
  <TitlesOfParts>
    <vt:vector size="64" baseType="lpstr">
      <vt:lpstr>Arial</vt:lpstr>
      <vt:lpstr>Calibri</vt:lpstr>
      <vt:lpstr>Cambria Math</vt:lpstr>
      <vt:lpstr>Courier New</vt:lpstr>
      <vt:lpstr>Symbol</vt:lpstr>
      <vt:lpstr>Times New Roman</vt:lpstr>
      <vt:lpstr>Wingdings</vt:lpstr>
      <vt:lpstr>Office Theme</vt:lpstr>
      <vt:lpstr>Office Theme</vt:lpstr>
      <vt:lpstr>Office Theme</vt:lpstr>
      <vt:lpstr>Worksheet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1-0020 - Template - Clean Wavy (blue)</dc:title>
  <dc:subject/>
  <dc:creator/>
  <dc:description>Free template released by Showeet.</dc:description>
  <cp:lastModifiedBy>SCHLEGEL Philippe</cp:lastModifiedBy>
  <cp:revision>287</cp:revision>
  <dcterms:created xsi:type="dcterms:W3CDTF">2012-01-17T22:15:29Z</dcterms:created>
  <dcterms:modified xsi:type="dcterms:W3CDTF">2025-08-29T13:08:22Z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tegory">
    <vt:lpwstr>Templates</vt:lpwstr>
  </property>
  <property fmtid="{D5CDD505-2E9C-101B-9397-08002B2CF9AE}" pid="3" name="Conditions of use">
    <vt:lpwstr>http://creativecommons.org/licenses/by-nd/3.0/</vt:lpwstr>
  </property>
  <property fmtid="{D5CDD505-2E9C-101B-9397-08002B2CF9AE}" pid="4" name="Copyright">
    <vt:lpwstr>© Copyright Showeet.com</vt:lpwstr>
  </property>
  <property fmtid="{D5CDD505-2E9C-101B-9397-08002B2CF9AE}" pid="5" name="ID">
    <vt:lpwstr>#1-0020</vt:lpwstr>
  </property>
  <property fmtid="{D5CDD505-2E9C-101B-9397-08002B2CF9AE}" pid="6" name="Source">
    <vt:lpwstr>http://www.showeet.com</vt:lpwstr>
  </property>
</Properties>
</file>